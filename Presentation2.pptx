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66" r:id="rId6"/>
    <p:sldId id="267" r:id="rId7"/>
    <p:sldId id="273" r:id="rId8"/>
    <p:sldId id="270" r:id="rId9"/>
    <p:sldId id="271" r:id="rId10"/>
    <p:sldId id="292" r:id="rId11"/>
    <p:sldId id="274" r:id="rId12"/>
    <p:sldId id="275" r:id="rId13"/>
    <p:sldId id="272" r:id="rId14"/>
    <p:sldId id="268" r:id="rId15"/>
    <p:sldId id="276" r:id="rId16"/>
    <p:sldId id="277" r:id="rId17"/>
    <p:sldId id="279" r:id="rId18"/>
    <p:sldId id="281" r:id="rId19"/>
    <p:sldId id="282" r:id="rId20"/>
    <p:sldId id="283" r:id="rId21"/>
    <p:sldId id="280" r:id="rId22"/>
    <p:sldId id="284" r:id="rId23"/>
    <p:sldId id="278" r:id="rId24"/>
    <p:sldId id="288" r:id="rId25"/>
    <p:sldId id="289" r:id="rId26"/>
    <p:sldId id="290" r:id="rId27"/>
    <p:sldId id="291" r:id="rId28"/>
    <p:sldId id="286" r:id="rId29"/>
    <p:sldId id="26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216020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719822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81D31D-7C84-4510-860C-705F6CAF2E78}"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4250807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81D31D-7C84-4510-860C-705F6CAF2E78}" type="datetimeFigureOut">
              <a:rPr lang="en-US" smtClean="0"/>
              <a:t>3/13/2022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37014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81D31D-7C84-4510-860C-705F6CAF2E78}" type="datetimeFigureOut">
              <a:rPr lang="en-US" smtClean="0"/>
              <a:t>3/13/2022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68105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1D31D-7C84-4510-860C-705F6CAF2E78}" type="datetimeFigureOut">
              <a:rPr lang="en-US" smtClean="0"/>
              <a:t>3/13/2022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505490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81D31D-7C84-4510-860C-705F6CAF2E78}" type="datetimeFigureOut">
              <a:rPr lang="en-US" smtClean="0"/>
              <a:t>3/13/2022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426474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81D31D-7C84-4510-860C-705F6CAF2E78}" type="datetimeFigureOut">
              <a:rPr lang="en-US" smtClean="0"/>
              <a:t>3/13/2022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292179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81D31D-7C84-4510-860C-705F6CAF2E78}" type="datetimeFigureOut">
              <a:rPr lang="en-US" smtClean="0"/>
              <a:t>3/13/2022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15306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42303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44518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1D31D-7C84-4510-860C-705F6CAF2E78}" type="datetimeFigureOut">
              <a:rPr lang="en-US" smtClean="0"/>
              <a:t>3/13/2022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F73569-ABDB-4A0F-AE5A-D508F2026589}" type="slidenum">
              <a:rPr lang="en-US" smtClean="0"/>
              <a:t>‹#›</a:t>
            </a:fld>
            <a:endParaRPr lang="en-US"/>
          </a:p>
        </p:txBody>
      </p:sp>
    </p:spTree>
    <p:extLst>
      <p:ext uri="{BB962C8B-B14F-4D97-AF65-F5344CB8AC3E}">
        <p14:creationId xmlns:p14="http://schemas.microsoft.com/office/powerpoint/2010/main" val="555594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9674"/>
          </a:xfrm>
          <a:prstGeom prst="rect">
            <a:avLst/>
          </a:prstGeom>
        </p:spPr>
      </p:pic>
      <p:sp>
        <p:nvSpPr>
          <p:cNvPr id="5" name="TextBox 4"/>
          <p:cNvSpPr txBox="1"/>
          <p:nvPr/>
        </p:nvSpPr>
        <p:spPr>
          <a:xfrm>
            <a:off x="2173856" y="2894494"/>
            <a:ext cx="8186467" cy="707886"/>
          </a:xfrm>
          <a:prstGeom prst="rect">
            <a:avLst/>
          </a:prstGeom>
          <a:noFill/>
        </p:spPr>
        <p:txBody>
          <a:bodyPr wrap="square" rtlCol="0">
            <a:spAutoFit/>
          </a:bodyPr>
          <a:lstStyle/>
          <a:p>
            <a:pPr algn="ctr"/>
            <a:r>
              <a:rPr lang="en-US" sz="4000" b="1" dirty="0" smtClean="0">
                <a:solidFill>
                  <a:schemeClr val="bg1"/>
                </a:solidFill>
                <a:latin typeface="Times New Roman" panose="02020603050405020304" pitchFamily="18" charset="0"/>
                <a:cs typeface="Times New Roman" panose="02020603050405020304" pitchFamily="18" charset="0"/>
              </a:rPr>
              <a:t>Faculty of Computer Science</a:t>
            </a:r>
          </a:p>
        </p:txBody>
      </p:sp>
    </p:spTree>
    <p:extLst>
      <p:ext uri="{BB962C8B-B14F-4D97-AF65-F5344CB8AC3E}">
        <p14:creationId xmlns:p14="http://schemas.microsoft.com/office/powerpoint/2010/main" val="40388645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err="1">
                <a:solidFill>
                  <a:schemeClr val="accent4">
                    <a:lumMod val="75000"/>
                  </a:schemeClr>
                </a:solidFill>
                <a:latin typeface="Times New Roman" panose="02020603050405020304" pitchFamily="18" charset="0"/>
                <a:cs typeface="Times New Roman" panose="02020603050405020304" pitchFamily="18" charset="0"/>
              </a:rPr>
              <a:t>Laravel</a:t>
            </a:r>
            <a:r>
              <a:rPr lang="en-US" b="1" dirty="0">
                <a:solidFill>
                  <a:schemeClr val="accent4">
                    <a:lumMod val="75000"/>
                  </a:schemeClr>
                </a:solidFill>
                <a:latin typeface="Times New Roman" panose="02020603050405020304" pitchFamily="18" charset="0"/>
                <a:cs typeface="Times New Roman" panose="02020603050405020304" pitchFamily="18" charset="0"/>
              </a:rPr>
              <a:t> Basic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Routing</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82151"/>
            <a:ext cx="11680614" cy="4494812"/>
          </a:xfrm>
        </p:spPr>
        <p:txBody>
          <a:bodyPr/>
          <a:lstStyle/>
          <a:p>
            <a:pPr algn="just"/>
            <a:r>
              <a:rPr lang="en-US" dirty="0">
                <a:latin typeface="Times New Roman" panose="02020603050405020304" pitchFamily="18" charset="0"/>
                <a:cs typeface="Times New Roman" panose="02020603050405020304" pitchFamily="18" charset="0"/>
              </a:rPr>
              <a:t>Routing is one of the essential concepts in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The main functionality of the routes is to route all your application requests to the appropriate controller</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8" name="Picture 7"/>
          <p:cNvPicPr>
            <a:picLocks noChangeAspect="1"/>
          </p:cNvPicPr>
          <p:nvPr/>
        </p:nvPicPr>
        <p:blipFill>
          <a:blip r:embed="rId5"/>
          <a:stretch>
            <a:fillRect/>
          </a:stretch>
        </p:blipFill>
        <p:spPr>
          <a:xfrm>
            <a:off x="2665560" y="3563697"/>
            <a:ext cx="6481294" cy="2017593"/>
          </a:xfrm>
          <a:prstGeom prst="rect">
            <a:avLst/>
          </a:prstGeom>
        </p:spPr>
      </p:pic>
    </p:spTree>
    <p:extLst>
      <p:ext uri="{BB962C8B-B14F-4D97-AF65-F5344CB8AC3E}">
        <p14:creationId xmlns:p14="http://schemas.microsoft.com/office/powerpoint/2010/main" val="35225872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Default Route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files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51161"/>
            <a:ext cx="11680614" cy="4425801"/>
          </a:xfrm>
        </p:spPr>
        <p:txBody>
          <a:bodyPr/>
          <a:lstStyle/>
          <a:p>
            <a:pPr algn="just"/>
            <a:r>
              <a:rPr lang="en-US" dirty="0">
                <a:latin typeface="Times New Roman" panose="02020603050405020304" pitchFamily="18" charset="0"/>
                <a:cs typeface="Times New Roman" panose="02020603050405020304" pitchFamily="18" charset="0"/>
              </a:rPr>
              <a:t>All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routes are defined inside the route files located in the </a:t>
            </a:r>
            <a:r>
              <a:rPr lang="en-US" b="1" dirty="0">
                <a:latin typeface="Times New Roman" panose="02020603050405020304" pitchFamily="18" charset="0"/>
                <a:cs typeface="Times New Roman" panose="02020603050405020304" pitchFamily="18" charset="0"/>
              </a:rPr>
              <a:t>routes</a:t>
            </a:r>
            <a:r>
              <a:rPr lang="en-US" dirty="0">
                <a:latin typeface="Times New Roman" panose="02020603050405020304" pitchFamily="18" charset="0"/>
                <a:cs typeface="Times New Roman" panose="02020603050405020304" pitchFamily="18" charset="0"/>
              </a:rPr>
              <a:t> directory. When we create a project, then a route directory is created inside the project. The </a:t>
            </a:r>
            <a:r>
              <a:rPr lang="en-US" b="1" dirty="0">
                <a:latin typeface="Times New Roman" panose="02020603050405020304" pitchFamily="18" charset="0"/>
                <a:cs typeface="Times New Roman" panose="02020603050405020304" pitchFamily="18" charset="0"/>
              </a:rPr>
              <a:t>route/</a:t>
            </a:r>
            <a:r>
              <a:rPr lang="en-US" b="1" dirty="0" err="1">
                <a:latin typeface="Times New Roman" panose="02020603050405020304" pitchFamily="18" charset="0"/>
                <a:cs typeface="Times New Roman" panose="02020603050405020304" pitchFamily="18" charset="0"/>
              </a:rPr>
              <a:t>web.php</a:t>
            </a:r>
            <a:r>
              <a:rPr lang="en-US" dirty="0">
                <a:latin typeface="Times New Roman" panose="02020603050405020304" pitchFamily="18" charset="0"/>
                <a:cs typeface="Times New Roman" panose="02020603050405020304" pitchFamily="18" charset="0"/>
              </a:rPr>
              <a:t> directory contains the definition of route files for your web interface</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665560" y="3563697"/>
            <a:ext cx="6481294" cy="2017593"/>
          </a:xfrm>
          <a:prstGeom prst="rect">
            <a:avLst/>
          </a:prstGeom>
        </p:spPr>
      </p:pic>
    </p:spTree>
    <p:extLst>
      <p:ext uri="{BB962C8B-B14F-4D97-AF65-F5344CB8AC3E}">
        <p14:creationId xmlns:p14="http://schemas.microsoft.com/office/powerpoint/2010/main" val="34607843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Continue…</a:t>
            </a:r>
            <a:endParaRPr lang="en-US" dirty="0"/>
          </a:p>
        </p:txBody>
      </p:sp>
      <p:sp>
        <p:nvSpPr>
          <p:cNvPr id="3" name="Content Placeholder 2"/>
          <p:cNvSpPr>
            <a:spLocks noGrp="1"/>
          </p:cNvSpPr>
          <p:nvPr>
            <p:ph idx="1"/>
          </p:nvPr>
        </p:nvSpPr>
        <p:spPr>
          <a:xfrm>
            <a:off x="276045" y="1777041"/>
            <a:ext cx="11680614" cy="4399921"/>
          </a:xfrm>
        </p:spPr>
        <p:txBody>
          <a:bodyPr/>
          <a:lstStyle/>
          <a:p>
            <a:pPr algn="just"/>
            <a:r>
              <a:rPr lang="en-US" dirty="0" smtClean="0">
                <a:latin typeface="Times New Roman" panose="02020603050405020304" pitchFamily="18" charset="0"/>
                <a:cs typeface="Times New Roman" panose="02020603050405020304" pitchFamily="18" charset="0"/>
              </a:rPr>
              <a:t>In the above case, Route is the class which defines the static method get(). The get() method contains the parameters '/' and function() closure. </a:t>
            </a:r>
          </a:p>
          <a:p>
            <a:pPr algn="just"/>
            <a:r>
              <a:rPr lang="en-US" dirty="0" smtClean="0">
                <a:latin typeface="Times New Roman" panose="02020603050405020304" pitchFamily="18" charset="0"/>
                <a:cs typeface="Times New Roman" panose="02020603050405020304" pitchFamily="18" charset="0"/>
              </a:rPr>
              <a:t>The '/' defines the root directory and function() defines the functionality of the get() method.</a:t>
            </a:r>
          </a:p>
          <a:p>
            <a:pPr marL="0" indent="0" algn="just">
              <a:buNone/>
            </a:pPr>
            <a:r>
              <a:rPr lang="en-US" b="1" dirty="0">
                <a:solidFill>
                  <a:srgbClr val="C00000"/>
                </a:solidFill>
                <a:latin typeface="Times New Roman" panose="02020603050405020304" pitchFamily="18" charset="0"/>
                <a:cs typeface="Times New Roman" panose="02020603050405020304" pitchFamily="18" charset="0"/>
              </a:rPr>
              <a:t>Closure</a:t>
            </a:r>
            <a:endParaRPr lang="en-US" b="1" dirty="0" smtClean="0">
              <a:solidFill>
                <a:srgbClr val="C00000"/>
              </a:solidFill>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What </a:t>
            </a:r>
            <a:r>
              <a:rPr lang="en-US" dirty="0">
                <a:latin typeface="Times New Roman" panose="02020603050405020304" pitchFamily="18" charset="0"/>
                <a:cs typeface="Times New Roman" panose="02020603050405020304" pitchFamily="18" charset="0"/>
              </a:rPr>
              <a:t>is Closure in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What is Closure and what does it do? A Closure is an anonymous function.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Closures </a:t>
            </a:r>
            <a:r>
              <a:rPr lang="en-US" dirty="0">
                <a:latin typeface="Times New Roman" panose="02020603050405020304" pitchFamily="18" charset="0"/>
                <a:cs typeface="Times New Roman" panose="02020603050405020304" pitchFamily="18" charset="0"/>
              </a:rPr>
              <a:t>are often used as callback methods and can be used as a parameter in a function.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12035941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Output</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276268" y="1435997"/>
            <a:ext cx="9680167" cy="4780085"/>
          </a:xfrm>
          <a:prstGeom prst="rect">
            <a:avLst/>
          </a:prstGeom>
        </p:spPr>
      </p:pic>
    </p:spTree>
    <p:extLst>
      <p:ext uri="{BB962C8B-B14F-4D97-AF65-F5344CB8AC3E}">
        <p14:creationId xmlns:p14="http://schemas.microsoft.com/office/powerpoint/2010/main" val="4725878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Continue…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25283"/>
            <a:ext cx="11680614" cy="4451680"/>
          </a:xfrm>
        </p:spPr>
        <p:txBody>
          <a:bodyPr/>
          <a:lstStyle/>
          <a:p>
            <a:pPr algn="just"/>
            <a:r>
              <a:rPr lang="en-US" b="1" dirty="0">
                <a:latin typeface="Times New Roman" panose="02020603050405020304" pitchFamily="18" charset="0"/>
                <a:cs typeface="Times New Roman" panose="02020603050405020304" pitchFamily="18" charset="0"/>
              </a:rPr>
              <a:t>Let's see another example.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Now, we provide another </a:t>
            </a:r>
            <a:r>
              <a:rPr lang="en-US" dirty="0" err="1">
                <a:latin typeface="Times New Roman" panose="02020603050405020304" pitchFamily="18" charset="0"/>
                <a:cs typeface="Times New Roman" panose="02020603050405020304" pitchFamily="18" charset="0"/>
              </a:rPr>
              <a:t>url</a:t>
            </a:r>
            <a:r>
              <a:rPr lang="en-US" dirty="0">
                <a:latin typeface="Times New Roman" panose="02020603050405020304" pitchFamily="18" charset="0"/>
                <a:cs typeface="Times New Roman" panose="02020603050405020304" pitchFamily="18" charset="0"/>
              </a:rPr>
              <a:t> in this example.</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1872964" y="3528832"/>
            <a:ext cx="8486775" cy="2181225"/>
          </a:xfrm>
          <a:prstGeom prst="rect">
            <a:avLst/>
          </a:prstGeom>
        </p:spPr>
      </p:pic>
    </p:spTree>
    <p:extLst>
      <p:ext uri="{BB962C8B-B14F-4D97-AF65-F5344CB8AC3E}">
        <p14:creationId xmlns:p14="http://schemas.microsoft.com/office/powerpoint/2010/main" val="9507061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Continue…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25283"/>
            <a:ext cx="11680614" cy="4451680"/>
          </a:xfrm>
        </p:spPr>
        <p:txBody>
          <a:bodyPr/>
          <a:lstStyle/>
          <a:p>
            <a:pPr algn="just"/>
            <a:r>
              <a:rPr lang="en-US" b="1" dirty="0">
                <a:latin typeface="Times New Roman" panose="02020603050405020304" pitchFamily="18" charset="0"/>
                <a:cs typeface="Times New Roman" panose="02020603050405020304" pitchFamily="18" charset="0"/>
              </a:rPr>
              <a:t>Let's see another example.</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Route with controller.</a:t>
            </a:r>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849152" y="3037936"/>
            <a:ext cx="8534400" cy="1524000"/>
          </a:xfrm>
          <a:prstGeom prst="rect">
            <a:avLst/>
          </a:prstGeom>
        </p:spPr>
      </p:pic>
    </p:spTree>
    <p:extLst>
      <p:ext uri="{BB962C8B-B14F-4D97-AF65-F5344CB8AC3E}">
        <p14:creationId xmlns:p14="http://schemas.microsoft.com/office/powerpoint/2010/main" val="30994177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Available Router Methods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51162"/>
            <a:ext cx="11680614" cy="4425800"/>
          </a:xfrm>
        </p:spPr>
        <p:txBody>
          <a:bodyPr/>
          <a:lstStyle/>
          <a:p>
            <a:pPr algn="just"/>
            <a:r>
              <a:rPr lang="en-US" dirty="0">
                <a:latin typeface="Times New Roman" panose="02020603050405020304" pitchFamily="18" charset="0"/>
                <a:cs typeface="Times New Roman" panose="02020603050405020304" pitchFamily="18" charset="0"/>
              </a:rPr>
              <a:t>The router allows you to register routes that respond to any HTTP verb:</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882489" y="2721049"/>
            <a:ext cx="8467725" cy="2486025"/>
          </a:xfrm>
          <a:prstGeom prst="rect">
            <a:avLst/>
          </a:prstGeom>
        </p:spPr>
      </p:pic>
    </p:spTree>
    <p:extLst>
      <p:ext uri="{BB962C8B-B14F-4D97-AF65-F5344CB8AC3E}">
        <p14:creationId xmlns:p14="http://schemas.microsoft.com/office/powerpoint/2010/main" val="38187351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Continue…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68415"/>
            <a:ext cx="11680614" cy="4408548"/>
          </a:xfrm>
        </p:spPr>
        <p:txBody>
          <a:bodyPr/>
          <a:lstStyle/>
          <a:p>
            <a:pPr algn="just"/>
            <a:r>
              <a:rPr lang="en-US" dirty="0">
                <a:latin typeface="Times New Roman" panose="02020603050405020304" pitchFamily="18" charset="0"/>
                <a:cs typeface="Times New Roman" panose="02020603050405020304" pitchFamily="18" charset="0"/>
              </a:rPr>
              <a:t>Sometimes you may need to register a route that responds to multiple HTTP verbs. You may do so using the match method. </a:t>
            </a:r>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Y</a:t>
            </a:r>
            <a:r>
              <a:rPr lang="en-US" dirty="0" smtClean="0">
                <a:latin typeface="Times New Roman" panose="02020603050405020304" pitchFamily="18" charset="0"/>
                <a:cs typeface="Times New Roman" panose="02020603050405020304" pitchFamily="18" charset="0"/>
              </a:rPr>
              <a:t>ou </a:t>
            </a:r>
            <a:r>
              <a:rPr lang="en-US" dirty="0">
                <a:latin typeface="Times New Roman" panose="02020603050405020304" pitchFamily="18" charset="0"/>
                <a:cs typeface="Times New Roman" panose="02020603050405020304" pitchFamily="18" charset="0"/>
              </a:rPr>
              <a:t>may even register a route that responds to all HTTP verbs using the any method:</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116167" y="3469482"/>
            <a:ext cx="8477250" cy="2800350"/>
          </a:xfrm>
          <a:prstGeom prst="rect">
            <a:avLst/>
          </a:prstGeom>
        </p:spPr>
      </p:pic>
    </p:spTree>
    <p:extLst>
      <p:ext uri="{BB962C8B-B14F-4D97-AF65-F5344CB8AC3E}">
        <p14:creationId xmlns:p14="http://schemas.microsoft.com/office/powerpoint/2010/main" val="3285615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Continue…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68415"/>
            <a:ext cx="11680614" cy="4408548"/>
          </a:xfrm>
        </p:spPr>
        <p:txBody>
          <a:bodyPr/>
          <a:lstStyle/>
          <a:p>
            <a:pPr algn="just"/>
            <a:r>
              <a:rPr lang="en-US" dirty="0">
                <a:latin typeface="Times New Roman" panose="02020603050405020304" pitchFamily="18" charset="0"/>
                <a:cs typeface="Times New Roman" panose="02020603050405020304" pitchFamily="18" charset="0"/>
              </a:rPr>
              <a:t>use Illuminate\Http\Request;</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8" name="Picture 7"/>
          <p:cNvPicPr>
            <a:picLocks noChangeAspect="1"/>
          </p:cNvPicPr>
          <p:nvPr/>
        </p:nvPicPr>
        <p:blipFill>
          <a:blip r:embed="rId5"/>
          <a:stretch>
            <a:fillRect/>
          </a:stretch>
        </p:blipFill>
        <p:spPr>
          <a:xfrm>
            <a:off x="1069771" y="2946819"/>
            <a:ext cx="9254791" cy="1150728"/>
          </a:xfrm>
          <a:prstGeom prst="rect">
            <a:avLst/>
          </a:prstGeom>
        </p:spPr>
      </p:pic>
    </p:spTree>
    <p:extLst>
      <p:ext uri="{BB962C8B-B14F-4D97-AF65-F5344CB8AC3E}">
        <p14:creationId xmlns:p14="http://schemas.microsoft.com/office/powerpoint/2010/main" val="2436029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Redirect Routes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Redirect() method is used to navigate from one URL to another URL. This method provides a convenient or shortcut way to move from one URI to another URI. With the help of this method, you don't need to define the full route</a:t>
            </a:r>
            <a:r>
              <a:rPr lang="en-US"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First way is to declare the redirect() method in get() method</a:t>
            </a:r>
            <a:r>
              <a:rPr lang="en-US" b="1" dirty="0" smtClean="0">
                <a:latin typeface="Times New Roman" panose="02020603050405020304" pitchFamily="18" charset="0"/>
                <a:cs typeface="Times New Roman" panose="02020603050405020304" pitchFamily="18" charset="0"/>
              </a:rPr>
              <a:t>:</a:t>
            </a:r>
          </a:p>
          <a:p>
            <a:pPr algn="just"/>
            <a:endParaRPr lang="en-US" b="1" dirty="0">
              <a:latin typeface="Times New Roman" panose="02020603050405020304" pitchFamily="18" charset="0"/>
              <a:cs typeface="Times New Roman" panose="02020603050405020304" pitchFamily="18" charset="0"/>
            </a:endParaRPr>
          </a:p>
          <a:p>
            <a:pPr algn="just"/>
            <a:endParaRPr lang="en-US" b="1" dirty="0" smtClean="0">
              <a:latin typeface="Times New Roman" panose="02020603050405020304" pitchFamily="18" charset="0"/>
              <a:cs typeface="Times New Roman" panose="02020603050405020304" pitchFamily="18" charset="0"/>
            </a:endParaRPr>
          </a:p>
          <a:p>
            <a:pPr algn="just"/>
            <a:r>
              <a:rPr lang="en-US" b="1" dirty="0" smtClean="0">
                <a:latin typeface="Times New Roman" panose="02020603050405020304" pitchFamily="18" charset="0"/>
                <a:cs typeface="Times New Roman" panose="02020603050405020304" pitchFamily="18" charset="0"/>
              </a:rPr>
              <a:t>Second way is to access the redirect() method directly.</a:t>
            </a:r>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3414622" y="3643492"/>
            <a:ext cx="4866736" cy="1082849"/>
          </a:xfrm>
          <a:prstGeom prst="rect">
            <a:avLst/>
          </a:prstGeom>
        </p:spPr>
      </p:pic>
      <p:pic>
        <p:nvPicPr>
          <p:cNvPr id="7" name="Picture 6"/>
          <p:cNvPicPr>
            <a:picLocks noChangeAspect="1"/>
          </p:cNvPicPr>
          <p:nvPr/>
        </p:nvPicPr>
        <p:blipFill>
          <a:blip r:embed="rId6"/>
          <a:stretch>
            <a:fillRect/>
          </a:stretch>
        </p:blipFill>
        <p:spPr>
          <a:xfrm>
            <a:off x="3414622" y="5385579"/>
            <a:ext cx="4907540" cy="583900"/>
          </a:xfrm>
          <a:prstGeom prst="rect">
            <a:avLst/>
          </a:prstGeom>
        </p:spPr>
      </p:pic>
    </p:spTree>
    <p:extLst>
      <p:ext uri="{BB962C8B-B14F-4D97-AF65-F5344CB8AC3E}">
        <p14:creationId xmlns:p14="http://schemas.microsoft.com/office/powerpoint/2010/main" val="29015839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View </a:t>
            </a:r>
            <a:r>
              <a:rPr lang="en-US" b="1" dirty="0">
                <a:solidFill>
                  <a:schemeClr val="accent4">
                    <a:lumMod val="75000"/>
                  </a:schemeClr>
                </a:solidFill>
                <a:latin typeface="Times New Roman" panose="02020603050405020304" pitchFamily="18" charset="0"/>
                <a:cs typeface="Times New Roman" panose="02020603050405020304" pitchFamily="18" charset="0"/>
              </a:rPr>
              <a:t>Routes</a:t>
            </a:r>
            <a:endParaRPr lang="en-US" dirty="0"/>
          </a:p>
        </p:txBody>
      </p:sp>
      <p:sp>
        <p:nvSpPr>
          <p:cNvPr id="3" name="Content Placeholder 2"/>
          <p:cNvSpPr>
            <a:spLocks noGrp="1"/>
          </p:cNvSpPr>
          <p:nvPr>
            <p:ph idx="1"/>
          </p:nvPr>
        </p:nvSpPr>
        <p:spPr>
          <a:xfrm>
            <a:off x="276045" y="1828799"/>
            <a:ext cx="11680614" cy="4348163"/>
          </a:xfrm>
        </p:spPr>
        <p:txBody>
          <a:bodyPr/>
          <a:lstStyle/>
          <a:p>
            <a:pPr algn="just"/>
            <a:r>
              <a:rPr lang="en-US" dirty="0">
                <a:latin typeface="Times New Roman" panose="02020603050405020304" pitchFamily="18" charset="0"/>
                <a:cs typeface="Times New Roman" panose="02020603050405020304" pitchFamily="18" charset="0"/>
              </a:rPr>
              <a:t>If your route only needs to return a view, you may use the Route::view method. Like the redirect method, this method provides a simple shortcut so that you do not have to define a full route or controller.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view method accepts a URI as its first argument and a view name as its second argument. In addition, you may provide an array of data to pass to the view as an optional third argument:</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106643" y="4516916"/>
            <a:ext cx="8496300" cy="1533525"/>
          </a:xfrm>
          <a:prstGeom prst="rect">
            <a:avLst/>
          </a:prstGeom>
        </p:spPr>
      </p:pic>
    </p:spTree>
    <p:extLst>
      <p:ext uri="{BB962C8B-B14F-4D97-AF65-F5344CB8AC3E}">
        <p14:creationId xmlns:p14="http://schemas.microsoft.com/office/powerpoint/2010/main" val="6363327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Routing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Parameters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2" descr="Laravel Routing Parameter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4382" y="1823745"/>
            <a:ext cx="5339452" cy="4004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6916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dirty="0" smtClean="0">
                <a:solidFill>
                  <a:schemeClr val="accent4">
                    <a:lumMod val="75000"/>
                  </a:schemeClr>
                </a:solidFill>
                <a:latin typeface="Times New Roman" panose="02020603050405020304" pitchFamily="18" charset="0"/>
                <a:cs typeface="Times New Roman" panose="02020603050405020304" pitchFamily="18" charset="0"/>
              </a:rPr>
              <a:t>1. Required Parameters</a:t>
            </a:r>
            <a:endParaRPr lang="en-US"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820173"/>
            <a:ext cx="11680614" cy="4356789"/>
          </a:xfrm>
        </p:spPr>
        <p:txBody>
          <a:bodyPr/>
          <a:lstStyle/>
          <a:p>
            <a:pPr algn="just"/>
            <a:r>
              <a:rPr lang="en-US" dirty="0">
                <a:latin typeface="Times New Roman" panose="02020603050405020304" pitchFamily="18" charset="0"/>
                <a:cs typeface="Times New Roman" panose="02020603050405020304" pitchFamily="18" charset="0"/>
              </a:rPr>
              <a:t>The required parameters are the parameters that we pass in the URL. Sometimes you want to capture some segments of the URI then this can be done by passing the parameters to the URL. For example, you want to capture the user id from the </a:t>
            </a:r>
            <a:r>
              <a:rPr lang="en-US" dirty="0" smtClean="0">
                <a:latin typeface="Times New Roman" panose="02020603050405020304" pitchFamily="18" charset="0"/>
                <a:cs typeface="Times New Roman" panose="02020603050405020304" pitchFamily="18" charset="0"/>
              </a:rPr>
              <a:t>URL.</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051019" y="3662901"/>
            <a:ext cx="8486775" cy="1533525"/>
          </a:xfrm>
          <a:prstGeom prst="rect">
            <a:avLst/>
          </a:prstGeom>
        </p:spPr>
      </p:pic>
    </p:spTree>
    <p:extLst>
      <p:ext uri="{BB962C8B-B14F-4D97-AF65-F5344CB8AC3E}">
        <p14:creationId xmlns:p14="http://schemas.microsoft.com/office/powerpoint/2010/main" val="1767357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Continue…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75117"/>
            <a:ext cx="11680614" cy="4701846"/>
          </a:xfrm>
        </p:spPr>
        <p:txBody>
          <a:bodyPr/>
          <a:lstStyle/>
          <a:p>
            <a:pPr algn="just"/>
            <a:r>
              <a:rPr lang="en-US" dirty="0">
                <a:latin typeface="Times New Roman" panose="02020603050405020304" pitchFamily="18" charset="0"/>
                <a:cs typeface="Times New Roman" panose="02020603050405020304" pitchFamily="18" charset="0"/>
              </a:rPr>
              <a:t>You may define as many route parameters as required by your route:</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857375" y="2671762"/>
            <a:ext cx="8477250" cy="1514475"/>
          </a:xfrm>
          <a:prstGeom prst="rect">
            <a:avLst/>
          </a:prstGeom>
        </p:spPr>
      </p:pic>
    </p:spTree>
    <p:extLst>
      <p:ext uri="{BB962C8B-B14F-4D97-AF65-F5344CB8AC3E}">
        <p14:creationId xmlns:p14="http://schemas.microsoft.com/office/powerpoint/2010/main" val="20310499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Optional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Parameters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82151"/>
            <a:ext cx="11680614" cy="4494812"/>
          </a:xfrm>
        </p:spPr>
        <p:txBody>
          <a:bodyPr/>
          <a:lstStyle/>
          <a:p>
            <a:pPr algn="just"/>
            <a:r>
              <a:rPr lang="en-US" dirty="0">
                <a:latin typeface="Times New Roman" panose="02020603050405020304" pitchFamily="18" charset="0"/>
                <a:cs typeface="Times New Roman" panose="02020603050405020304" pitchFamily="18" charset="0"/>
              </a:rPr>
              <a:t>Occasionally you may need to specify a route parameter that may not always be present in the URI. You may do so by placing a ? mark after the parameter name. Make sure to give the route's corresponding variable a default value:</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1942741" y="3101466"/>
            <a:ext cx="8496300" cy="2828925"/>
          </a:xfrm>
          <a:prstGeom prst="rect">
            <a:avLst/>
          </a:prstGeom>
        </p:spPr>
      </p:pic>
    </p:spTree>
    <p:extLst>
      <p:ext uri="{BB962C8B-B14F-4D97-AF65-F5344CB8AC3E}">
        <p14:creationId xmlns:p14="http://schemas.microsoft.com/office/powerpoint/2010/main" val="14909171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25947" y="208351"/>
            <a:ext cx="7237562" cy="1041223"/>
          </a:xfrm>
        </p:spPr>
        <p:txBody>
          <a:bodyPr>
            <a:normAutofit fontScale="90000"/>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Regular Expression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Constraints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16657"/>
            <a:ext cx="11680614" cy="4460306"/>
          </a:xfrm>
        </p:spPr>
        <p:txBody>
          <a:bodyPr/>
          <a:lstStyle/>
          <a:p>
            <a:pPr algn="just"/>
            <a:r>
              <a:rPr lang="en-US" dirty="0">
                <a:latin typeface="Times New Roman" panose="02020603050405020304" pitchFamily="18" charset="0"/>
                <a:cs typeface="Times New Roman" panose="02020603050405020304" pitchFamily="18" charset="0"/>
              </a:rPr>
              <a:t>You may constrain the format of your route parameters using the where method on a route instance. The where method accepts the name of the parameter and a regular expression defining how the parameter should be constrained:</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807313" y="3030599"/>
            <a:ext cx="7074829" cy="3398146"/>
          </a:xfrm>
          <a:prstGeom prst="rect">
            <a:avLst/>
          </a:prstGeom>
        </p:spPr>
      </p:pic>
    </p:spTree>
    <p:extLst>
      <p:ext uri="{BB962C8B-B14F-4D97-AF65-F5344CB8AC3E}">
        <p14:creationId xmlns:p14="http://schemas.microsoft.com/office/powerpoint/2010/main" val="36431815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Continue…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73525"/>
            <a:ext cx="11680614" cy="4503438"/>
          </a:xfrm>
        </p:spPr>
        <p:txBody>
          <a:bodyPr/>
          <a:lstStyle/>
          <a:p>
            <a:pPr algn="just"/>
            <a:r>
              <a:rPr lang="en-US" dirty="0">
                <a:latin typeface="Times New Roman" panose="02020603050405020304" pitchFamily="18" charset="0"/>
                <a:cs typeface="Times New Roman" panose="02020603050405020304" pitchFamily="18" charset="0"/>
              </a:rPr>
              <a:t>For convenience, some commonly used regular expression patterns have helper methods that allow you to quickly add pattern constraints to your routes: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161637" y="3265817"/>
            <a:ext cx="8162925" cy="2362200"/>
          </a:xfrm>
          <a:prstGeom prst="rect">
            <a:avLst/>
          </a:prstGeom>
        </p:spPr>
      </p:pic>
    </p:spTree>
    <p:extLst>
      <p:ext uri="{BB962C8B-B14F-4D97-AF65-F5344CB8AC3E}">
        <p14:creationId xmlns:p14="http://schemas.microsoft.com/office/powerpoint/2010/main" val="26891892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Global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Constraints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68415"/>
            <a:ext cx="11680614" cy="4408548"/>
          </a:xfrm>
        </p:spPr>
        <p:txBody>
          <a:bodyPr/>
          <a:lstStyle/>
          <a:p>
            <a:pPr algn="just"/>
            <a:r>
              <a:rPr lang="en-US" dirty="0">
                <a:latin typeface="Times New Roman" panose="02020603050405020304" pitchFamily="18" charset="0"/>
                <a:cs typeface="Times New Roman" panose="02020603050405020304" pitchFamily="18" charset="0"/>
              </a:rPr>
              <a:t>If you would like a route parameter to always be constrained by a given regular expression, you may use the pattern method. You should define these patterns in the boot method of your App\Providers\</a:t>
            </a:r>
            <a:r>
              <a:rPr lang="en-US" dirty="0" err="1">
                <a:latin typeface="Times New Roman" panose="02020603050405020304" pitchFamily="18" charset="0"/>
                <a:cs typeface="Times New Roman" panose="02020603050405020304" pitchFamily="18" charset="0"/>
              </a:rPr>
              <a:t>RouteServiceProvider</a:t>
            </a:r>
            <a:r>
              <a:rPr lang="en-US" dirty="0">
                <a:latin typeface="Times New Roman" panose="02020603050405020304" pitchFamily="18" charset="0"/>
                <a:cs typeface="Times New Roman" panose="02020603050405020304" pitchFamily="18" charset="0"/>
              </a:rPr>
              <a:t> class: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131353" y="3016190"/>
            <a:ext cx="8429625" cy="3448050"/>
          </a:xfrm>
          <a:prstGeom prst="rect">
            <a:avLst/>
          </a:prstGeom>
        </p:spPr>
      </p:pic>
    </p:spTree>
    <p:extLst>
      <p:ext uri="{BB962C8B-B14F-4D97-AF65-F5344CB8AC3E}">
        <p14:creationId xmlns:p14="http://schemas.microsoft.com/office/powerpoint/2010/main" val="208753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Encoded Forward Slashes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897811"/>
            <a:ext cx="11680614" cy="4279152"/>
          </a:xfrm>
        </p:spPr>
        <p:txBody>
          <a:bodyPr/>
          <a:lstStyle/>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routing component allows all characters except / to be present within route parameter values. You must explicitly allow / to be part of your placeholder using a where condition regular expression: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080763" y="4037387"/>
            <a:ext cx="8496300" cy="1485900"/>
          </a:xfrm>
          <a:prstGeom prst="rect">
            <a:avLst/>
          </a:prstGeom>
        </p:spPr>
      </p:pic>
    </p:spTree>
    <p:extLst>
      <p:ext uri="{BB962C8B-B14F-4D97-AF65-F5344CB8AC3E}">
        <p14:creationId xmlns:p14="http://schemas.microsoft.com/office/powerpoint/2010/main" val="32359274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Named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Routes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440611"/>
            <a:ext cx="11680614" cy="5417389"/>
          </a:xfrm>
        </p:spPr>
        <p:txBody>
          <a:bodyPr/>
          <a:lstStyle/>
          <a:p>
            <a:pPr algn="just"/>
            <a:r>
              <a:rPr lang="en-US" dirty="0">
                <a:latin typeface="Times New Roman" panose="02020603050405020304" pitchFamily="18" charset="0"/>
                <a:cs typeface="Times New Roman" panose="02020603050405020304" pitchFamily="18" charset="0"/>
              </a:rPr>
              <a:t>Named routes allow the convenient generation of URLs or redirects for specific routes</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Route names should always be unique.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You may specify a name for a route by chaining the name method onto the route definition</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You may also specify route names for controller actions: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2080764" y="2776539"/>
            <a:ext cx="8496300" cy="1346888"/>
          </a:xfrm>
          <a:prstGeom prst="rect">
            <a:avLst/>
          </a:prstGeom>
        </p:spPr>
      </p:pic>
      <p:pic>
        <p:nvPicPr>
          <p:cNvPr id="8" name="Picture 7"/>
          <p:cNvPicPr>
            <a:picLocks noChangeAspect="1"/>
          </p:cNvPicPr>
          <p:nvPr/>
        </p:nvPicPr>
        <p:blipFill>
          <a:blip r:embed="rId6"/>
          <a:stretch>
            <a:fillRect/>
          </a:stretch>
        </p:blipFill>
        <p:spPr>
          <a:xfrm>
            <a:off x="2023614" y="4718648"/>
            <a:ext cx="8553450" cy="1726989"/>
          </a:xfrm>
          <a:prstGeom prst="rect">
            <a:avLst/>
          </a:prstGeom>
        </p:spPr>
      </p:pic>
    </p:spTree>
    <p:extLst>
      <p:ext uri="{BB962C8B-B14F-4D97-AF65-F5344CB8AC3E}">
        <p14:creationId xmlns:p14="http://schemas.microsoft.com/office/powerpoint/2010/main" val="30223303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r>
              <a:rPr lang="en-US" sz="3600" b="1" dirty="0">
                <a:solidFill>
                  <a:schemeClr val="accent4">
                    <a:lumMod val="75000"/>
                  </a:schemeClr>
                </a:solidFill>
                <a:latin typeface="Times New Roman" panose="02020603050405020304" pitchFamily="18" charset="0"/>
                <a:cs typeface="Times New Roman" panose="02020603050405020304" pitchFamily="18" charset="0"/>
              </a:rPr>
              <a:t>Generating URLs to named routes</a:t>
            </a:r>
            <a:endParaRPr lang="en-US" sz="36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828799"/>
            <a:ext cx="11680614" cy="4348163"/>
          </a:xfrm>
        </p:spPr>
        <p:txBody>
          <a:bodyPr/>
          <a:lstStyle/>
          <a:p>
            <a:pPr algn="just"/>
            <a:r>
              <a:rPr lang="en-US" dirty="0">
                <a:latin typeface="Times New Roman" panose="02020603050405020304" pitchFamily="18" charset="0"/>
                <a:cs typeface="Times New Roman" panose="02020603050405020304" pitchFamily="18" charset="0"/>
              </a:rPr>
              <a:t>Once you have assigned a name to a given route, you may use the route's name when generating URLs or redirects via </a:t>
            </a:r>
            <a:r>
              <a:rPr lang="en-US" dirty="0" err="1">
                <a:latin typeface="Times New Roman" panose="02020603050405020304" pitchFamily="18" charset="0"/>
                <a:cs typeface="Times New Roman" panose="02020603050405020304" pitchFamily="18" charset="0"/>
              </a:rPr>
              <a:t>Laravel's</a:t>
            </a:r>
            <a:r>
              <a:rPr lang="en-US" dirty="0">
                <a:latin typeface="Times New Roman" panose="02020603050405020304" pitchFamily="18" charset="0"/>
                <a:cs typeface="Times New Roman" panose="02020603050405020304" pitchFamily="18" charset="0"/>
              </a:rPr>
              <a:t> route and redirect helper functions: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962958" y="3320899"/>
            <a:ext cx="8524875" cy="2200275"/>
          </a:xfrm>
          <a:prstGeom prst="rect">
            <a:avLst/>
          </a:prstGeom>
        </p:spPr>
      </p:pic>
    </p:spTree>
    <p:extLst>
      <p:ext uri="{BB962C8B-B14F-4D97-AF65-F5344CB8AC3E}">
        <p14:creationId xmlns:p14="http://schemas.microsoft.com/office/powerpoint/2010/main" val="6975310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Route Groups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13139"/>
            <a:ext cx="11680614" cy="4563823"/>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Route groups allow you to share route attributes, such as middleware, across a large number of routes without needing to define those attributes on each individual route</a:t>
            </a:r>
            <a:r>
              <a:rPr lang="en-US" dirty="0" smtClean="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Groups are beneficial when you want to apply the attributes to all the routes. If you use route groups, you do not have to apply the attributes individually to each route; this avoids duplication.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allows you to share the attributes such as </a:t>
            </a:r>
            <a:r>
              <a:rPr lang="en-US" dirty="0" smtClean="0">
                <a:latin typeface="Times New Roman" panose="02020603050405020304" pitchFamily="18" charset="0"/>
                <a:cs typeface="Times New Roman" panose="02020603050405020304" pitchFamily="18" charset="0"/>
              </a:rPr>
              <a:t>middleware, </a:t>
            </a:r>
            <a:r>
              <a:rPr lang="en-US" dirty="0">
                <a:latin typeface="Times New Roman" panose="02020603050405020304" pitchFamily="18" charset="0"/>
                <a:cs typeface="Times New Roman" panose="02020603050405020304" pitchFamily="18" charset="0"/>
              </a:rPr>
              <a:t>without defining these attributes on each individual route. These shared attributes can be passed in an array format as the first parameter to the </a:t>
            </a:r>
            <a:r>
              <a:rPr lang="en-US" b="1" dirty="0">
                <a:latin typeface="Times New Roman" panose="02020603050405020304" pitchFamily="18" charset="0"/>
                <a:cs typeface="Times New Roman" panose="02020603050405020304" pitchFamily="18" charset="0"/>
              </a:rPr>
              <a:t>Route::group</a:t>
            </a:r>
            <a:r>
              <a:rPr lang="en-US" dirty="0">
                <a:latin typeface="Times New Roman" panose="02020603050405020304" pitchFamily="18" charset="0"/>
                <a:cs typeface="Times New Roman" panose="02020603050405020304" pitchFamily="18" charset="0"/>
              </a:rPr>
              <a:t> method</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Syntax:</a:t>
            </a:r>
          </a:p>
          <a:p>
            <a:pPr marL="457200" lvl="1" indent="0" algn="just">
              <a:buNone/>
            </a:pPr>
            <a:r>
              <a:rPr lang="en-US" sz="3200" dirty="0" smtClean="0">
                <a:solidFill>
                  <a:srgbClr val="00B050"/>
                </a:solidFill>
                <a:latin typeface="Times New Roman" panose="02020603050405020304" pitchFamily="18" charset="0"/>
                <a:cs typeface="Times New Roman" panose="02020603050405020304" pitchFamily="18" charset="0"/>
              </a:rPr>
              <a:t> </a:t>
            </a:r>
            <a:r>
              <a:rPr lang="en-US" sz="3200" dirty="0">
                <a:solidFill>
                  <a:srgbClr val="00B050"/>
                </a:solidFill>
              </a:rPr>
              <a:t>Route::group( [ ] , callback); </a:t>
            </a:r>
            <a:r>
              <a:rPr lang="en-US" dirty="0"/>
              <a:t> </a:t>
            </a:r>
          </a:p>
          <a:p>
            <a:pPr marL="0" indent="0" algn="just">
              <a:buNone/>
            </a:pPr>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4261860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Route Groups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13139"/>
            <a:ext cx="11680614" cy="4563823"/>
          </a:xfrm>
        </p:spPr>
        <p:txBody>
          <a:bodyPr/>
          <a:lstStyle/>
          <a:p>
            <a:pPr marL="0" indent="0" algn="just">
              <a:buNone/>
            </a:pPr>
            <a:r>
              <a:rPr lang="en-US" b="1" dirty="0" smtClean="0">
                <a:solidFill>
                  <a:srgbClr val="C00000"/>
                </a:solidFill>
                <a:latin typeface="Times New Roman" panose="02020603050405020304" pitchFamily="18" charset="0"/>
                <a:cs typeface="Times New Roman" panose="02020603050405020304" pitchFamily="18" charset="0"/>
              </a:rPr>
              <a:t>Controllers</a:t>
            </a:r>
          </a:p>
          <a:p>
            <a:pPr algn="just"/>
            <a:r>
              <a:rPr lang="en-US" dirty="0">
                <a:latin typeface="Times New Roman" panose="02020603050405020304" pitchFamily="18" charset="0"/>
                <a:cs typeface="Times New Roman" panose="02020603050405020304" pitchFamily="18" charset="0"/>
              </a:rPr>
              <a:t>If a group of routes all utilize the same controller, you may use the controller method to define the common controller for all of the routes within the group. Then, when defining the routes, you only need to provide the controller method that they invoke:</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2297052" y="3774281"/>
            <a:ext cx="8496300" cy="2495550"/>
          </a:xfrm>
          <a:prstGeom prst="rect">
            <a:avLst/>
          </a:prstGeom>
        </p:spPr>
      </p:pic>
    </p:spTree>
    <p:extLst>
      <p:ext uri="{BB962C8B-B14F-4D97-AF65-F5344CB8AC3E}">
        <p14:creationId xmlns:p14="http://schemas.microsoft.com/office/powerpoint/2010/main" val="29271635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Route Groups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13139"/>
            <a:ext cx="11680614" cy="4563823"/>
          </a:xfrm>
        </p:spPr>
        <p:txBody>
          <a:bodyPr/>
          <a:lstStyle/>
          <a:p>
            <a:pPr marL="0" indent="0" algn="just">
              <a:buNone/>
            </a:pPr>
            <a:r>
              <a:rPr lang="en-US" b="1" dirty="0" smtClean="0">
                <a:solidFill>
                  <a:srgbClr val="C00000"/>
                </a:solidFill>
                <a:latin typeface="Times New Roman" panose="02020603050405020304" pitchFamily="18" charset="0"/>
                <a:cs typeface="Times New Roman" panose="02020603050405020304" pitchFamily="18" charset="0"/>
              </a:rPr>
              <a:t>Route prefixes</a:t>
            </a: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prefix method may be used to prefix each route in the group with a given URI. For example, you may want to prefix all route URIs within the group with admin:</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055782" y="3083719"/>
            <a:ext cx="8477250" cy="2124075"/>
          </a:xfrm>
          <a:prstGeom prst="rect">
            <a:avLst/>
          </a:prstGeom>
        </p:spPr>
      </p:pic>
    </p:spTree>
    <p:extLst>
      <p:ext uri="{BB962C8B-B14F-4D97-AF65-F5344CB8AC3E}">
        <p14:creationId xmlns:p14="http://schemas.microsoft.com/office/powerpoint/2010/main" val="13708251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Route Groups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13139"/>
            <a:ext cx="11680614" cy="4563823"/>
          </a:xfrm>
        </p:spPr>
        <p:txBody>
          <a:bodyPr/>
          <a:lstStyle/>
          <a:p>
            <a:pPr marL="0" indent="0" algn="just">
              <a:buNone/>
            </a:pPr>
            <a:r>
              <a:rPr lang="en-US" b="1" dirty="0" smtClean="0">
                <a:solidFill>
                  <a:srgbClr val="C00000"/>
                </a:solidFill>
                <a:latin typeface="Times New Roman" panose="02020603050405020304" pitchFamily="18" charset="0"/>
                <a:cs typeface="Times New Roman" panose="02020603050405020304" pitchFamily="18" charset="0"/>
              </a:rPr>
              <a:t>Route Name prefixes</a:t>
            </a:r>
          </a:p>
          <a:p>
            <a:pPr algn="just"/>
            <a:r>
              <a:rPr lang="en-US" dirty="0">
                <a:latin typeface="Times New Roman" panose="02020603050405020304" pitchFamily="18" charset="0"/>
                <a:cs typeface="Times New Roman" panose="02020603050405020304" pitchFamily="18" charset="0"/>
              </a:rPr>
              <a:t>The name method may be used to prefix each route name in the group with a given string. For example, you may want to prefix all of the grouped route's names with admin. The given string is prefixed to the route name exactly as it is specified, so we will be sure to provide the trailing . character in the prefix:</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297052" y="3895050"/>
            <a:ext cx="8486775" cy="2171700"/>
          </a:xfrm>
          <a:prstGeom prst="rect">
            <a:avLst/>
          </a:prstGeom>
        </p:spPr>
      </p:pic>
    </p:spTree>
    <p:extLst>
      <p:ext uri="{BB962C8B-B14F-4D97-AF65-F5344CB8AC3E}">
        <p14:creationId xmlns:p14="http://schemas.microsoft.com/office/powerpoint/2010/main" val="12902574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Fallback Routes</a:t>
            </a:r>
          </a:p>
        </p:txBody>
      </p:sp>
      <p:sp>
        <p:nvSpPr>
          <p:cNvPr id="3" name="Content Placeholder 2"/>
          <p:cNvSpPr>
            <a:spLocks noGrp="1"/>
          </p:cNvSpPr>
          <p:nvPr>
            <p:ph idx="1"/>
          </p:nvPr>
        </p:nvSpPr>
        <p:spPr>
          <a:xfrm>
            <a:off x="276045" y="1613139"/>
            <a:ext cx="11680614" cy="4749561"/>
          </a:xfrm>
        </p:spPr>
        <p:txBody>
          <a:bodyPr>
            <a:normAutofit/>
          </a:bodyPr>
          <a:lstStyle/>
          <a:p>
            <a:pPr algn="just"/>
            <a:r>
              <a:rPr lang="en-US" dirty="0" smtClean="0">
                <a:latin typeface="Times New Roman" panose="02020603050405020304" pitchFamily="18" charset="0"/>
                <a:cs typeface="Times New Roman" panose="02020603050405020304" pitchFamily="18" charset="0"/>
              </a:rPr>
              <a:t>Using </a:t>
            </a:r>
            <a:r>
              <a:rPr lang="en-US" dirty="0">
                <a:latin typeface="Times New Roman" panose="02020603050405020304" pitchFamily="18" charset="0"/>
                <a:cs typeface="Times New Roman" panose="02020603050405020304" pitchFamily="18" charset="0"/>
              </a:rPr>
              <a:t>the Route::fallback method, you may define a route that will be executed when no other route matches the incoming request. Typically, unhandled requests will automatically render a "404" page via your application's exception handler. However, since you would typically define the fallback route within your routes/</a:t>
            </a:r>
            <a:r>
              <a:rPr lang="en-US" dirty="0" err="1">
                <a:latin typeface="Times New Roman" panose="02020603050405020304" pitchFamily="18" charset="0"/>
                <a:cs typeface="Times New Roman" panose="02020603050405020304" pitchFamily="18" charset="0"/>
              </a:rPr>
              <a:t>web.php</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file.</a:t>
            </a:r>
          </a:p>
          <a:p>
            <a:pPr algn="just"/>
            <a:endParaRPr lang="en-US" dirty="0">
              <a:latin typeface="Times New Roman" panose="02020603050405020304" pitchFamily="18" charset="0"/>
              <a:cs typeface="Times New Roman" panose="02020603050405020304" pitchFamily="18" charset="0"/>
            </a:endParaRPr>
          </a:p>
          <a:p>
            <a:pPr algn="just"/>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Note: </a:t>
            </a:r>
            <a:r>
              <a:rPr lang="en-US" dirty="0">
                <a:latin typeface="Times New Roman" panose="02020603050405020304" pitchFamily="18" charset="0"/>
                <a:cs typeface="Times New Roman" panose="02020603050405020304" pitchFamily="18" charset="0"/>
              </a:rPr>
              <a:t>The fallback route should always be the last route registered by your application.</a:t>
            </a:r>
            <a:r>
              <a:rPr lang="en-US" dirty="0" smtClean="0">
                <a:latin typeface="Times New Roman" panose="02020603050405020304" pitchFamily="18" charset="0"/>
                <a:cs typeface="Times New Roman" panose="02020603050405020304" pitchFamily="18" charset="0"/>
              </a:rPr>
              <a:t> </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2220852" y="3672427"/>
            <a:ext cx="8467725" cy="1514475"/>
          </a:xfrm>
          <a:prstGeom prst="rect">
            <a:avLst/>
          </a:prstGeom>
        </p:spPr>
      </p:pic>
    </p:spTree>
    <p:extLst>
      <p:ext uri="{BB962C8B-B14F-4D97-AF65-F5344CB8AC3E}">
        <p14:creationId xmlns:p14="http://schemas.microsoft.com/office/powerpoint/2010/main" val="3692358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Route Caching </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82151"/>
            <a:ext cx="11680614" cy="4494812"/>
          </a:xfrm>
        </p:spPr>
        <p:txBody>
          <a:bodyPr/>
          <a:lstStyle/>
          <a:p>
            <a:pPr algn="just"/>
            <a:r>
              <a:rPr lang="en-US" dirty="0">
                <a:latin typeface="Times New Roman" panose="02020603050405020304" pitchFamily="18" charset="0"/>
                <a:cs typeface="Times New Roman" panose="02020603050405020304" pitchFamily="18" charset="0"/>
              </a:rPr>
              <a:t>When deploying your application to production, you should take advantage of </a:t>
            </a:r>
            <a:r>
              <a:rPr lang="en-US" dirty="0" err="1">
                <a:latin typeface="Times New Roman" panose="02020603050405020304" pitchFamily="18" charset="0"/>
                <a:cs typeface="Times New Roman" panose="02020603050405020304" pitchFamily="18" charset="0"/>
              </a:rPr>
              <a:t>Laravel's</a:t>
            </a:r>
            <a:r>
              <a:rPr lang="en-US" dirty="0">
                <a:latin typeface="Times New Roman" panose="02020603050405020304" pitchFamily="18" charset="0"/>
                <a:cs typeface="Times New Roman" panose="02020603050405020304" pitchFamily="18" charset="0"/>
              </a:rPr>
              <a:t> route cache. Using the route cache will drastically decrease the amount of time it takes to register all of your application's routes. To generate a route cache, execute the </a:t>
            </a:r>
            <a:r>
              <a:rPr lang="en-US" dirty="0" err="1">
                <a:latin typeface="Times New Roman" panose="02020603050405020304" pitchFamily="18" charset="0"/>
                <a:cs typeface="Times New Roman" panose="02020603050405020304" pitchFamily="18" charset="0"/>
              </a:rPr>
              <a:t>route:cache</a:t>
            </a:r>
            <a:r>
              <a:rPr lang="en-US" dirty="0">
                <a:latin typeface="Times New Roman" panose="02020603050405020304" pitchFamily="18" charset="0"/>
                <a:cs typeface="Times New Roman" panose="02020603050405020304" pitchFamily="18" charset="0"/>
              </a:rPr>
              <a:t> Artisan command</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endParaRPr lang="en-US" dirty="0" smtClean="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You may use the </a:t>
            </a:r>
            <a:r>
              <a:rPr lang="en-US" dirty="0" err="1">
                <a:latin typeface="Times New Roman" panose="02020603050405020304" pitchFamily="18" charset="0"/>
                <a:cs typeface="Times New Roman" panose="02020603050405020304" pitchFamily="18" charset="0"/>
              </a:rPr>
              <a:t>route:clear</a:t>
            </a:r>
            <a:r>
              <a:rPr lang="en-US" dirty="0">
                <a:latin typeface="Times New Roman" panose="02020603050405020304" pitchFamily="18" charset="0"/>
                <a:cs typeface="Times New Roman" panose="02020603050405020304" pitchFamily="18" charset="0"/>
              </a:rPr>
              <a:t> command to clear the route cache:</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067374" y="3301400"/>
            <a:ext cx="8505825" cy="876300"/>
          </a:xfrm>
          <a:prstGeom prst="rect">
            <a:avLst/>
          </a:prstGeom>
        </p:spPr>
      </p:pic>
      <p:pic>
        <p:nvPicPr>
          <p:cNvPr id="7" name="Picture 6"/>
          <p:cNvPicPr>
            <a:picLocks noChangeAspect="1"/>
          </p:cNvPicPr>
          <p:nvPr/>
        </p:nvPicPr>
        <p:blipFill>
          <a:blip r:embed="rId6"/>
          <a:stretch>
            <a:fillRect/>
          </a:stretch>
        </p:blipFill>
        <p:spPr>
          <a:xfrm>
            <a:off x="2086423" y="5183757"/>
            <a:ext cx="8467725" cy="838200"/>
          </a:xfrm>
          <a:prstGeom prst="rect">
            <a:avLst/>
          </a:prstGeom>
        </p:spPr>
      </p:pic>
    </p:spTree>
    <p:extLst>
      <p:ext uri="{BB962C8B-B14F-4D97-AF65-F5344CB8AC3E}">
        <p14:creationId xmlns:p14="http://schemas.microsoft.com/office/powerpoint/2010/main" val="225073936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045" y="3200399"/>
            <a:ext cx="11680614" cy="1399033"/>
          </a:xfrm>
        </p:spPr>
        <p:txBody>
          <a:bodyPr>
            <a:normAutofit/>
          </a:bodyPr>
          <a:lstStyle/>
          <a:p>
            <a:pPr marL="0" indent="0" algn="ctr">
              <a:buNone/>
            </a:pPr>
            <a:r>
              <a:rPr lang="en-US" sz="8800" b="1" dirty="0" smtClean="0">
                <a:solidFill>
                  <a:srgbClr val="C00000"/>
                </a:solidFill>
                <a:latin typeface="Times New Roman" panose="02020603050405020304" pitchFamily="18" charset="0"/>
                <a:cs typeface="Times New Roman" panose="02020603050405020304" pitchFamily="18" charset="0"/>
              </a:rPr>
              <a:t>Thank You!</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404" y="538869"/>
            <a:ext cx="3450020" cy="14214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spTree>
    <p:extLst>
      <p:ext uri="{BB962C8B-B14F-4D97-AF65-F5344CB8AC3E}">
        <p14:creationId xmlns:p14="http://schemas.microsoft.com/office/powerpoint/2010/main" val="34551058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664</TotalTime>
  <Words>1155</Words>
  <Application>Microsoft Office PowerPoint</Application>
  <PresentationFormat>Widescreen</PresentationFormat>
  <Paragraphs>84</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Times New Roman</vt:lpstr>
      <vt:lpstr>Office Theme</vt:lpstr>
      <vt:lpstr>PowerPoint Presentation</vt:lpstr>
      <vt:lpstr>Laravel Basic Routing</vt:lpstr>
      <vt:lpstr>Default Route files</vt:lpstr>
      <vt:lpstr>Continue…</vt:lpstr>
      <vt:lpstr>Output</vt:lpstr>
      <vt:lpstr>Continue…</vt:lpstr>
      <vt:lpstr>Continue…</vt:lpstr>
      <vt:lpstr>Available Router Methods</vt:lpstr>
      <vt:lpstr>Continue…</vt:lpstr>
      <vt:lpstr>Continue…</vt:lpstr>
      <vt:lpstr>Redirect Routes</vt:lpstr>
      <vt:lpstr>View Routes</vt:lpstr>
      <vt:lpstr>Routing Parameters</vt:lpstr>
      <vt:lpstr>1. Required Parameters</vt:lpstr>
      <vt:lpstr>Continue…</vt:lpstr>
      <vt:lpstr>Optional Parameters</vt:lpstr>
      <vt:lpstr>Regular Expression Constraints</vt:lpstr>
      <vt:lpstr>Continue…</vt:lpstr>
      <vt:lpstr>Global Constraints</vt:lpstr>
      <vt:lpstr>Encoded Forward Slashes</vt:lpstr>
      <vt:lpstr>Named Routes</vt:lpstr>
      <vt:lpstr>Generating URLs to named routes</vt:lpstr>
      <vt:lpstr>Route Groups</vt:lpstr>
      <vt:lpstr>Route Groups</vt:lpstr>
      <vt:lpstr>Route Groups</vt:lpstr>
      <vt:lpstr>Route Groups</vt:lpstr>
      <vt:lpstr>Fallback Routes</vt:lpstr>
      <vt:lpstr>Route Caching </vt:lpstr>
      <vt:lpstr>PowerPoint Presentation</vt:lpstr>
    </vt:vector>
  </TitlesOfParts>
  <Company>Moorche 30 DVDs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Hamedullah</dc:creator>
  <cp:lastModifiedBy>Hamedullah</cp:lastModifiedBy>
  <cp:revision>25</cp:revision>
  <dcterms:created xsi:type="dcterms:W3CDTF">2022-02-20T08:42:26Z</dcterms:created>
  <dcterms:modified xsi:type="dcterms:W3CDTF">2022-03-13T05:52:32Z</dcterms:modified>
</cp:coreProperties>
</file>