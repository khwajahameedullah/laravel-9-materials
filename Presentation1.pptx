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6" r:id="rId2"/>
    <p:sldId id="277" r:id="rId3"/>
    <p:sldId id="318" r:id="rId4"/>
    <p:sldId id="268" r:id="rId5"/>
    <p:sldId id="269" r:id="rId6"/>
    <p:sldId id="270" r:id="rId7"/>
    <p:sldId id="271" r:id="rId8"/>
    <p:sldId id="278" r:id="rId9"/>
    <p:sldId id="279" r:id="rId10"/>
    <p:sldId id="280" r:id="rId11"/>
    <p:sldId id="265" r:id="rId12"/>
    <p:sldId id="273" r:id="rId13"/>
    <p:sldId id="281" r:id="rId14"/>
    <p:sldId id="282" r:id="rId15"/>
    <p:sldId id="285" r:id="rId16"/>
    <p:sldId id="286" r:id="rId17"/>
    <p:sldId id="287" r:id="rId18"/>
    <p:sldId id="283" r:id="rId19"/>
    <p:sldId id="288" r:id="rId20"/>
    <p:sldId id="284" r:id="rId21"/>
    <p:sldId id="291" r:id="rId22"/>
    <p:sldId id="272" r:id="rId23"/>
    <p:sldId id="296" r:id="rId24"/>
    <p:sldId id="297" r:id="rId25"/>
    <p:sldId id="298" r:id="rId26"/>
    <p:sldId id="299" r:id="rId27"/>
    <p:sldId id="301" r:id="rId28"/>
    <p:sldId id="300" r:id="rId29"/>
    <p:sldId id="302" r:id="rId30"/>
    <p:sldId id="303" r:id="rId31"/>
    <p:sldId id="304" r:id="rId32"/>
    <p:sldId id="305" r:id="rId33"/>
    <p:sldId id="275" r:id="rId34"/>
    <p:sldId id="276" r:id="rId35"/>
    <p:sldId id="307" r:id="rId36"/>
    <p:sldId id="308" r:id="rId37"/>
    <p:sldId id="309" r:id="rId38"/>
    <p:sldId id="310" r:id="rId39"/>
    <p:sldId id="311" r:id="rId40"/>
    <p:sldId id="312" r:id="rId41"/>
    <p:sldId id="313" r:id="rId42"/>
    <p:sldId id="314" r:id="rId43"/>
    <p:sldId id="315" r:id="rId44"/>
    <p:sldId id="316" r:id="rId45"/>
    <p:sldId id="317" r:id="rId46"/>
    <p:sldId id="321" r:id="rId47"/>
    <p:sldId id="322" r:id="rId48"/>
    <p:sldId id="323" r:id="rId49"/>
    <p:sldId id="325" r:id="rId50"/>
    <p:sldId id="324" r:id="rId51"/>
    <p:sldId id="326" r:id="rId52"/>
    <p:sldId id="327" r:id="rId53"/>
    <p:sldId id="329" r:id="rId54"/>
    <p:sldId id="330"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CEF111-E278-487B-8FB6-C83915B18921}" type="datetimeFigureOut">
              <a:rPr lang="en-US" smtClean="0"/>
              <a:t>3/11/2022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14A741-4F32-4607-8D4B-92842315206A}" type="slidenum">
              <a:rPr lang="en-US" smtClean="0"/>
              <a:t>‹#›</a:t>
            </a:fld>
            <a:endParaRPr lang="en-US"/>
          </a:p>
        </p:txBody>
      </p:sp>
    </p:spTree>
    <p:extLst>
      <p:ext uri="{BB962C8B-B14F-4D97-AF65-F5344CB8AC3E}">
        <p14:creationId xmlns:p14="http://schemas.microsoft.com/office/powerpoint/2010/main" val="405656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https://www.w3schools.in/laravel-tutorial/history/</a:t>
            </a:r>
            <a:endParaRPr lang="en-US" dirty="0"/>
          </a:p>
        </p:txBody>
      </p:sp>
      <p:sp>
        <p:nvSpPr>
          <p:cNvPr id="4" name="Slide Number Placeholder 3"/>
          <p:cNvSpPr>
            <a:spLocks noGrp="1"/>
          </p:cNvSpPr>
          <p:nvPr>
            <p:ph type="sldNum" sz="quarter" idx="10"/>
          </p:nvPr>
        </p:nvSpPr>
        <p:spPr/>
        <p:txBody>
          <a:bodyPr/>
          <a:lstStyle/>
          <a:p>
            <a:fld id="{0514A741-4F32-4607-8D4B-92842315206A}" type="slidenum">
              <a:rPr lang="en-US" smtClean="0"/>
              <a:t>5</a:t>
            </a:fld>
            <a:endParaRPr lang="en-US"/>
          </a:p>
        </p:txBody>
      </p:sp>
    </p:spTree>
    <p:extLst>
      <p:ext uri="{BB962C8B-B14F-4D97-AF65-F5344CB8AC3E}">
        <p14:creationId xmlns:p14="http://schemas.microsoft.com/office/powerpoint/2010/main" val="647566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https://www.apachefriends.org/download.html</a:t>
            </a:r>
            <a:endParaRPr lang="en-US" dirty="0"/>
          </a:p>
        </p:txBody>
      </p:sp>
      <p:sp>
        <p:nvSpPr>
          <p:cNvPr id="4" name="Slide Number Placeholder 3"/>
          <p:cNvSpPr>
            <a:spLocks noGrp="1"/>
          </p:cNvSpPr>
          <p:nvPr>
            <p:ph type="sldNum" sz="quarter" idx="10"/>
          </p:nvPr>
        </p:nvSpPr>
        <p:spPr/>
        <p:txBody>
          <a:bodyPr/>
          <a:lstStyle/>
          <a:p>
            <a:fld id="{0514A741-4F32-4607-8D4B-92842315206A}" type="slidenum">
              <a:rPr lang="en-US" smtClean="0"/>
              <a:t>22</a:t>
            </a:fld>
            <a:endParaRPr lang="en-US"/>
          </a:p>
        </p:txBody>
      </p:sp>
    </p:spTree>
    <p:extLst>
      <p:ext uri="{BB962C8B-B14F-4D97-AF65-F5344CB8AC3E}">
        <p14:creationId xmlns:p14="http://schemas.microsoft.com/office/powerpoint/2010/main" val="40678312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https://www.apachefriends.org/download.html</a:t>
            </a:r>
            <a:endParaRPr lang="en-US" dirty="0"/>
          </a:p>
        </p:txBody>
      </p:sp>
      <p:sp>
        <p:nvSpPr>
          <p:cNvPr id="4" name="Slide Number Placeholder 3"/>
          <p:cNvSpPr>
            <a:spLocks noGrp="1"/>
          </p:cNvSpPr>
          <p:nvPr>
            <p:ph type="sldNum" sz="quarter" idx="10"/>
          </p:nvPr>
        </p:nvSpPr>
        <p:spPr/>
        <p:txBody>
          <a:bodyPr/>
          <a:lstStyle/>
          <a:p>
            <a:fld id="{0514A741-4F32-4607-8D4B-92842315206A}" type="slidenum">
              <a:rPr lang="en-US" smtClean="0"/>
              <a:t>23</a:t>
            </a:fld>
            <a:endParaRPr lang="en-US"/>
          </a:p>
        </p:txBody>
      </p:sp>
    </p:spTree>
    <p:extLst>
      <p:ext uri="{BB962C8B-B14F-4D97-AF65-F5344CB8AC3E}">
        <p14:creationId xmlns:p14="http://schemas.microsoft.com/office/powerpoint/2010/main" val="1024175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https://www.apachefriends.org/download.html</a:t>
            </a:r>
            <a:endParaRPr lang="en-US" dirty="0"/>
          </a:p>
        </p:txBody>
      </p:sp>
      <p:sp>
        <p:nvSpPr>
          <p:cNvPr id="4" name="Slide Number Placeholder 3"/>
          <p:cNvSpPr>
            <a:spLocks noGrp="1"/>
          </p:cNvSpPr>
          <p:nvPr>
            <p:ph type="sldNum" sz="quarter" idx="10"/>
          </p:nvPr>
        </p:nvSpPr>
        <p:spPr/>
        <p:txBody>
          <a:bodyPr/>
          <a:lstStyle/>
          <a:p>
            <a:fld id="{0514A741-4F32-4607-8D4B-92842315206A}" type="slidenum">
              <a:rPr lang="en-US" smtClean="0"/>
              <a:t>24</a:t>
            </a:fld>
            <a:endParaRPr lang="en-US"/>
          </a:p>
        </p:txBody>
      </p:sp>
    </p:spTree>
    <p:extLst>
      <p:ext uri="{BB962C8B-B14F-4D97-AF65-F5344CB8AC3E}">
        <p14:creationId xmlns:p14="http://schemas.microsoft.com/office/powerpoint/2010/main" val="1724296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https://www.apachefriends.org/download.html</a:t>
            </a:r>
            <a:endParaRPr lang="en-US" dirty="0"/>
          </a:p>
        </p:txBody>
      </p:sp>
      <p:sp>
        <p:nvSpPr>
          <p:cNvPr id="4" name="Slide Number Placeholder 3"/>
          <p:cNvSpPr>
            <a:spLocks noGrp="1"/>
          </p:cNvSpPr>
          <p:nvPr>
            <p:ph type="sldNum" sz="quarter" idx="10"/>
          </p:nvPr>
        </p:nvSpPr>
        <p:spPr/>
        <p:txBody>
          <a:bodyPr/>
          <a:lstStyle/>
          <a:p>
            <a:fld id="{0514A741-4F32-4607-8D4B-92842315206A}" type="slidenum">
              <a:rPr lang="en-US" smtClean="0"/>
              <a:t>25</a:t>
            </a:fld>
            <a:endParaRPr lang="en-US"/>
          </a:p>
        </p:txBody>
      </p:sp>
    </p:spTree>
    <p:extLst>
      <p:ext uri="{BB962C8B-B14F-4D97-AF65-F5344CB8AC3E}">
        <p14:creationId xmlns:p14="http://schemas.microsoft.com/office/powerpoint/2010/main" val="14524955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https://www.apachefriends.org/download.html</a:t>
            </a:r>
            <a:endParaRPr lang="en-US" dirty="0"/>
          </a:p>
        </p:txBody>
      </p:sp>
      <p:sp>
        <p:nvSpPr>
          <p:cNvPr id="4" name="Slide Number Placeholder 3"/>
          <p:cNvSpPr>
            <a:spLocks noGrp="1"/>
          </p:cNvSpPr>
          <p:nvPr>
            <p:ph type="sldNum" sz="quarter" idx="10"/>
          </p:nvPr>
        </p:nvSpPr>
        <p:spPr/>
        <p:txBody>
          <a:bodyPr/>
          <a:lstStyle/>
          <a:p>
            <a:fld id="{0514A741-4F32-4607-8D4B-92842315206A}" type="slidenum">
              <a:rPr lang="en-US" smtClean="0"/>
              <a:t>26</a:t>
            </a:fld>
            <a:endParaRPr lang="en-US"/>
          </a:p>
        </p:txBody>
      </p:sp>
    </p:spTree>
    <p:extLst>
      <p:ext uri="{BB962C8B-B14F-4D97-AF65-F5344CB8AC3E}">
        <p14:creationId xmlns:p14="http://schemas.microsoft.com/office/powerpoint/2010/main" val="2913273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https://www.apachefriends.org/download.html</a:t>
            </a:r>
            <a:endParaRPr lang="en-US" dirty="0"/>
          </a:p>
        </p:txBody>
      </p:sp>
      <p:sp>
        <p:nvSpPr>
          <p:cNvPr id="4" name="Slide Number Placeholder 3"/>
          <p:cNvSpPr>
            <a:spLocks noGrp="1"/>
          </p:cNvSpPr>
          <p:nvPr>
            <p:ph type="sldNum" sz="quarter" idx="10"/>
          </p:nvPr>
        </p:nvSpPr>
        <p:spPr/>
        <p:txBody>
          <a:bodyPr/>
          <a:lstStyle/>
          <a:p>
            <a:fld id="{0514A741-4F32-4607-8D4B-92842315206A}" type="slidenum">
              <a:rPr lang="en-US" smtClean="0"/>
              <a:t>27</a:t>
            </a:fld>
            <a:endParaRPr lang="en-US"/>
          </a:p>
        </p:txBody>
      </p:sp>
    </p:spTree>
    <p:extLst>
      <p:ext uri="{BB962C8B-B14F-4D97-AF65-F5344CB8AC3E}">
        <p14:creationId xmlns:p14="http://schemas.microsoft.com/office/powerpoint/2010/main" val="12262785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https://www.apachefriends.org/download.html</a:t>
            </a:r>
            <a:endParaRPr lang="en-US" dirty="0"/>
          </a:p>
        </p:txBody>
      </p:sp>
      <p:sp>
        <p:nvSpPr>
          <p:cNvPr id="4" name="Slide Number Placeholder 3"/>
          <p:cNvSpPr>
            <a:spLocks noGrp="1"/>
          </p:cNvSpPr>
          <p:nvPr>
            <p:ph type="sldNum" sz="quarter" idx="10"/>
          </p:nvPr>
        </p:nvSpPr>
        <p:spPr/>
        <p:txBody>
          <a:bodyPr/>
          <a:lstStyle/>
          <a:p>
            <a:fld id="{0514A741-4F32-4607-8D4B-92842315206A}" type="slidenum">
              <a:rPr lang="en-US" smtClean="0"/>
              <a:t>28</a:t>
            </a:fld>
            <a:endParaRPr lang="en-US"/>
          </a:p>
        </p:txBody>
      </p:sp>
    </p:spTree>
    <p:extLst>
      <p:ext uri="{BB962C8B-B14F-4D97-AF65-F5344CB8AC3E}">
        <p14:creationId xmlns:p14="http://schemas.microsoft.com/office/powerpoint/2010/main" val="1021656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https://www.apachefriends.org/download.html</a:t>
            </a:r>
            <a:endParaRPr lang="en-US" dirty="0"/>
          </a:p>
        </p:txBody>
      </p:sp>
      <p:sp>
        <p:nvSpPr>
          <p:cNvPr id="4" name="Slide Number Placeholder 3"/>
          <p:cNvSpPr>
            <a:spLocks noGrp="1"/>
          </p:cNvSpPr>
          <p:nvPr>
            <p:ph type="sldNum" sz="quarter" idx="10"/>
          </p:nvPr>
        </p:nvSpPr>
        <p:spPr/>
        <p:txBody>
          <a:bodyPr/>
          <a:lstStyle/>
          <a:p>
            <a:fld id="{0514A741-4F32-4607-8D4B-92842315206A}" type="slidenum">
              <a:rPr lang="en-US" smtClean="0"/>
              <a:t>29</a:t>
            </a:fld>
            <a:endParaRPr lang="en-US"/>
          </a:p>
        </p:txBody>
      </p:sp>
    </p:spTree>
    <p:extLst>
      <p:ext uri="{BB962C8B-B14F-4D97-AF65-F5344CB8AC3E}">
        <p14:creationId xmlns:p14="http://schemas.microsoft.com/office/powerpoint/2010/main" val="36869561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https://www.apachefriends.org/download.html</a:t>
            </a:r>
            <a:endParaRPr lang="en-US" dirty="0"/>
          </a:p>
        </p:txBody>
      </p:sp>
      <p:sp>
        <p:nvSpPr>
          <p:cNvPr id="4" name="Slide Number Placeholder 3"/>
          <p:cNvSpPr>
            <a:spLocks noGrp="1"/>
          </p:cNvSpPr>
          <p:nvPr>
            <p:ph type="sldNum" sz="quarter" idx="10"/>
          </p:nvPr>
        </p:nvSpPr>
        <p:spPr/>
        <p:txBody>
          <a:bodyPr/>
          <a:lstStyle/>
          <a:p>
            <a:fld id="{0514A741-4F32-4607-8D4B-92842315206A}" type="slidenum">
              <a:rPr lang="en-US" smtClean="0"/>
              <a:t>30</a:t>
            </a:fld>
            <a:endParaRPr lang="en-US"/>
          </a:p>
        </p:txBody>
      </p:sp>
    </p:spTree>
    <p:extLst>
      <p:ext uri="{BB962C8B-B14F-4D97-AF65-F5344CB8AC3E}">
        <p14:creationId xmlns:p14="http://schemas.microsoft.com/office/powerpoint/2010/main" val="16477885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https://www.apachefriends.org/download.html</a:t>
            </a:r>
            <a:endParaRPr lang="en-US" dirty="0"/>
          </a:p>
        </p:txBody>
      </p:sp>
      <p:sp>
        <p:nvSpPr>
          <p:cNvPr id="4" name="Slide Number Placeholder 3"/>
          <p:cNvSpPr>
            <a:spLocks noGrp="1"/>
          </p:cNvSpPr>
          <p:nvPr>
            <p:ph type="sldNum" sz="quarter" idx="10"/>
          </p:nvPr>
        </p:nvSpPr>
        <p:spPr/>
        <p:txBody>
          <a:bodyPr/>
          <a:lstStyle/>
          <a:p>
            <a:fld id="{0514A741-4F32-4607-8D4B-92842315206A}" type="slidenum">
              <a:rPr lang="en-US" smtClean="0"/>
              <a:t>31</a:t>
            </a:fld>
            <a:endParaRPr lang="en-US"/>
          </a:p>
        </p:txBody>
      </p:sp>
    </p:spTree>
    <p:extLst>
      <p:ext uri="{BB962C8B-B14F-4D97-AF65-F5344CB8AC3E}">
        <p14:creationId xmlns:p14="http://schemas.microsoft.com/office/powerpoint/2010/main" val="32930225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https://www.apachefriends.org/download.html</a:t>
            </a:r>
            <a:endParaRPr lang="en-US" dirty="0"/>
          </a:p>
        </p:txBody>
      </p:sp>
      <p:sp>
        <p:nvSpPr>
          <p:cNvPr id="4" name="Slide Number Placeholder 3"/>
          <p:cNvSpPr>
            <a:spLocks noGrp="1"/>
          </p:cNvSpPr>
          <p:nvPr>
            <p:ph type="sldNum" sz="quarter" idx="10"/>
          </p:nvPr>
        </p:nvSpPr>
        <p:spPr/>
        <p:txBody>
          <a:bodyPr/>
          <a:lstStyle/>
          <a:p>
            <a:fld id="{0514A741-4F32-4607-8D4B-92842315206A}" type="slidenum">
              <a:rPr lang="en-US" smtClean="0"/>
              <a:t>32</a:t>
            </a:fld>
            <a:endParaRPr lang="en-US"/>
          </a:p>
        </p:txBody>
      </p:sp>
    </p:spTree>
    <p:extLst>
      <p:ext uri="{BB962C8B-B14F-4D97-AF65-F5344CB8AC3E}">
        <p14:creationId xmlns:p14="http://schemas.microsoft.com/office/powerpoint/2010/main" val="971489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E81D31D-7C84-4510-860C-705F6CAF2E78}" type="datetimeFigureOut">
              <a:rPr lang="en-US" smtClean="0"/>
              <a:t>3/11/2022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1216020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81D31D-7C84-4510-860C-705F6CAF2E78}" type="datetimeFigureOut">
              <a:rPr lang="en-US" smtClean="0"/>
              <a:t>3/11/2022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1719822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E81D31D-7C84-4510-860C-705F6CAF2E78}" type="datetimeFigureOut">
              <a:rPr lang="en-US" smtClean="0"/>
              <a:t>3/11/2022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4250807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E81D31D-7C84-4510-860C-705F6CAF2E78}" type="datetimeFigureOut">
              <a:rPr lang="en-US" smtClean="0"/>
              <a:t>3/11/2022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1370148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E81D31D-7C84-4510-860C-705F6CAF2E78}" type="datetimeFigureOut">
              <a:rPr lang="en-US" smtClean="0"/>
              <a:t>3/11/2022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3681059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E81D31D-7C84-4510-860C-705F6CAF2E78}" type="datetimeFigureOut">
              <a:rPr lang="en-US" smtClean="0"/>
              <a:t>3/11/2022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3505490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81D31D-7C84-4510-860C-705F6CAF2E78}" type="datetimeFigureOut">
              <a:rPr lang="en-US" smtClean="0"/>
              <a:t>3/11/2022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426474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E81D31D-7C84-4510-860C-705F6CAF2E78}" type="datetimeFigureOut">
              <a:rPr lang="en-US" smtClean="0"/>
              <a:t>3/11/2022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1292179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E81D31D-7C84-4510-860C-705F6CAF2E78}" type="datetimeFigureOut">
              <a:rPr lang="en-US" smtClean="0"/>
              <a:t>3/11/2022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1153066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81D31D-7C84-4510-860C-705F6CAF2E78}" type="datetimeFigureOut">
              <a:rPr lang="en-US" smtClean="0"/>
              <a:t>3/11/2022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1423039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81D31D-7C84-4510-860C-705F6CAF2E78}" type="datetimeFigureOut">
              <a:rPr lang="en-US" smtClean="0"/>
              <a:t>3/11/2022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3445183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81D31D-7C84-4510-860C-705F6CAF2E78}" type="datetimeFigureOut">
              <a:rPr lang="en-US" smtClean="0"/>
              <a:t>3/11/2022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F73569-ABDB-4A0F-AE5A-D508F2026589}" type="slidenum">
              <a:rPr lang="en-US" smtClean="0"/>
              <a:t>‹#›</a:t>
            </a:fld>
            <a:endParaRPr lang="en-US"/>
          </a:p>
        </p:txBody>
      </p:sp>
    </p:spTree>
    <p:extLst>
      <p:ext uri="{BB962C8B-B14F-4D97-AF65-F5344CB8AC3E}">
        <p14:creationId xmlns:p14="http://schemas.microsoft.com/office/powerpoint/2010/main" val="5555941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educba.com/what-is-laravel/"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etcomposer.org/download/" TargetMode="Externa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laravel.com/docs/9.x/installation#installation-via-composer" TargetMode="Externa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laravel.com/docs/9.x/installation#the-laravel-installer" TargetMode="Externa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9674"/>
          </a:xfrm>
          <a:prstGeom prst="rect">
            <a:avLst/>
          </a:prstGeom>
        </p:spPr>
      </p:pic>
      <p:sp>
        <p:nvSpPr>
          <p:cNvPr id="5" name="TextBox 4"/>
          <p:cNvSpPr txBox="1"/>
          <p:nvPr/>
        </p:nvSpPr>
        <p:spPr>
          <a:xfrm>
            <a:off x="2173856" y="2894494"/>
            <a:ext cx="8186467" cy="707886"/>
          </a:xfrm>
          <a:prstGeom prst="rect">
            <a:avLst/>
          </a:prstGeom>
          <a:noFill/>
        </p:spPr>
        <p:txBody>
          <a:bodyPr wrap="square" rtlCol="0">
            <a:spAutoFit/>
          </a:bodyPr>
          <a:lstStyle/>
          <a:p>
            <a:pPr algn="ctr"/>
            <a:r>
              <a:rPr lang="en-US" sz="4000" b="1" dirty="0" smtClean="0">
                <a:solidFill>
                  <a:schemeClr val="bg1"/>
                </a:solidFill>
                <a:latin typeface="Times New Roman" panose="02020603050405020304" pitchFamily="18" charset="0"/>
                <a:cs typeface="Times New Roman" panose="02020603050405020304" pitchFamily="18" charset="0"/>
              </a:rPr>
              <a:t>Faculty of Computer Science</a:t>
            </a:r>
          </a:p>
        </p:txBody>
      </p:sp>
    </p:spTree>
    <p:extLst>
      <p:ext uri="{BB962C8B-B14F-4D97-AF65-F5344CB8AC3E}">
        <p14:creationId xmlns:p14="http://schemas.microsoft.com/office/powerpoint/2010/main" val="40388645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PHP Frameworks</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23554" name="Picture 2" descr="See the source image"/>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2459239" y="1746250"/>
            <a:ext cx="7314797" cy="4616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4161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23554"/>
                                        </p:tgtEl>
                                        <p:attrNameLst>
                                          <p:attrName>style.visibility</p:attrName>
                                        </p:attrNameLst>
                                      </p:cBhvr>
                                      <p:to>
                                        <p:strVal val="visible"/>
                                      </p:to>
                                    </p:set>
                                    <p:anim calcmode="lin" valueType="num">
                                      <p:cBhvr additive="base">
                                        <p:cTn id="14" dur="500" fill="hold"/>
                                        <p:tgtEl>
                                          <p:spTgt spid="23554"/>
                                        </p:tgtEl>
                                        <p:attrNameLst>
                                          <p:attrName>ppt_x</p:attrName>
                                        </p:attrNameLst>
                                      </p:cBhvr>
                                      <p:tavLst>
                                        <p:tav tm="0">
                                          <p:val>
                                            <p:strVal val="#ppt_x"/>
                                          </p:val>
                                        </p:tav>
                                        <p:tav tm="100000">
                                          <p:val>
                                            <p:strVal val="#ppt_x"/>
                                          </p:val>
                                        </p:tav>
                                      </p:tavLst>
                                    </p:anim>
                                    <p:anim calcmode="lin" valueType="num">
                                      <p:cBhvr additive="base">
                                        <p:cTn id="15" dur="500" fill="hold"/>
                                        <p:tgtEl>
                                          <p:spTgt spid="235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What is Laravel?</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746503"/>
            <a:ext cx="11680614" cy="4616197"/>
          </a:xfrm>
        </p:spPr>
        <p:txBody>
          <a:bodyPr>
            <a:normAutofit fontScale="92500" lnSpcReduction="10000"/>
          </a:bodyPr>
          <a:lstStyle/>
          <a:p>
            <a:pPr algn="just"/>
            <a:r>
              <a:rPr lang="en-US" dirty="0" smtClean="0">
                <a:latin typeface="Times New Roman" panose="02020603050405020304" pitchFamily="18" charset="0"/>
                <a:cs typeface="Times New Roman" panose="02020603050405020304" pitchFamily="18" charset="0"/>
              </a:rPr>
              <a:t>Laravel is an open-source PHP framework. It also offers the rich set of functionalities.</a:t>
            </a:r>
            <a:endParaRPr lang="en-US" dirty="0" smtClean="0">
              <a:latin typeface="Times New Roman" panose="02020603050405020304" pitchFamily="18" charset="0"/>
              <a:cs typeface="Times New Roman" panose="02020603050405020304" pitchFamily="18" charset="0"/>
              <a:hlinkClick r:id="rId2"/>
            </a:endParaRPr>
          </a:p>
          <a:p>
            <a:pPr algn="just"/>
            <a:r>
              <a:rPr lang="en-US" dirty="0" smtClean="0">
                <a:latin typeface="Times New Roman" panose="02020603050405020304" pitchFamily="18" charset="0"/>
                <a:cs typeface="Times New Roman" panose="02020603050405020304" pitchFamily="18" charset="0"/>
                <a:hlinkClick r:id="rId2"/>
              </a:rPr>
              <a:t>Laravel</a:t>
            </a:r>
            <a:r>
              <a:rPr lang="en-US" dirty="0" smtClean="0">
                <a:latin typeface="Times New Roman" panose="02020603050405020304" pitchFamily="18" charset="0"/>
                <a:cs typeface="Times New Roman" panose="02020603050405020304" pitchFamily="18" charset="0"/>
              </a:rPr>
              <a:t> is one of the world’s most popular PHP frameworks for building web applications from small to large projects. </a:t>
            </a:r>
          </a:p>
          <a:p>
            <a:pPr algn="just"/>
            <a:r>
              <a:rPr lang="en-US" dirty="0" smtClean="0">
                <a:latin typeface="Times New Roman" panose="02020603050405020304" pitchFamily="18" charset="0"/>
                <a:cs typeface="Times New Roman" panose="02020603050405020304" pitchFamily="18" charset="0"/>
              </a:rPr>
              <a:t>Due to its performance, features and scalability, Laravel is the choice of professional developers.</a:t>
            </a:r>
          </a:p>
          <a:p>
            <a:pPr algn="just"/>
            <a:r>
              <a:rPr lang="en-US" dirty="0" smtClean="0">
                <a:latin typeface="Times New Roman" panose="02020603050405020304" pitchFamily="18" charset="0"/>
                <a:cs typeface="Times New Roman" panose="02020603050405020304" pitchFamily="18" charset="0"/>
              </a:rPr>
              <a:t>Laravel </a:t>
            </a:r>
            <a:r>
              <a:rPr lang="en-US" dirty="0">
                <a:latin typeface="Times New Roman" panose="02020603050405020304" pitchFamily="18" charset="0"/>
                <a:cs typeface="Times New Roman" panose="02020603050405020304" pitchFamily="18" charset="0"/>
              </a:rPr>
              <a:t>is a PHP </a:t>
            </a:r>
            <a:r>
              <a:rPr lang="en-US" b="1" dirty="0" smtClean="0">
                <a:solidFill>
                  <a:srgbClr val="00B0F0"/>
                </a:solidFill>
                <a:latin typeface="Times New Roman" panose="02020603050405020304" pitchFamily="18" charset="0"/>
                <a:cs typeface="Times New Roman" panose="02020603050405020304" pitchFamily="18" charset="0"/>
              </a:rPr>
              <a:t>Framework</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that uses the MVC</a:t>
            </a:r>
            <a:r>
              <a:rPr lang="en-US" b="1" dirty="0">
                <a:latin typeface="Times New Roman" panose="02020603050405020304" pitchFamily="18" charset="0"/>
                <a:cs typeface="Times New Roman" panose="02020603050405020304" pitchFamily="18" charset="0"/>
              </a:rPr>
              <a:t> </a:t>
            </a:r>
            <a:r>
              <a:rPr lang="en-US" b="1" dirty="0" smtClean="0">
                <a:solidFill>
                  <a:srgbClr val="00B0F0"/>
                </a:solidFill>
                <a:latin typeface="Times New Roman" panose="02020603050405020304" pitchFamily="18" charset="0"/>
                <a:cs typeface="Times New Roman" panose="02020603050405020304" pitchFamily="18" charset="0"/>
              </a:rPr>
              <a:t>Architecture</a:t>
            </a:r>
            <a:r>
              <a:rPr lang="en-US" dirty="0" smtClean="0">
                <a:latin typeface="Times New Roman" panose="02020603050405020304" pitchFamily="18" charset="0"/>
                <a:cs typeface="Times New Roman" panose="02020603050405020304" pitchFamily="18" charset="0"/>
              </a:rPr>
              <a:t>.</a:t>
            </a:r>
            <a:endParaRPr lang="en-US" b="1" dirty="0" smtClean="0">
              <a:latin typeface="Times New Roman" panose="02020603050405020304" pitchFamily="18" charset="0"/>
              <a:cs typeface="Times New Roman" panose="02020603050405020304" pitchFamily="18" charset="0"/>
            </a:endParaRPr>
          </a:p>
          <a:p>
            <a:pPr marL="0" indent="0" algn="just">
              <a:buNone/>
            </a:pPr>
            <a:r>
              <a:rPr lang="en-US" b="1" dirty="0">
                <a:solidFill>
                  <a:srgbClr val="00B0F0"/>
                </a:solidFill>
                <a:latin typeface="Times New Roman" panose="02020603050405020304" pitchFamily="18" charset="0"/>
                <a:cs typeface="Times New Roman" panose="02020603050405020304" pitchFamily="18" charset="0"/>
              </a:rPr>
              <a:t>	</a:t>
            </a:r>
            <a:r>
              <a:rPr lang="en-US" b="1" dirty="0" smtClean="0">
                <a:solidFill>
                  <a:srgbClr val="00B0F0"/>
                </a:solidFill>
                <a:latin typeface="Times New Roman" panose="02020603050405020304" pitchFamily="18" charset="0"/>
                <a:cs typeface="Times New Roman" panose="02020603050405020304" pitchFamily="18" charset="0"/>
              </a:rPr>
              <a:t>Framework</a:t>
            </a:r>
            <a:r>
              <a:rPr lang="en-US" b="1" dirty="0">
                <a:solidFill>
                  <a:srgbClr val="00B0F0"/>
                </a:solidFill>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It is the collection of methods, classes, or files that the </a:t>
            </a:r>
            <a:r>
              <a:rPr lang="en-US" dirty="0" smtClean="0">
                <a:latin typeface="Times New Roman" panose="02020603050405020304" pitchFamily="18" charset="0"/>
                <a:cs typeface="Times New Roman" panose="02020603050405020304" pitchFamily="18" charset="0"/>
              </a:rPr>
              <a:t>	programmer </a:t>
            </a:r>
            <a:r>
              <a:rPr lang="en-US" dirty="0">
                <a:latin typeface="Times New Roman" panose="02020603050405020304" pitchFamily="18" charset="0"/>
                <a:cs typeface="Times New Roman" panose="02020603050405020304" pitchFamily="18" charset="0"/>
              </a:rPr>
              <a:t>uses, and they can also extend its functionality by using their </a:t>
            </a:r>
            <a:r>
              <a:rPr lang="en-US" dirty="0" smtClean="0">
                <a:latin typeface="Times New Roman" panose="02020603050405020304" pitchFamily="18" charset="0"/>
                <a:cs typeface="Times New Roman" panose="02020603050405020304" pitchFamily="18" charset="0"/>
              </a:rPr>
              <a:t>	code</a:t>
            </a:r>
            <a:r>
              <a:rPr lang="en-US" dirty="0">
                <a:latin typeface="Times New Roman" panose="02020603050405020304" pitchFamily="18" charset="0"/>
                <a:cs typeface="Times New Roman" panose="02020603050405020304" pitchFamily="18" charset="0"/>
              </a:rPr>
              <a:t>.</a:t>
            </a:r>
          </a:p>
          <a:p>
            <a:pPr marL="0" indent="0" algn="just">
              <a:buNone/>
            </a:pPr>
            <a:r>
              <a:rPr lang="en-US" b="1" dirty="0" smtClean="0">
                <a:latin typeface="Times New Roman" panose="02020603050405020304" pitchFamily="18" charset="0"/>
                <a:cs typeface="Times New Roman" panose="02020603050405020304" pitchFamily="18" charset="0"/>
              </a:rPr>
              <a:t>	</a:t>
            </a:r>
            <a:r>
              <a:rPr lang="en-US" b="1" dirty="0" smtClean="0">
                <a:solidFill>
                  <a:srgbClr val="00B0F0"/>
                </a:solidFill>
                <a:latin typeface="Times New Roman" panose="02020603050405020304" pitchFamily="18" charset="0"/>
                <a:cs typeface="Times New Roman" panose="02020603050405020304" pitchFamily="18" charset="0"/>
              </a:rPr>
              <a:t>Architecture</a:t>
            </a:r>
            <a:r>
              <a:rPr lang="en-US" b="1" dirty="0">
                <a:solidFill>
                  <a:srgbClr val="00B0F0"/>
                </a:solidFill>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It is the specific design pattern that the framework follows. </a:t>
            </a:r>
            <a:r>
              <a:rPr lang="en-US" dirty="0" smtClean="0">
                <a:latin typeface="Times New Roman" panose="02020603050405020304" pitchFamily="18" charset="0"/>
                <a:cs typeface="Times New Roman" panose="02020603050405020304" pitchFamily="18" charset="0"/>
              </a:rPr>
              <a:t>	Laravel </a:t>
            </a:r>
            <a:r>
              <a:rPr lang="en-US" dirty="0">
                <a:latin typeface="Times New Roman" panose="02020603050405020304" pitchFamily="18" charset="0"/>
                <a:cs typeface="Times New Roman" panose="02020603050405020304" pitchFamily="18" charset="0"/>
              </a:rPr>
              <a:t>is </a:t>
            </a:r>
            <a:r>
              <a:rPr lang="en-US" dirty="0" smtClean="0">
                <a:latin typeface="Times New Roman" panose="02020603050405020304" pitchFamily="18" charset="0"/>
                <a:cs typeface="Times New Roman" panose="02020603050405020304" pitchFamily="18" charset="0"/>
              </a:rPr>
              <a:t>	following </a:t>
            </a:r>
            <a:r>
              <a:rPr lang="en-US" dirty="0">
                <a:latin typeface="Times New Roman" panose="02020603050405020304" pitchFamily="18" charset="0"/>
                <a:cs typeface="Times New Roman" panose="02020603050405020304" pitchFamily="18" charset="0"/>
              </a:rPr>
              <a:t>the MVC architecture.</a:t>
            </a:r>
          </a:p>
          <a:p>
            <a:pPr algn="just"/>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2297052" y="6362700"/>
            <a:ext cx="8391525" cy="495300"/>
          </a:xfrm>
          <a:prstGeom prst="rect">
            <a:avLst/>
          </a:prstGeom>
        </p:spPr>
      </p:pic>
      <p:pic>
        <p:nvPicPr>
          <p:cNvPr id="6" name="Picture 5"/>
          <p:cNvPicPr>
            <a:picLocks noChangeAspect="1"/>
          </p:cNvPicPr>
          <p:nvPr/>
        </p:nvPicPr>
        <p:blipFill>
          <a:blip r:embed="rId5"/>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322174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1000"/>
                                        <p:tgtEl>
                                          <p:spTgt spid="3">
                                            <p:txEl>
                                              <p:pRg st="5" end="5"/>
                                            </p:txEl>
                                          </p:spTgt>
                                        </p:tgtEl>
                                      </p:cBhvr>
                                    </p:animEffect>
                                    <p:anim calcmode="lin" valueType="num">
                                      <p:cBhvr>
                                        <p:cTn id="5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History of Laravel</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700783"/>
            <a:ext cx="11680614" cy="4476179"/>
          </a:xfrm>
        </p:spPr>
        <p:txBody>
          <a:bodyPr/>
          <a:lstStyle/>
          <a:p>
            <a:pPr algn="just"/>
            <a:r>
              <a:rPr lang="en-US" dirty="0">
                <a:latin typeface="Times New Roman" panose="02020603050405020304" pitchFamily="18" charset="0"/>
                <a:cs typeface="Times New Roman" panose="02020603050405020304" pitchFamily="18" charset="0"/>
              </a:rPr>
              <a:t>Laravel is a</a:t>
            </a:r>
            <a:r>
              <a:rPr lang="en-US" b="1" dirty="0">
                <a:latin typeface="Times New Roman" panose="02020603050405020304" pitchFamily="18" charset="0"/>
                <a:cs typeface="Times New Roman" panose="02020603050405020304" pitchFamily="18" charset="0"/>
              </a:rPr>
              <a:t> Free Open-source</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PHP</a:t>
            </a:r>
            <a:r>
              <a:rPr lang="en-US" dirty="0">
                <a:latin typeface="Times New Roman" panose="02020603050405020304" pitchFamily="18" charset="0"/>
                <a:cs typeface="Times New Roman" panose="02020603050405020304" pitchFamily="18" charset="0"/>
              </a:rPr>
              <a:t> framework that was created by </a:t>
            </a:r>
            <a:r>
              <a:rPr lang="en-US" b="1" dirty="0">
                <a:latin typeface="Times New Roman" panose="02020603050405020304" pitchFamily="18" charset="0"/>
                <a:cs typeface="Times New Roman" panose="02020603050405020304" pitchFamily="18" charset="0"/>
              </a:rPr>
              <a:t>Taylor </a:t>
            </a:r>
            <a:r>
              <a:rPr lang="en-US" b="1" dirty="0" err="1">
                <a:latin typeface="Times New Roman" panose="02020603050405020304" pitchFamily="18" charset="0"/>
                <a:cs typeface="Times New Roman" panose="02020603050405020304" pitchFamily="18" charset="0"/>
              </a:rPr>
              <a:t>Otwell</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 </a:t>
            </a:r>
            <a:r>
              <a:rPr lang="en-US" dirty="0" err="1">
                <a:latin typeface="Times New Roman" panose="02020603050405020304" pitchFamily="18" charset="0"/>
                <a:cs typeface="Times New Roman" panose="02020603050405020304" pitchFamily="18" charset="0"/>
              </a:rPr>
              <a:t>.net</a:t>
            </a:r>
            <a:r>
              <a:rPr lang="en-US" dirty="0">
                <a:latin typeface="Times New Roman" panose="02020603050405020304" pitchFamily="18" charset="0"/>
                <a:cs typeface="Times New Roman" panose="02020603050405020304" pitchFamily="18" charset="0"/>
              </a:rPr>
              <a:t> developer in Arkansas </a:t>
            </a:r>
            <a:r>
              <a:rPr lang="en-US" b="1" dirty="0">
                <a:latin typeface="Times New Roman" panose="02020603050405020304" pitchFamily="18" charset="0"/>
                <a:cs typeface="Times New Roman" panose="02020603050405020304" pitchFamily="18" charset="0"/>
              </a:rPr>
              <a:t>in the year 2011. </a:t>
            </a:r>
            <a:endParaRPr lang="en-US" b="1" dirty="0" smtClean="0">
              <a:latin typeface="Times New Roman" panose="02020603050405020304" pitchFamily="18" charset="0"/>
              <a:cs typeface="Times New Roman" panose="02020603050405020304" pitchFamily="18" charset="0"/>
            </a:endParaRPr>
          </a:p>
          <a:p>
            <a:pPr algn="just"/>
            <a:r>
              <a:rPr lang="en-US" b="1" dirty="0" smtClean="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intention behind creating this framework was to make programming simpler and to provide </a:t>
            </a:r>
            <a:r>
              <a:rPr lang="en-US" dirty="0">
                <a:latin typeface="Times New Roman" panose="02020603050405020304" pitchFamily="18" charset="0"/>
                <a:cs typeface="Times New Roman" panose="02020603050405020304" pitchFamily="18" charset="0"/>
              </a:rPr>
              <a:t>an excellent substitute for the older PHP framework named </a:t>
            </a:r>
            <a:r>
              <a:rPr lang="en-US" dirty="0" err="1" smtClean="0">
                <a:latin typeface="Times New Roman" panose="02020603050405020304" pitchFamily="18" charset="0"/>
                <a:cs typeface="Times New Roman" panose="02020603050405020304" pitchFamily="18" charset="0"/>
              </a:rPr>
              <a:t>CodeIgniter</a:t>
            </a:r>
            <a:r>
              <a:rPr lang="en-US" b="1" dirty="0" smtClean="0">
                <a:latin typeface="Times New Roman" panose="02020603050405020304" pitchFamily="18" charset="0"/>
                <a:cs typeface="Times New Roman" panose="02020603050405020304" pitchFamily="18" charset="0"/>
              </a:rPr>
              <a:t>.</a:t>
            </a:r>
          </a:p>
          <a:p>
            <a:pPr algn="just"/>
            <a:r>
              <a:rPr lang="en-US" dirty="0" err="1" smtClean="0">
                <a:latin typeface="Times New Roman" panose="02020603050405020304" pitchFamily="18" charset="0"/>
                <a:cs typeface="Times New Roman" panose="02020603050405020304" pitchFamily="18" charset="0"/>
              </a:rPr>
              <a:t>CodeIgniter</a:t>
            </a:r>
            <a:r>
              <a:rPr lang="en-US" b="1"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did not facilitate the features like s</a:t>
            </a:r>
            <a:r>
              <a:rPr lang="en-US" dirty="0">
                <a:latin typeface="Times New Roman" panose="02020603050405020304" pitchFamily="18" charset="0"/>
                <a:cs typeface="Times New Roman" panose="02020603050405020304" pitchFamily="18" charset="0"/>
              </a:rPr>
              <a:t>upport for built-in customer authentication and proper user authorization.</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176735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Laravel Version Release</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13775306"/>
              </p:ext>
            </p:extLst>
          </p:nvPr>
        </p:nvGraphicFramePr>
        <p:xfrm>
          <a:off x="2190071" y="2087439"/>
          <a:ext cx="7959769" cy="3929313"/>
        </p:xfrm>
        <a:graphic>
          <a:graphicData uri="http://schemas.openxmlformats.org/drawingml/2006/table">
            <a:tbl>
              <a:tblPr>
                <a:tableStyleId>{8A107856-5554-42FB-B03E-39F5DBC370BA}</a:tableStyleId>
              </a:tblPr>
              <a:tblGrid>
                <a:gridCol w="3748339"/>
                <a:gridCol w="4211430"/>
              </a:tblGrid>
              <a:tr h="409588">
                <a:tc>
                  <a:txBody>
                    <a:bodyPr/>
                    <a:lstStyle/>
                    <a:p>
                      <a:pPr algn="ctr" fontAlgn="b"/>
                      <a:r>
                        <a:rPr lang="en-US" sz="2800" b="1" dirty="0">
                          <a:effectLst/>
                        </a:rPr>
                        <a:t>Version</a:t>
                      </a:r>
                      <a:endParaRPr lang="en-US" sz="2800" b="1" dirty="0">
                        <a:solidFill>
                          <a:srgbClr val="FFFFFF"/>
                        </a:solidFill>
                        <a:effectLst/>
                      </a:endParaRPr>
                    </a:p>
                  </a:txBody>
                  <a:tcPr marL="73471" marR="73471" marT="36736" marB="36736" anchor="b"/>
                </a:tc>
                <a:tc>
                  <a:txBody>
                    <a:bodyPr/>
                    <a:lstStyle/>
                    <a:p>
                      <a:pPr algn="ctr" fontAlgn="b"/>
                      <a:r>
                        <a:rPr lang="en-US" sz="2800" b="1" dirty="0">
                          <a:effectLst/>
                        </a:rPr>
                        <a:t>Released on</a:t>
                      </a:r>
                      <a:endParaRPr lang="en-US" sz="2800" b="1" dirty="0">
                        <a:solidFill>
                          <a:srgbClr val="FFFFFF"/>
                        </a:solidFill>
                        <a:effectLst/>
                      </a:endParaRPr>
                    </a:p>
                  </a:txBody>
                  <a:tcPr marL="73471" marR="73471" marT="36736" marB="36736" anchor="b"/>
                </a:tc>
              </a:tr>
              <a:tr h="493897">
                <a:tc>
                  <a:txBody>
                    <a:bodyPr/>
                    <a:lstStyle/>
                    <a:p>
                      <a:pPr fontAlgn="t"/>
                      <a:r>
                        <a:rPr lang="en-US" sz="1800" dirty="0">
                          <a:effectLst/>
                        </a:rPr>
                        <a:t>Laravel 1</a:t>
                      </a:r>
                    </a:p>
                  </a:txBody>
                  <a:tcPr marL="73471" marR="73471" marT="36736" marB="36736"/>
                </a:tc>
                <a:tc>
                  <a:txBody>
                    <a:bodyPr/>
                    <a:lstStyle/>
                    <a:p>
                      <a:pPr fontAlgn="t"/>
                      <a:r>
                        <a:rPr lang="en-US" sz="1800" dirty="0">
                          <a:effectLst/>
                        </a:rPr>
                        <a:t>June 9, 2011</a:t>
                      </a:r>
                    </a:p>
                  </a:txBody>
                  <a:tcPr marL="73471" marR="73471" marT="36736" marB="36736"/>
                </a:tc>
              </a:tr>
              <a:tr h="512064">
                <a:tc>
                  <a:txBody>
                    <a:bodyPr/>
                    <a:lstStyle/>
                    <a:p>
                      <a:pPr fontAlgn="t"/>
                      <a:r>
                        <a:rPr lang="en-US" sz="1800" dirty="0">
                          <a:effectLst/>
                        </a:rPr>
                        <a:t>Laravel 2</a:t>
                      </a:r>
                    </a:p>
                  </a:txBody>
                  <a:tcPr marL="73471" marR="73471" marT="36736" marB="36736"/>
                </a:tc>
                <a:tc>
                  <a:txBody>
                    <a:bodyPr/>
                    <a:lstStyle/>
                    <a:p>
                      <a:pPr fontAlgn="t"/>
                      <a:r>
                        <a:rPr lang="en-US" sz="1800">
                          <a:effectLst/>
                        </a:rPr>
                        <a:t>November 24, 2011</a:t>
                      </a:r>
                    </a:p>
                  </a:txBody>
                  <a:tcPr marL="73471" marR="73471" marT="36736" marB="36736"/>
                </a:tc>
              </a:tr>
              <a:tr h="512064">
                <a:tc>
                  <a:txBody>
                    <a:bodyPr/>
                    <a:lstStyle/>
                    <a:p>
                      <a:pPr fontAlgn="t"/>
                      <a:r>
                        <a:rPr lang="en-US" sz="1800" dirty="0">
                          <a:effectLst/>
                        </a:rPr>
                        <a:t>Laravel 3</a:t>
                      </a:r>
                    </a:p>
                  </a:txBody>
                  <a:tcPr marL="73471" marR="73471" marT="36736" marB="36736"/>
                </a:tc>
                <a:tc>
                  <a:txBody>
                    <a:bodyPr/>
                    <a:lstStyle/>
                    <a:p>
                      <a:pPr fontAlgn="t"/>
                      <a:r>
                        <a:rPr lang="en-US" sz="1800">
                          <a:effectLst/>
                        </a:rPr>
                        <a:t>February 22, 2012</a:t>
                      </a:r>
                    </a:p>
                  </a:txBody>
                  <a:tcPr marL="73471" marR="73471" marT="36736" marB="36736"/>
                </a:tc>
              </a:tr>
              <a:tr h="466344">
                <a:tc>
                  <a:txBody>
                    <a:bodyPr/>
                    <a:lstStyle/>
                    <a:p>
                      <a:pPr fontAlgn="t"/>
                      <a:r>
                        <a:rPr lang="en-US" sz="1800" dirty="0">
                          <a:effectLst/>
                        </a:rPr>
                        <a:t>Laravel 4</a:t>
                      </a:r>
                    </a:p>
                  </a:txBody>
                  <a:tcPr marL="73471" marR="73471" marT="36736" marB="36736"/>
                </a:tc>
                <a:tc>
                  <a:txBody>
                    <a:bodyPr/>
                    <a:lstStyle/>
                    <a:p>
                      <a:pPr fontAlgn="t"/>
                      <a:r>
                        <a:rPr lang="en-US" sz="1800" dirty="0">
                          <a:effectLst/>
                        </a:rPr>
                        <a:t>May 28, 2013</a:t>
                      </a:r>
                    </a:p>
                  </a:txBody>
                  <a:tcPr marL="73471" marR="73471" marT="36736" marB="36736"/>
                </a:tc>
              </a:tr>
              <a:tr h="484632">
                <a:tc>
                  <a:txBody>
                    <a:bodyPr/>
                    <a:lstStyle/>
                    <a:p>
                      <a:pPr fontAlgn="t"/>
                      <a:r>
                        <a:rPr lang="en-US" sz="1800" dirty="0">
                          <a:effectLst/>
                        </a:rPr>
                        <a:t>Laravel 5</a:t>
                      </a:r>
                    </a:p>
                  </a:txBody>
                  <a:tcPr marL="73471" marR="73471" marT="36736" marB="36736"/>
                </a:tc>
                <a:tc>
                  <a:txBody>
                    <a:bodyPr/>
                    <a:lstStyle/>
                    <a:p>
                      <a:pPr fontAlgn="t"/>
                      <a:r>
                        <a:rPr lang="en-US" sz="1800">
                          <a:effectLst/>
                        </a:rPr>
                        <a:t>February 2015</a:t>
                      </a:r>
                    </a:p>
                  </a:txBody>
                  <a:tcPr marL="73471" marR="73471" marT="36736" marB="36736"/>
                </a:tc>
              </a:tr>
              <a:tr h="475488">
                <a:tc>
                  <a:txBody>
                    <a:bodyPr/>
                    <a:lstStyle/>
                    <a:p>
                      <a:pPr fontAlgn="t"/>
                      <a:r>
                        <a:rPr lang="en-US" sz="1800" dirty="0">
                          <a:effectLst/>
                        </a:rPr>
                        <a:t>Laravel 5.1</a:t>
                      </a:r>
                    </a:p>
                  </a:txBody>
                  <a:tcPr marL="73471" marR="73471" marT="36736" marB="36736"/>
                </a:tc>
                <a:tc>
                  <a:txBody>
                    <a:bodyPr/>
                    <a:lstStyle/>
                    <a:p>
                      <a:pPr fontAlgn="t"/>
                      <a:r>
                        <a:rPr lang="en-US" sz="1800" dirty="0">
                          <a:effectLst/>
                        </a:rPr>
                        <a:t>June 2015</a:t>
                      </a:r>
                    </a:p>
                  </a:txBody>
                  <a:tcPr marL="73471" marR="73471" marT="36736" marB="36736"/>
                </a:tc>
              </a:tr>
              <a:tr h="484632">
                <a:tc>
                  <a:txBody>
                    <a:bodyPr/>
                    <a:lstStyle/>
                    <a:p>
                      <a:pPr fontAlgn="t"/>
                      <a:r>
                        <a:rPr lang="en-US" sz="1800" dirty="0">
                          <a:effectLst/>
                        </a:rPr>
                        <a:t>Laravel 5.2</a:t>
                      </a:r>
                    </a:p>
                  </a:txBody>
                  <a:tcPr marL="73471" marR="73471" marT="36736" marB="36736"/>
                </a:tc>
                <a:tc>
                  <a:txBody>
                    <a:bodyPr/>
                    <a:lstStyle/>
                    <a:p>
                      <a:pPr fontAlgn="t"/>
                      <a:r>
                        <a:rPr lang="en-US" sz="1800" dirty="0">
                          <a:effectLst/>
                        </a:rPr>
                        <a:t>December 2015</a:t>
                      </a:r>
                    </a:p>
                  </a:txBody>
                  <a:tcPr marL="73471" marR="73471" marT="36736" marB="36736"/>
                </a:tc>
              </a:tr>
            </a:tbl>
          </a:graphicData>
        </a:graphic>
      </p:graphicFrame>
      <p:pic>
        <p:nvPicPr>
          <p:cNvPr id="1026" name="Picture 2" descr="https://www.ru.edu.af/images/logo/bann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2297052" y="6362700"/>
            <a:ext cx="8391525" cy="495300"/>
          </a:xfrm>
          <a:prstGeom prst="rect">
            <a:avLst/>
          </a:prstGeom>
        </p:spPr>
      </p:pic>
      <p:pic>
        <p:nvPicPr>
          <p:cNvPr id="6" name="Picture 5"/>
          <p:cNvPicPr>
            <a:picLocks noChangeAspect="1"/>
          </p:cNvPicPr>
          <p:nvPr/>
        </p:nvPicPr>
        <p:blipFill>
          <a:blip r:embed="rId5"/>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3780240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Laravel Version Release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08896510"/>
              </p:ext>
            </p:extLst>
          </p:nvPr>
        </p:nvGraphicFramePr>
        <p:xfrm>
          <a:off x="2093976" y="2069148"/>
          <a:ext cx="8055864" cy="3747735"/>
        </p:xfrm>
        <a:graphic>
          <a:graphicData uri="http://schemas.openxmlformats.org/drawingml/2006/table">
            <a:tbl>
              <a:tblPr>
                <a:tableStyleId>{8A107856-5554-42FB-B03E-39F5DBC370BA}</a:tableStyleId>
              </a:tblPr>
              <a:tblGrid>
                <a:gridCol w="3935831"/>
                <a:gridCol w="4120033"/>
              </a:tblGrid>
              <a:tr h="587131">
                <a:tc>
                  <a:txBody>
                    <a:bodyPr/>
                    <a:lstStyle/>
                    <a:p>
                      <a:pPr algn="ctr" fontAlgn="b"/>
                      <a:r>
                        <a:rPr lang="en-US" sz="2800" b="1" dirty="0">
                          <a:effectLst/>
                        </a:rPr>
                        <a:t>Version</a:t>
                      </a:r>
                      <a:endParaRPr lang="en-US" sz="2800" b="1" dirty="0">
                        <a:solidFill>
                          <a:srgbClr val="FFFFFF"/>
                        </a:solidFill>
                        <a:effectLst/>
                      </a:endParaRPr>
                    </a:p>
                  </a:txBody>
                  <a:tcPr marL="73471" marR="73471" marT="36736" marB="36736" anchor="b"/>
                </a:tc>
                <a:tc>
                  <a:txBody>
                    <a:bodyPr/>
                    <a:lstStyle/>
                    <a:p>
                      <a:pPr algn="ctr" fontAlgn="b"/>
                      <a:r>
                        <a:rPr lang="en-US" sz="2800" b="1" dirty="0">
                          <a:effectLst/>
                        </a:rPr>
                        <a:t>Released on</a:t>
                      </a:r>
                      <a:endParaRPr lang="en-US" sz="2800" b="1" dirty="0">
                        <a:solidFill>
                          <a:srgbClr val="FFFFFF"/>
                        </a:solidFill>
                        <a:effectLst/>
                      </a:endParaRPr>
                    </a:p>
                  </a:txBody>
                  <a:tcPr marL="73471" marR="73471" marT="36736" marB="36736" anchor="b"/>
                </a:tc>
              </a:tr>
              <a:tr h="592979">
                <a:tc>
                  <a:txBody>
                    <a:bodyPr/>
                    <a:lstStyle/>
                    <a:p>
                      <a:pPr fontAlgn="t"/>
                      <a:r>
                        <a:rPr lang="en-US" sz="1800" dirty="0">
                          <a:effectLst/>
                        </a:rPr>
                        <a:t>Laravel 5.3</a:t>
                      </a:r>
                    </a:p>
                  </a:txBody>
                  <a:tcPr marL="73471" marR="73471" marT="36736" marB="36736"/>
                </a:tc>
                <a:tc>
                  <a:txBody>
                    <a:bodyPr/>
                    <a:lstStyle/>
                    <a:p>
                      <a:pPr fontAlgn="t"/>
                      <a:r>
                        <a:rPr lang="en-US" sz="1800" dirty="0">
                          <a:effectLst/>
                        </a:rPr>
                        <a:t>August 23, 2016</a:t>
                      </a:r>
                    </a:p>
                  </a:txBody>
                  <a:tcPr marL="73471" marR="73471" marT="36736" marB="36736"/>
                </a:tc>
              </a:tr>
              <a:tr h="526377">
                <a:tc>
                  <a:txBody>
                    <a:bodyPr/>
                    <a:lstStyle/>
                    <a:p>
                      <a:pPr fontAlgn="t"/>
                      <a:r>
                        <a:rPr lang="en-US" sz="1800" dirty="0">
                          <a:effectLst/>
                        </a:rPr>
                        <a:t>Laravel 5.4</a:t>
                      </a:r>
                    </a:p>
                  </a:txBody>
                  <a:tcPr marL="73471" marR="73471" marT="36736" marB="36736"/>
                </a:tc>
                <a:tc>
                  <a:txBody>
                    <a:bodyPr/>
                    <a:lstStyle/>
                    <a:p>
                      <a:pPr fontAlgn="t"/>
                      <a:r>
                        <a:rPr lang="en-US" sz="1800">
                          <a:effectLst/>
                        </a:rPr>
                        <a:t>January 24, 2017</a:t>
                      </a:r>
                    </a:p>
                  </a:txBody>
                  <a:tcPr marL="73471" marR="73471" marT="36736" marB="36736"/>
                </a:tc>
              </a:tr>
              <a:tr h="500051">
                <a:tc>
                  <a:txBody>
                    <a:bodyPr/>
                    <a:lstStyle/>
                    <a:p>
                      <a:pPr fontAlgn="t"/>
                      <a:r>
                        <a:rPr lang="en-US" sz="1800" dirty="0">
                          <a:effectLst/>
                        </a:rPr>
                        <a:t>Laravel 6</a:t>
                      </a:r>
                    </a:p>
                  </a:txBody>
                  <a:tcPr marL="73471" marR="73471" marT="36736" marB="36736"/>
                </a:tc>
                <a:tc>
                  <a:txBody>
                    <a:bodyPr/>
                    <a:lstStyle/>
                    <a:p>
                      <a:pPr fontAlgn="t"/>
                      <a:r>
                        <a:rPr lang="en-US" sz="1800">
                          <a:effectLst/>
                        </a:rPr>
                        <a:t>September 3, 2019</a:t>
                      </a:r>
                    </a:p>
                  </a:txBody>
                  <a:tcPr marL="73471" marR="73471" marT="36736" marB="36736"/>
                </a:tc>
              </a:tr>
              <a:tr h="532759">
                <a:tc>
                  <a:txBody>
                    <a:bodyPr/>
                    <a:lstStyle/>
                    <a:p>
                      <a:pPr fontAlgn="t"/>
                      <a:r>
                        <a:rPr lang="en-US" sz="1800" dirty="0">
                          <a:effectLst/>
                        </a:rPr>
                        <a:t>Laravel 7</a:t>
                      </a:r>
                    </a:p>
                  </a:txBody>
                  <a:tcPr marL="73471" marR="73471" marT="36736" marB="36736"/>
                </a:tc>
                <a:tc>
                  <a:txBody>
                    <a:bodyPr/>
                    <a:lstStyle/>
                    <a:p>
                      <a:pPr fontAlgn="t"/>
                      <a:r>
                        <a:rPr lang="en-US" sz="1800">
                          <a:effectLst/>
                        </a:rPr>
                        <a:t>March 3, 2020</a:t>
                      </a:r>
                    </a:p>
                  </a:txBody>
                  <a:tcPr marL="73471" marR="73471" marT="36736" marB="36736"/>
                </a:tc>
              </a:tr>
              <a:tr h="504219">
                <a:tc>
                  <a:txBody>
                    <a:bodyPr/>
                    <a:lstStyle/>
                    <a:p>
                      <a:pPr fontAlgn="t"/>
                      <a:r>
                        <a:rPr lang="en-US" sz="1800" dirty="0">
                          <a:effectLst/>
                        </a:rPr>
                        <a:t>Laravel 8</a:t>
                      </a:r>
                    </a:p>
                  </a:txBody>
                  <a:tcPr marL="73471" marR="73471" marT="36736" marB="36736"/>
                </a:tc>
                <a:tc>
                  <a:txBody>
                    <a:bodyPr/>
                    <a:lstStyle/>
                    <a:p>
                      <a:pPr fontAlgn="t"/>
                      <a:r>
                        <a:rPr lang="en-US" sz="1800" dirty="0">
                          <a:effectLst/>
                        </a:rPr>
                        <a:t>September 8, 2020</a:t>
                      </a:r>
                    </a:p>
                  </a:txBody>
                  <a:tcPr marL="73471" marR="73471" marT="36736" marB="36736"/>
                </a:tc>
              </a:tr>
              <a:tr h="504219">
                <a:tc>
                  <a:txBody>
                    <a:bodyPr/>
                    <a:lstStyle/>
                    <a:p>
                      <a:pPr fontAlgn="t"/>
                      <a:r>
                        <a:rPr lang="en-US" sz="1800" dirty="0" smtClean="0">
                          <a:effectLst/>
                        </a:rPr>
                        <a:t>Laravel 9</a:t>
                      </a:r>
                      <a:endParaRPr lang="en-US" sz="1800" dirty="0">
                        <a:effectLst/>
                      </a:endParaRPr>
                    </a:p>
                  </a:txBody>
                  <a:tcPr marL="73471" marR="73471" marT="36736" marB="36736"/>
                </a:tc>
                <a:tc>
                  <a:txBody>
                    <a:bodyPr/>
                    <a:lstStyle/>
                    <a:p>
                      <a:pPr fontAlgn="t"/>
                      <a:r>
                        <a:rPr lang="en-US" sz="1800" dirty="0" smtClean="0">
                          <a:effectLst/>
                        </a:rPr>
                        <a:t>February</a:t>
                      </a:r>
                      <a:r>
                        <a:rPr lang="en-US" sz="1800" baseline="0" dirty="0" smtClean="0">
                          <a:effectLst/>
                        </a:rPr>
                        <a:t> 8, 2022</a:t>
                      </a:r>
                      <a:endParaRPr lang="en-US" sz="1800" dirty="0">
                        <a:effectLst/>
                      </a:endParaRPr>
                    </a:p>
                  </a:txBody>
                  <a:tcPr marL="73471" marR="73471" marT="36736" marB="36736"/>
                </a:tc>
              </a:tr>
            </a:tbl>
          </a:graphicData>
        </a:graphic>
      </p:graphicFrame>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3576994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What is MVC? </a:t>
            </a:r>
            <a:endParaRPr lang="en-US" dirty="0"/>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8" name="Content Placeholder 7"/>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bwMode="auto">
          <a:xfrm>
            <a:off x="1353312" y="1581912"/>
            <a:ext cx="9784080" cy="41670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1443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What is Model? </a:t>
            </a:r>
            <a:endParaRPr lang="en-US" dirty="0"/>
          </a:p>
        </p:txBody>
      </p:sp>
      <p:sp>
        <p:nvSpPr>
          <p:cNvPr id="3" name="Content Placeholder 2"/>
          <p:cNvSpPr>
            <a:spLocks noGrp="1"/>
          </p:cNvSpPr>
          <p:nvPr>
            <p:ph idx="1"/>
          </p:nvPr>
        </p:nvSpPr>
        <p:spPr>
          <a:xfrm>
            <a:off x="276045" y="1929383"/>
            <a:ext cx="11680614" cy="4247579"/>
          </a:xfrm>
        </p:spPr>
        <p:txBody>
          <a:bodyPr>
            <a:normAutofit/>
          </a:bodyPr>
          <a:lstStyle/>
          <a:p>
            <a:pPr algn="just"/>
            <a:r>
              <a:rPr lang="en-US" sz="3200" b="1" dirty="0">
                <a:latin typeface="Times New Roman" panose="02020603050405020304" pitchFamily="18" charset="0"/>
                <a:cs typeface="Times New Roman" panose="02020603050405020304" pitchFamily="18" charset="0"/>
              </a:rPr>
              <a:t>M:</a:t>
            </a:r>
            <a:r>
              <a:rPr lang="en-US" sz="3200" dirty="0">
                <a:latin typeface="Times New Roman" panose="02020603050405020304" pitchFamily="18" charset="0"/>
                <a:cs typeface="Times New Roman" panose="02020603050405020304" pitchFamily="18" charset="0"/>
              </a:rPr>
              <a:t> 'M' stands for </a:t>
            </a:r>
            <a:r>
              <a:rPr lang="en-US" sz="3200" b="1" dirty="0">
                <a:latin typeface="Times New Roman" panose="02020603050405020304" pitchFamily="18" charset="0"/>
                <a:cs typeface="Times New Roman" panose="02020603050405020304" pitchFamily="18" charset="0"/>
              </a:rPr>
              <a:t>Model</a:t>
            </a:r>
            <a:r>
              <a:rPr lang="en-US" sz="3200" dirty="0">
                <a:latin typeface="Times New Roman" panose="02020603050405020304" pitchFamily="18" charset="0"/>
                <a:cs typeface="Times New Roman" panose="02020603050405020304" pitchFamily="18" charset="0"/>
              </a:rPr>
              <a:t>. A model is a class that deals with a database. </a:t>
            </a:r>
            <a:endParaRPr lang="en-US" sz="3200" dirty="0" smtClean="0">
              <a:latin typeface="Times New Roman" panose="02020603050405020304" pitchFamily="18" charset="0"/>
              <a:cs typeface="Times New Roman" panose="02020603050405020304" pitchFamily="18" charset="0"/>
            </a:endParaRPr>
          </a:p>
          <a:p>
            <a:pPr algn="just"/>
            <a:r>
              <a:rPr lang="en-US" sz="3200" dirty="0" smtClean="0">
                <a:latin typeface="Times New Roman" panose="02020603050405020304" pitchFamily="18" charset="0"/>
                <a:cs typeface="Times New Roman" panose="02020603050405020304" pitchFamily="18" charset="0"/>
              </a:rPr>
              <a:t>For </a:t>
            </a:r>
            <a:r>
              <a:rPr lang="en-US" sz="3200" dirty="0">
                <a:latin typeface="Times New Roman" panose="02020603050405020304" pitchFamily="18" charset="0"/>
                <a:cs typeface="Times New Roman" panose="02020603050405020304" pitchFamily="18" charset="0"/>
              </a:rPr>
              <a:t>example, if we have users in an application then we will have users model that deals with a database to query the table of users if we have users model, then we will also have a users table</a:t>
            </a:r>
            <a:r>
              <a:rPr lang="en-US" sz="3200" dirty="0" smtClean="0">
                <a:latin typeface="Times New Roman" panose="02020603050405020304" pitchFamily="18" charset="0"/>
                <a:cs typeface="Times New Roman" panose="02020603050405020304" pitchFamily="18" charset="0"/>
              </a:rPr>
              <a:t>.</a:t>
            </a:r>
          </a:p>
          <a:p>
            <a:pPr algn="just"/>
            <a:r>
              <a:rPr lang="en-US" sz="3200" dirty="0" smtClean="0"/>
              <a:t>We </a:t>
            </a:r>
            <a:r>
              <a:rPr lang="en-US" sz="3200" dirty="0"/>
              <a:t>conclude from the example that the model is going to have a table for that specific model.</a:t>
            </a:r>
            <a:endParaRPr lang="en-US" sz="3200"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4029032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What is View? </a:t>
            </a:r>
            <a:endParaRPr lang="en-US" dirty="0"/>
          </a:p>
        </p:txBody>
      </p:sp>
      <p:sp>
        <p:nvSpPr>
          <p:cNvPr id="3" name="Content Placeholder 2"/>
          <p:cNvSpPr>
            <a:spLocks noGrp="1"/>
          </p:cNvSpPr>
          <p:nvPr>
            <p:ph idx="1"/>
          </p:nvPr>
        </p:nvSpPr>
        <p:spPr>
          <a:xfrm>
            <a:off x="276045" y="1783079"/>
            <a:ext cx="11680614" cy="4393883"/>
          </a:xfrm>
        </p:spPr>
        <p:txBody>
          <a:bodyPr>
            <a:normAutofit/>
          </a:bodyPr>
          <a:lstStyle/>
          <a:p>
            <a:pPr algn="just"/>
            <a:r>
              <a:rPr lang="en-US" sz="3200" b="1" dirty="0">
                <a:latin typeface="Times New Roman" panose="02020603050405020304" pitchFamily="18" charset="0"/>
                <a:cs typeface="Times New Roman" panose="02020603050405020304" pitchFamily="18" charset="0"/>
              </a:rPr>
              <a:t>V:</a:t>
            </a:r>
            <a:r>
              <a:rPr lang="en-US" sz="3200" dirty="0">
                <a:latin typeface="Times New Roman" panose="02020603050405020304" pitchFamily="18" charset="0"/>
                <a:cs typeface="Times New Roman" panose="02020603050405020304" pitchFamily="18" charset="0"/>
              </a:rPr>
              <a:t> 'V' stands for </a:t>
            </a:r>
            <a:r>
              <a:rPr lang="en-US" sz="3200" b="1" dirty="0">
                <a:latin typeface="Times New Roman" panose="02020603050405020304" pitchFamily="18" charset="0"/>
                <a:cs typeface="Times New Roman" panose="02020603050405020304" pitchFamily="18" charset="0"/>
              </a:rPr>
              <a:t>View</a:t>
            </a:r>
            <a:r>
              <a:rPr lang="en-US" sz="3200" dirty="0">
                <a:latin typeface="Times New Roman" panose="02020603050405020304" pitchFamily="18" charset="0"/>
                <a:cs typeface="Times New Roman" panose="02020603050405020304" pitchFamily="18" charset="0"/>
              </a:rPr>
              <a:t>. A view is a </a:t>
            </a:r>
            <a:r>
              <a:rPr lang="en-US" sz="3200" dirty="0" smtClean="0">
                <a:latin typeface="Times New Roman" panose="02020603050405020304" pitchFamily="18" charset="0"/>
                <a:cs typeface="Times New Roman" panose="02020603050405020304" pitchFamily="18" charset="0"/>
              </a:rPr>
              <a:t>component that </a:t>
            </a:r>
            <a:r>
              <a:rPr lang="en-US" sz="3200" dirty="0">
                <a:latin typeface="Times New Roman" panose="02020603050405020304" pitchFamily="18" charset="0"/>
                <a:cs typeface="Times New Roman" panose="02020603050405020304" pitchFamily="18" charset="0"/>
              </a:rPr>
              <a:t>deals with an HTML. </a:t>
            </a:r>
            <a:endParaRPr lang="en-US" sz="3200" dirty="0" smtClean="0">
              <a:latin typeface="Times New Roman" panose="02020603050405020304" pitchFamily="18" charset="0"/>
              <a:cs typeface="Times New Roman" panose="02020603050405020304" pitchFamily="18" charset="0"/>
            </a:endParaRPr>
          </a:p>
          <a:p>
            <a:pPr algn="just"/>
            <a:r>
              <a:rPr lang="en-US" sz="3200" dirty="0" smtClean="0">
                <a:latin typeface="Times New Roman" panose="02020603050405020304" pitchFamily="18" charset="0"/>
                <a:cs typeface="Times New Roman" panose="02020603050405020304" pitchFamily="18" charset="0"/>
              </a:rPr>
              <a:t>Everything </a:t>
            </a:r>
            <a:r>
              <a:rPr lang="en-US" sz="3200" dirty="0">
                <a:latin typeface="Times New Roman" panose="02020603050405020304" pitchFamily="18" charset="0"/>
                <a:cs typeface="Times New Roman" panose="02020603050405020304" pitchFamily="18" charset="0"/>
              </a:rPr>
              <a:t>that we can see on the application in the browser is the view or the representation</a:t>
            </a:r>
            <a:r>
              <a:rPr lang="en-US" sz="3200" dirty="0" smtClean="0">
                <a:latin typeface="Times New Roman" panose="02020603050405020304" pitchFamily="18" charset="0"/>
                <a:cs typeface="Times New Roman" panose="02020603050405020304" pitchFamily="18" charset="0"/>
              </a:rPr>
              <a:t>. </a:t>
            </a:r>
          </a:p>
          <a:p>
            <a:pPr algn="just"/>
            <a:r>
              <a:rPr lang="en-US" sz="3200" dirty="0" smtClean="0">
                <a:latin typeface="Times New Roman" panose="02020603050405020304" pitchFamily="18" charset="0"/>
                <a:cs typeface="Times New Roman" panose="02020603050405020304" pitchFamily="18" charset="0"/>
              </a:rPr>
              <a:t>Examples </a:t>
            </a:r>
            <a:r>
              <a:rPr lang="en-US" sz="3200" dirty="0">
                <a:latin typeface="Times New Roman" panose="02020603050405020304" pitchFamily="18" charset="0"/>
                <a:cs typeface="Times New Roman" panose="02020603050405020304" pitchFamily="18" charset="0"/>
              </a:rPr>
              <a:t>include displaying a </a:t>
            </a:r>
            <a:r>
              <a:rPr lang="en-US" sz="3200" dirty="0" smtClean="0">
                <a:latin typeface="Times New Roman" panose="02020603050405020304" pitchFamily="18" charset="0"/>
                <a:cs typeface="Times New Roman" panose="02020603050405020304" pitchFamily="18" charset="0"/>
              </a:rPr>
              <a:t>window or </a:t>
            </a:r>
            <a:r>
              <a:rPr lang="en-US" sz="3200" dirty="0">
                <a:latin typeface="Times New Roman" panose="02020603050405020304" pitchFamily="18" charset="0"/>
                <a:cs typeface="Times New Roman" panose="02020603050405020304" pitchFamily="18" charset="0"/>
              </a:rPr>
              <a:t>buttons or text within a window. It includes anything that the user can see.</a:t>
            </a:r>
          </a:p>
          <a:p>
            <a:pPr algn="just"/>
            <a:endParaRPr lang="en-US" sz="3200"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2731883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What is Controller? </a:t>
            </a:r>
            <a:endParaRPr lang="en-US" dirty="0"/>
          </a:p>
        </p:txBody>
      </p:sp>
      <p:sp>
        <p:nvSpPr>
          <p:cNvPr id="3" name="Content Placeholder 2"/>
          <p:cNvSpPr>
            <a:spLocks noGrp="1"/>
          </p:cNvSpPr>
          <p:nvPr>
            <p:ph idx="1"/>
          </p:nvPr>
        </p:nvSpPr>
        <p:spPr>
          <a:xfrm>
            <a:off x="276045" y="1773935"/>
            <a:ext cx="11680614" cy="4403027"/>
          </a:xfrm>
        </p:spPr>
        <p:txBody>
          <a:bodyPr>
            <a:normAutofit/>
          </a:bodyPr>
          <a:lstStyle/>
          <a:p>
            <a:pPr algn="just"/>
            <a:r>
              <a:rPr lang="en-US" sz="3200" b="1" dirty="0">
                <a:latin typeface="Times New Roman" panose="02020603050405020304" pitchFamily="18" charset="0"/>
                <a:cs typeface="Times New Roman" panose="02020603050405020304" pitchFamily="18" charset="0"/>
              </a:rPr>
              <a:t>C:</a:t>
            </a:r>
            <a:r>
              <a:rPr lang="en-US" sz="3200" dirty="0">
                <a:latin typeface="Times New Roman" panose="02020603050405020304" pitchFamily="18" charset="0"/>
                <a:cs typeface="Times New Roman" panose="02020603050405020304" pitchFamily="18" charset="0"/>
              </a:rPr>
              <a:t> 'C' stands for </a:t>
            </a:r>
            <a:r>
              <a:rPr lang="en-US" sz="3200" b="1" dirty="0">
                <a:latin typeface="Times New Roman" panose="02020603050405020304" pitchFamily="18" charset="0"/>
                <a:cs typeface="Times New Roman" panose="02020603050405020304" pitchFamily="18" charset="0"/>
              </a:rPr>
              <a:t>Controller</a:t>
            </a:r>
            <a:r>
              <a:rPr lang="en-US" sz="3200" dirty="0">
                <a:latin typeface="Times New Roman" panose="02020603050405020304" pitchFamily="18" charset="0"/>
                <a:cs typeface="Times New Roman" panose="02020603050405020304" pitchFamily="18" charset="0"/>
              </a:rPr>
              <a:t>. A controller is the middle-man that deals with both model and view. </a:t>
            </a:r>
            <a:endParaRPr lang="en-US" sz="3200" dirty="0" smtClean="0">
              <a:latin typeface="Times New Roman" panose="02020603050405020304" pitchFamily="18" charset="0"/>
              <a:cs typeface="Times New Roman" panose="02020603050405020304" pitchFamily="18" charset="0"/>
            </a:endParaRPr>
          </a:p>
          <a:p>
            <a:pPr algn="just"/>
            <a:r>
              <a:rPr lang="en-US" sz="3200" dirty="0" smtClean="0">
                <a:latin typeface="Times New Roman" panose="02020603050405020304" pitchFamily="18" charset="0"/>
                <a:cs typeface="Times New Roman" panose="02020603050405020304" pitchFamily="18" charset="0"/>
              </a:rPr>
              <a:t>A </a:t>
            </a:r>
            <a:r>
              <a:rPr lang="en-US" sz="3200" dirty="0">
                <a:latin typeface="Times New Roman" panose="02020603050405020304" pitchFamily="18" charset="0"/>
                <a:cs typeface="Times New Roman" panose="02020603050405020304" pitchFamily="18" charset="0"/>
              </a:rPr>
              <a:t>controller is the class that retrieves the data from the model and sends the data to the view class</a:t>
            </a:r>
            <a:r>
              <a:rPr lang="en-US" sz="3200" dirty="0" smtClean="0">
                <a:latin typeface="Times New Roman" panose="02020603050405020304" pitchFamily="18" charset="0"/>
                <a:cs typeface="Times New Roman" panose="02020603050405020304" pitchFamily="18" charset="0"/>
              </a:rPr>
              <a:t>.</a:t>
            </a:r>
          </a:p>
          <a:p>
            <a:pPr algn="just"/>
            <a:endParaRPr lang="en-US" sz="3200" dirty="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2939040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Why Laravel?</a:t>
            </a:r>
            <a:endParaRPr lang="en-US" dirty="0"/>
          </a:p>
        </p:txBody>
      </p:sp>
      <p:sp>
        <p:nvSpPr>
          <p:cNvPr id="3" name="Content Placeholder 2"/>
          <p:cNvSpPr>
            <a:spLocks noGrp="1"/>
          </p:cNvSpPr>
          <p:nvPr>
            <p:ph idx="1"/>
          </p:nvPr>
        </p:nvSpPr>
        <p:spPr>
          <a:xfrm>
            <a:off x="276045" y="1475117"/>
            <a:ext cx="11680614" cy="4701846"/>
          </a:xfrm>
        </p:spPr>
        <p:txBody>
          <a:bodyPr/>
          <a:lstStyle/>
          <a:p>
            <a:endParaRPr lang="en-US" dirty="0"/>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2050" name="Picture 2" descr="10 Reasons Why Laravel PHP Framework Is Best For Web Developmen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6044" y="1435311"/>
            <a:ext cx="11680615" cy="478468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39496" y="3154680"/>
            <a:ext cx="694944" cy="603504"/>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600" dirty="0" smtClean="0"/>
              <a:t>8</a:t>
            </a:r>
            <a:endParaRPr lang="en-US" dirty="0"/>
          </a:p>
        </p:txBody>
      </p:sp>
      <p:sp>
        <p:nvSpPr>
          <p:cNvPr id="9" name="Rectangle 8"/>
          <p:cNvSpPr/>
          <p:nvPr/>
        </p:nvSpPr>
        <p:spPr>
          <a:xfrm>
            <a:off x="9949657" y="5564315"/>
            <a:ext cx="1979569" cy="603504"/>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035941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
        <p:nvSpPr>
          <p:cNvPr id="7" name="Title 1"/>
          <p:cNvSpPr txBox="1">
            <a:spLocks/>
          </p:cNvSpPr>
          <p:nvPr/>
        </p:nvSpPr>
        <p:spPr>
          <a:xfrm>
            <a:off x="1664208" y="3405703"/>
            <a:ext cx="9509759" cy="10412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smtClean="0">
                <a:solidFill>
                  <a:schemeClr val="accent4">
                    <a:lumMod val="75000"/>
                  </a:schemeClr>
                </a:solidFill>
                <a:latin typeface="Times New Roman" panose="02020603050405020304" pitchFamily="18" charset="0"/>
                <a:cs typeface="Times New Roman" panose="02020603050405020304" pitchFamily="18" charset="0"/>
              </a:rPr>
              <a:t>08 </a:t>
            </a:r>
            <a:r>
              <a:rPr lang="en-US" sz="4800" b="1" dirty="0">
                <a:solidFill>
                  <a:schemeClr val="accent4">
                    <a:lumMod val="75000"/>
                  </a:schemeClr>
                </a:solidFill>
                <a:latin typeface="Times New Roman" panose="02020603050405020304" pitchFamily="18" charset="0"/>
                <a:cs typeface="Times New Roman" panose="02020603050405020304" pitchFamily="18" charset="0"/>
              </a:rPr>
              <a:t>Reasons Why Use Laravel PHP Framework?</a:t>
            </a:r>
          </a:p>
          <a:p>
            <a:pPr algn="ctr"/>
            <a:endParaRPr lang="en-US" sz="4800" dirty="0"/>
          </a:p>
        </p:txBody>
      </p:sp>
    </p:spTree>
    <p:extLst>
      <p:ext uri="{BB962C8B-B14F-4D97-AF65-F5344CB8AC3E}">
        <p14:creationId xmlns:p14="http://schemas.microsoft.com/office/powerpoint/2010/main" val="1313568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fontScale="90000"/>
          </a:bodyPr>
          <a:lstStyle/>
          <a:p>
            <a:r>
              <a:rPr lang="en-US" b="1" dirty="0">
                <a:solidFill>
                  <a:schemeClr val="accent4">
                    <a:lumMod val="75000"/>
                  </a:schemeClr>
                </a:solidFill>
                <a:latin typeface="Times New Roman" panose="02020603050405020304" pitchFamily="18" charset="0"/>
                <a:cs typeface="Times New Roman" panose="02020603050405020304" pitchFamily="18" charset="0"/>
              </a:rPr>
              <a:t>1. Object-Oriented Libraries</a:t>
            </a:r>
          </a:p>
        </p:txBody>
      </p:sp>
      <p:sp>
        <p:nvSpPr>
          <p:cNvPr id="3" name="Content Placeholder 2"/>
          <p:cNvSpPr>
            <a:spLocks noGrp="1"/>
          </p:cNvSpPr>
          <p:nvPr>
            <p:ph idx="1"/>
          </p:nvPr>
        </p:nvSpPr>
        <p:spPr>
          <a:xfrm>
            <a:off x="276045" y="1947671"/>
            <a:ext cx="11680614" cy="4229291"/>
          </a:xfrm>
        </p:spPr>
        <p:txBody>
          <a:bodyPr>
            <a:noAutofit/>
          </a:bodyPr>
          <a:lstStyle/>
          <a:p>
            <a:pPr algn="just"/>
            <a:r>
              <a:rPr lang="en-US" sz="3200" dirty="0">
                <a:latin typeface="Times New Roman" panose="02020603050405020304" pitchFamily="18" charset="0"/>
                <a:cs typeface="Times New Roman" panose="02020603050405020304" pitchFamily="18" charset="0"/>
              </a:rPr>
              <a:t>One of the topmost reasons which make Laravel as one of the best PHP frameworks is that it has object-oriented libraries and various other pre-installed ones, which are not seen in any of the popular PHP frameworks</a:t>
            </a:r>
            <a:r>
              <a:rPr lang="en-US" sz="3200" dirty="0" smtClean="0">
                <a:latin typeface="Times New Roman" panose="02020603050405020304" pitchFamily="18" charset="0"/>
                <a:cs typeface="Times New Roman" panose="02020603050405020304" pitchFamily="18" charset="0"/>
              </a:rPr>
              <a:t>.</a:t>
            </a:r>
          </a:p>
          <a:p>
            <a:pPr algn="just"/>
            <a:r>
              <a:rPr lang="en-US" sz="3200" dirty="0" smtClean="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Here, one of the pre-installed libraries is the ‘authentication library’. Though it is easy to device</a:t>
            </a:r>
            <a:r>
              <a:rPr lang="en-US" sz="3200" dirty="0" smtClean="0">
                <a:latin typeface="Times New Roman" panose="02020603050405020304" pitchFamily="18" charset="0"/>
                <a:cs typeface="Times New Roman" panose="02020603050405020304" pitchFamily="18" charset="0"/>
              </a:rPr>
              <a:t>,.</a:t>
            </a:r>
          </a:p>
          <a:p>
            <a:pPr algn="just"/>
            <a:r>
              <a:rPr lang="en-US" sz="3200" dirty="0" smtClean="0">
                <a:latin typeface="Times New Roman" panose="02020603050405020304" pitchFamily="18" charset="0"/>
                <a:cs typeface="Times New Roman" panose="02020603050405020304" pitchFamily="18" charset="0"/>
              </a:rPr>
              <a:t>it </a:t>
            </a:r>
            <a:r>
              <a:rPr lang="en-US" sz="3200" dirty="0">
                <a:latin typeface="Times New Roman" panose="02020603050405020304" pitchFamily="18" charset="0"/>
                <a:cs typeface="Times New Roman" panose="02020603050405020304" pitchFamily="18" charset="0"/>
              </a:rPr>
              <a:t>has many progressive features, such as </a:t>
            </a:r>
            <a:r>
              <a:rPr lang="en-US" sz="3200" dirty="0" err="1">
                <a:latin typeface="Times New Roman" panose="02020603050405020304" pitchFamily="18" charset="0"/>
                <a:cs typeface="Times New Roman" panose="02020603050405020304" pitchFamily="18" charset="0"/>
              </a:rPr>
              <a:t>Bcrypt</a:t>
            </a:r>
            <a:r>
              <a:rPr lang="en-US" sz="3200" dirty="0">
                <a:latin typeface="Times New Roman" panose="02020603050405020304" pitchFamily="18" charset="0"/>
                <a:cs typeface="Times New Roman" panose="02020603050405020304" pitchFamily="18" charset="0"/>
              </a:rPr>
              <a:t> hashing, checking active users, </a:t>
            </a:r>
            <a:r>
              <a:rPr lang="en-US" sz="3200" b="1" dirty="0">
                <a:latin typeface="Times New Roman" panose="02020603050405020304" pitchFamily="18" charset="0"/>
                <a:cs typeface="Times New Roman" panose="02020603050405020304" pitchFamily="18" charset="0"/>
              </a:rPr>
              <a:t>Cross-site Request Forgery (CSRF)</a:t>
            </a:r>
            <a:r>
              <a:rPr lang="en-US" sz="3200" dirty="0">
                <a:latin typeface="Times New Roman" panose="02020603050405020304" pitchFamily="18" charset="0"/>
                <a:cs typeface="Times New Roman" panose="02020603050405020304" pitchFamily="18" charset="0"/>
              </a:rPr>
              <a:t> protection, and encryption, and password reset.</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2648839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r>
              <a:rPr lang="en-US" sz="4000" b="1" dirty="0">
                <a:solidFill>
                  <a:schemeClr val="accent4">
                    <a:lumMod val="75000"/>
                  </a:schemeClr>
                </a:solidFill>
                <a:latin typeface="Times New Roman" panose="02020603050405020304" pitchFamily="18" charset="0"/>
                <a:cs typeface="Times New Roman" panose="02020603050405020304" pitchFamily="18" charset="0"/>
              </a:rPr>
              <a:t>2. Authorization Technique</a:t>
            </a:r>
          </a:p>
        </p:txBody>
      </p:sp>
      <p:sp>
        <p:nvSpPr>
          <p:cNvPr id="3" name="Content Placeholder 2"/>
          <p:cNvSpPr>
            <a:spLocks noGrp="1"/>
          </p:cNvSpPr>
          <p:nvPr>
            <p:ph idx="1"/>
          </p:nvPr>
        </p:nvSpPr>
        <p:spPr>
          <a:xfrm>
            <a:off x="276045" y="1819655"/>
            <a:ext cx="11680614" cy="4357307"/>
          </a:xfrm>
        </p:spPr>
        <p:txBody>
          <a:bodyPr>
            <a:normAutofit/>
          </a:bodyPr>
          <a:lstStyle/>
          <a:p>
            <a:pPr algn="just"/>
            <a:r>
              <a:rPr lang="en-US" sz="3200" dirty="0">
                <a:latin typeface="Times New Roman" panose="02020603050405020304" pitchFamily="18" charset="0"/>
                <a:cs typeface="Times New Roman" panose="02020603050405020304" pitchFamily="18" charset="0"/>
              </a:rPr>
              <a:t>Laravel makes the execution of authentication practices very easy. </a:t>
            </a:r>
            <a:endParaRPr lang="en-US" sz="3200" dirty="0" smtClean="0">
              <a:latin typeface="Times New Roman" panose="02020603050405020304" pitchFamily="18" charset="0"/>
              <a:cs typeface="Times New Roman" panose="02020603050405020304" pitchFamily="18" charset="0"/>
            </a:endParaRPr>
          </a:p>
          <a:p>
            <a:pPr algn="just"/>
            <a:r>
              <a:rPr lang="en-US" sz="3200" dirty="0" smtClean="0">
                <a:latin typeface="Times New Roman" panose="02020603050405020304" pitchFamily="18" charset="0"/>
                <a:cs typeface="Times New Roman" panose="02020603050405020304" pitchFamily="18" charset="0"/>
              </a:rPr>
              <a:t>Nearly </a:t>
            </a:r>
            <a:r>
              <a:rPr lang="en-US" sz="3200" dirty="0">
                <a:latin typeface="Times New Roman" panose="02020603050405020304" pitchFamily="18" charset="0"/>
                <a:cs typeface="Times New Roman" panose="02020603050405020304" pitchFamily="18" charset="0"/>
              </a:rPr>
              <a:t>everything is configured particularly. Laravel also delivers a simple method to establish authorization reasoning and control access to the resources.</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2235378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r>
              <a:rPr lang="en-US" sz="4000" b="1" dirty="0">
                <a:solidFill>
                  <a:schemeClr val="accent4">
                    <a:lumMod val="75000"/>
                  </a:schemeClr>
                </a:solidFill>
                <a:latin typeface="Times New Roman" panose="02020603050405020304" pitchFamily="18" charset="0"/>
                <a:cs typeface="Times New Roman" panose="02020603050405020304" pitchFamily="18" charset="0"/>
              </a:rPr>
              <a:t>3. MVC Support</a:t>
            </a:r>
          </a:p>
        </p:txBody>
      </p:sp>
      <p:sp>
        <p:nvSpPr>
          <p:cNvPr id="3" name="Content Placeholder 2"/>
          <p:cNvSpPr>
            <a:spLocks noGrp="1"/>
          </p:cNvSpPr>
          <p:nvPr>
            <p:ph idx="1"/>
          </p:nvPr>
        </p:nvSpPr>
        <p:spPr>
          <a:xfrm>
            <a:off x="276045" y="1737359"/>
            <a:ext cx="11680614" cy="4439603"/>
          </a:xfrm>
        </p:spPr>
        <p:txBody>
          <a:bodyPr/>
          <a:lstStyle/>
          <a:p>
            <a:pPr algn="just"/>
            <a:r>
              <a:rPr lang="en-US" dirty="0" smtClean="0">
                <a:latin typeface="Times New Roman" panose="02020603050405020304" pitchFamily="18" charset="0"/>
                <a:cs typeface="Times New Roman" panose="02020603050405020304" pitchFamily="18" charset="0"/>
              </a:rPr>
              <a:t>Laravel Framework Follow the MVC Model.</a:t>
            </a:r>
          </a:p>
          <a:p>
            <a:pPr algn="just"/>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3074" name="Picture 2" descr="MVC architectur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47088" y="2258568"/>
            <a:ext cx="9015983" cy="410413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9336024" y="5824728"/>
            <a:ext cx="1435608" cy="438912"/>
          </a:xfrm>
          <a:prstGeom prst="rect">
            <a:avLst/>
          </a:prstGeom>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487893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074"/>
                                        </p:tgtEl>
                                        <p:attrNameLst>
                                          <p:attrName>style.visibility</p:attrName>
                                        </p:attrNameLst>
                                      </p:cBhvr>
                                      <p:to>
                                        <p:strVal val="visible"/>
                                      </p:to>
                                    </p:set>
                                    <p:animEffect transition="in" filter="fade">
                                      <p:cBhvr>
                                        <p:cTn id="21" dur="1000"/>
                                        <p:tgtEl>
                                          <p:spTgt spid="3074"/>
                                        </p:tgtEl>
                                      </p:cBhvr>
                                    </p:animEffect>
                                    <p:anim calcmode="lin" valueType="num">
                                      <p:cBhvr>
                                        <p:cTn id="22" dur="1000" fill="hold"/>
                                        <p:tgtEl>
                                          <p:spTgt spid="3074"/>
                                        </p:tgtEl>
                                        <p:attrNameLst>
                                          <p:attrName>ppt_x</p:attrName>
                                        </p:attrNameLst>
                                      </p:cBhvr>
                                      <p:tavLst>
                                        <p:tav tm="0">
                                          <p:val>
                                            <p:strVal val="#ppt_x"/>
                                          </p:val>
                                        </p:tav>
                                        <p:tav tm="100000">
                                          <p:val>
                                            <p:strVal val="#ppt_x"/>
                                          </p:val>
                                        </p:tav>
                                      </p:tavLst>
                                    </p:anim>
                                    <p:anim calcmode="lin" valueType="num">
                                      <p:cBhvr>
                                        <p:cTn id="23" dur="1000" fill="hold"/>
                                        <p:tgtEl>
                                          <p:spTgt spid="30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r>
              <a:rPr lang="en-US" sz="4000" b="1" dirty="0">
                <a:solidFill>
                  <a:schemeClr val="accent4">
                    <a:lumMod val="75000"/>
                  </a:schemeClr>
                </a:solidFill>
                <a:latin typeface="Times New Roman" panose="02020603050405020304" pitchFamily="18" charset="0"/>
                <a:cs typeface="Times New Roman" panose="02020603050405020304" pitchFamily="18" charset="0"/>
              </a:rPr>
              <a:t>4. Artisan</a:t>
            </a:r>
          </a:p>
        </p:txBody>
      </p:sp>
      <p:sp>
        <p:nvSpPr>
          <p:cNvPr id="3" name="Content Placeholder 2"/>
          <p:cNvSpPr>
            <a:spLocks noGrp="1"/>
          </p:cNvSpPr>
          <p:nvPr>
            <p:ph idx="1"/>
          </p:nvPr>
        </p:nvSpPr>
        <p:spPr>
          <a:xfrm>
            <a:off x="276045" y="1755647"/>
            <a:ext cx="11680614" cy="4421315"/>
          </a:xfrm>
        </p:spPr>
        <p:txBody>
          <a:bodyPr>
            <a:normAutofit/>
          </a:bodyPr>
          <a:lstStyle/>
          <a:p>
            <a:pPr algn="just"/>
            <a:r>
              <a:rPr lang="en-US" sz="3200" dirty="0" err="1" smtClean="0">
                <a:latin typeface="Times New Roman" panose="02020603050405020304" pitchFamily="18" charset="0"/>
                <a:cs typeface="Times New Roman" panose="02020603050405020304" pitchFamily="18" charset="0"/>
              </a:rPr>
              <a:t>Laravel</a:t>
            </a:r>
            <a:r>
              <a:rPr lang="en-US" sz="3200" dirty="0" smtClean="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framework provides a built-in tool for a command-line known as Artisan that performs the repetitive programming tasks that do not allow the </a:t>
            </a:r>
            <a:r>
              <a:rPr lang="en-US" sz="3200" dirty="0" err="1">
                <a:latin typeface="Times New Roman" panose="02020603050405020304" pitchFamily="18" charset="0"/>
                <a:cs typeface="Times New Roman" panose="02020603050405020304" pitchFamily="18" charset="0"/>
              </a:rPr>
              <a:t>php</a:t>
            </a:r>
            <a:r>
              <a:rPr lang="en-US" sz="3200" dirty="0">
                <a:latin typeface="Times New Roman" panose="02020603050405020304" pitchFamily="18" charset="0"/>
                <a:cs typeface="Times New Roman" panose="02020603050405020304" pitchFamily="18" charset="0"/>
              </a:rPr>
              <a:t> developers to perform manually. </a:t>
            </a:r>
            <a:endParaRPr lang="en-US" sz="3200" dirty="0" smtClean="0">
              <a:latin typeface="Times New Roman" panose="02020603050405020304" pitchFamily="18" charset="0"/>
              <a:cs typeface="Times New Roman" panose="02020603050405020304" pitchFamily="18" charset="0"/>
            </a:endParaRPr>
          </a:p>
          <a:p>
            <a:pPr algn="just"/>
            <a:r>
              <a:rPr lang="en-US" sz="3200" dirty="0" smtClean="0">
                <a:latin typeface="Times New Roman" panose="02020603050405020304" pitchFamily="18" charset="0"/>
                <a:cs typeface="Times New Roman" panose="02020603050405020304" pitchFamily="18" charset="0"/>
              </a:rPr>
              <a:t>These </a:t>
            </a:r>
            <a:r>
              <a:rPr lang="en-US" sz="3200" dirty="0">
                <a:latin typeface="Times New Roman" panose="02020603050405020304" pitchFamily="18" charset="0"/>
                <a:cs typeface="Times New Roman" panose="02020603050405020304" pitchFamily="18" charset="0"/>
              </a:rPr>
              <a:t>artisans can also be used to create the skeleton code, database structure, and their migration, so it makes it easy to manage the database of the system. </a:t>
            </a:r>
            <a:r>
              <a:rPr lang="en-US" sz="3200" dirty="0">
                <a:latin typeface="Times New Roman" panose="02020603050405020304" pitchFamily="18" charset="0"/>
                <a:cs typeface="Times New Roman" panose="02020603050405020304" pitchFamily="18" charset="0"/>
              </a:rPr>
              <a:t>It also generates the MVC files through the command line.</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2557697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r>
              <a:rPr lang="en-US" sz="4000" b="1" dirty="0">
                <a:solidFill>
                  <a:schemeClr val="accent4">
                    <a:lumMod val="75000"/>
                  </a:schemeClr>
                </a:solidFill>
                <a:latin typeface="Times New Roman" panose="02020603050405020304" pitchFamily="18" charset="0"/>
                <a:cs typeface="Times New Roman" panose="02020603050405020304" pitchFamily="18" charset="0"/>
              </a:rPr>
              <a:t>5. Database Migration</a:t>
            </a:r>
          </a:p>
        </p:txBody>
      </p:sp>
      <p:sp>
        <p:nvSpPr>
          <p:cNvPr id="3" name="Content Placeholder 2"/>
          <p:cNvSpPr>
            <a:spLocks noGrp="1"/>
          </p:cNvSpPr>
          <p:nvPr>
            <p:ph idx="1"/>
          </p:nvPr>
        </p:nvSpPr>
        <p:spPr>
          <a:xfrm>
            <a:off x="276045" y="1883663"/>
            <a:ext cx="11680614" cy="4293299"/>
          </a:xfrm>
        </p:spPr>
        <p:txBody>
          <a:bodyPr/>
          <a:lstStyle/>
          <a:p>
            <a:pPr algn="just"/>
            <a:r>
              <a:rPr lang="en-US" dirty="0">
                <a:latin typeface="Times New Roman" panose="02020603050405020304" pitchFamily="18" charset="0"/>
                <a:cs typeface="Times New Roman" panose="02020603050405020304" pitchFamily="18" charset="0"/>
              </a:rPr>
              <a:t>For developers, one aspect to worry about is to retain the database in sync between development machines. With Laravel database migrations, it is enormously easy. After long working hours, you may have done several alterations to the database.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our opinion, MySQL Workbench is not an apt technique to sync databases between the development machines. Provided that you keep all the database work in seeds and migrations, you can simply migrate the variations into other development devices you possess. </a:t>
            </a: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is another motive that states Laravel to be the best PHP framework.</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2363997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r>
              <a:rPr lang="en-US" sz="4000" b="1" dirty="0">
                <a:solidFill>
                  <a:schemeClr val="accent4">
                    <a:lumMod val="75000"/>
                  </a:schemeClr>
                </a:solidFill>
                <a:latin typeface="Times New Roman" panose="02020603050405020304" pitchFamily="18" charset="0"/>
                <a:cs typeface="Times New Roman" panose="02020603050405020304" pitchFamily="18" charset="0"/>
              </a:rPr>
              <a:t>6. Security</a:t>
            </a:r>
          </a:p>
        </p:txBody>
      </p:sp>
      <p:sp>
        <p:nvSpPr>
          <p:cNvPr id="3" name="Content Placeholder 2"/>
          <p:cNvSpPr>
            <a:spLocks noGrp="1"/>
          </p:cNvSpPr>
          <p:nvPr>
            <p:ph idx="1"/>
          </p:nvPr>
        </p:nvSpPr>
        <p:spPr>
          <a:xfrm>
            <a:off x="276045" y="1783079"/>
            <a:ext cx="11680614" cy="4393883"/>
          </a:xfrm>
        </p:spPr>
        <p:txBody>
          <a:bodyPr>
            <a:normAutofit/>
          </a:bodyPr>
          <a:lstStyle/>
          <a:p>
            <a:pPr algn="just"/>
            <a:r>
              <a:rPr lang="en-US" sz="3200" dirty="0">
                <a:latin typeface="Times New Roman" panose="02020603050405020304" pitchFamily="18" charset="0"/>
                <a:cs typeface="Times New Roman" panose="02020603050405020304" pitchFamily="18" charset="0"/>
              </a:rPr>
              <a:t>While building an application every developer has to utilize some or the other ways to make the application safe. </a:t>
            </a:r>
            <a:endParaRPr lang="en-US" sz="3200" dirty="0" smtClean="0">
              <a:latin typeface="Times New Roman" panose="02020603050405020304" pitchFamily="18" charset="0"/>
              <a:cs typeface="Times New Roman" panose="02020603050405020304" pitchFamily="18" charset="0"/>
            </a:endParaRPr>
          </a:p>
          <a:p>
            <a:pPr algn="just"/>
            <a:r>
              <a:rPr lang="en-US" sz="3200" dirty="0" smtClean="0">
                <a:latin typeface="Times New Roman" panose="02020603050405020304" pitchFamily="18" charset="0"/>
                <a:cs typeface="Times New Roman" panose="02020603050405020304" pitchFamily="18" charset="0"/>
              </a:rPr>
              <a:t>Laravel </a:t>
            </a:r>
            <a:r>
              <a:rPr lang="en-US" sz="3200" dirty="0">
                <a:latin typeface="Times New Roman" panose="02020603050405020304" pitchFamily="18" charset="0"/>
                <a:cs typeface="Times New Roman" panose="02020603050405020304" pitchFamily="18" charset="0"/>
              </a:rPr>
              <a:t>ensures security inside its framework. It employs a hashed and salted password, which states that the password will not be saved as the plain text in the database. </a:t>
            </a:r>
            <a:endParaRPr lang="en-US" sz="3200" dirty="0" smtClean="0">
              <a:latin typeface="Times New Roman" panose="02020603050405020304" pitchFamily="18" charset="0"/>
              <a:cs typeface="Times New Roman" panose="02020603050405020304" pitchFamily="18" charset="0"/>
            </a:endParaRPr>
          </a:p>
          <a:p>
            <a:pPr algn="just"/>
            <a:r>
              <a:rPr lang="en-US" sz="3200" dirty="0" smtClean="0">
                <a:latin typeface="Times New Roman" panose="02020603050405020304" pitchFamily="18" charset="0"/>
                <a:cs typeface="Times New Roman" panose="02020603050405020304" pitchFamily="18" charset="0"/>
              </a:rPr>
              <a:t>It </a:t>
            </a:r>
            <a:r>
              <a:rPr lang="en-US" sz="3200" dirty="0">
                <a:latin typeface="Times New Roman" panose="02020603050405020304" pitchFamily="18" charset="0"/>
                <a:cs typeface="Times New Roman" panose="02020603050405020304" pitchFamily="18" charset="0"/>
              </a:rPr>
              <a:t>practices the </a:t>
            </a:r>
            <a:r>
              <a:rPr lang="en-US" sz="3200" dirty="0" err="1">
                <a:latin typeface="Times New Roman" panose="02020603050405020304" pitchFamily="18" charset="0"/>
                <a:cs typeface="Times New Roman" panose="02020603050405020304" pitchFamily="18" charset="0"/>
              </a:rPr>
              <a:t>Bcrypt</a:t>
            </a:r>
            <a:r>
              <a:rPr lang="en-US" sz="3200" dirty="0">
                <a:latin typeface="Times New Roman" panose="02020603050405020304" pitchFamily="18" charset="0"/>
                <a:cs typeface="Times New Roman" panose="02020603050405020304" pitchFamily="18" charset="0"/>
              </a:rPr>
              <a:t> hashing algorithm for producing an encrypted demonstration of the password</a:t>
            </a:r>
            <a:r>
              <a:rPr lang="en-US" sz="3200" dirty="0" smtClean="0">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Laravel exercises ready-made SQL statements which make the injection attacks unbelievable. </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26834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r>
              <a:rPr lang="en-US" sz="4000" b="1" dirty="0">
                <a:solidFill>
                  <a:schemeClr val="accent4">
                    <a:lumMod val="75000"/>
                  </a:schemeClr>
                </a:solidFill>
                <a:latin typeface="Times New Roman" panose="02020603050405020304" pitchFamily="18" charset="0"/>
                <a:cs typeface="Times New Roman" panose="02020603050405020304" pitchFamily="18" charset="0"/>
              </a:rPr>
              <a:t>7. Blade Templating Engine</a:t>
            </a:r>
          </a:p>
        </p:txBody>
      </p:sp>
      <p:sp>
        <p:nvSpPr>
          <p:cNvPr id="3" name="Content Placeholder 2"/>
          <p:cNvSpPr>
            <a:spLocks noGrp="1"/>
          </p:cNvSpPr>
          <p:nvPr>
            <p:ph idx="1"/>
          </p:nvPr>
        </p:nvSpPr>
        <p:spPr>
          <a:xfrm>
            <a:off x="276045" y="1801367"/>
            <a:ext cx="11680614" cy="4375595"/>
          </a:xfrm>
        </p:spPr>
        <p:txBody>
          <a:bodyPr/>
          <a:lstStyle/>
          <a:p>
            <a:pPr algn="just"/>
            <a:r>
              <a:rPr lang="en-US" dirty="0">
                <a:latin typeface="Times New Roman" panose="02020603050405020304" pitchFamily="18" charset="0"/>
                <a:cs typeface="Times New Roman" panose="02020603050405020304" pitchFamily="18" charset="0"/>
              </a:rPr>
              <a:t>The Blade </a:t>
            </a:r>
            <a:r>
              <a:rPr lang="en-US" dirty="0" err="1">
                <a:latin typeface="Times New Roman" panose="02020603050405020304" pitchFamily="18" charset="0"/>
                <a:cs typeface="Times New Roman" panose="02020603050405020304" pitchFamily="18" charset="0"/>
              </a:rPr>
              <a:t>templating</a:t>
            </a:r>
            <a:r>
              <a:rPr lang="en-US" dirty="0">
                <a:latin typeface="Times New Roman" panose="02020603050405020304" pitchFamily="18" charset="0"/>
                <a:cs typeface="Times New Roman" panose="02020603050405020304" pitchFamily="18" charset="0"/>
              </a:rPr>
              <a:t> engine is very instinctive and aids to function with the typical PHP or HTML spaghetti so better, that it is one of the vital features of the Laravel framework.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trait combines one or more templates with a data model to generate resultant views, doing that by emerging the templates into cached PHP code for enhanced performance.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Blade </a:t>
            </a:r>
            <a:r>
              <a:rPr lang="en-US" dirty="0">
                <a:latin typeface="Times New Roman" panose="02020603050405020304" pitchFamily="18" charset="0"/>
                <a:cs typeface="Times New Roman" panose="02020603050405020304" pitchFamily="18" charset="0"/>
              </a:rPr>
              <a:t>also offers a collection of its control constructions such as loops and conditional statements, which are mapped inside to PHP counterparts.</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1330404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r>
              <a:rPr lang="en-US" sz="4000" b="1" dirty="0">
                <a:solidFill>
                  <a:schemeClr val="accent4">
                    <a:lumMod val="75000"/>
                  </a:schemeClr>
                </a:solidFill>
                <a:latin typeface="Times New Roman" panose="02020603050405020304" pitchFamily="18" charset="0"/>
                <a:cs typeface="Times New Roman" panose="02020603050405020304" pitchFamily="18" charset="0"/>
              </a:rPr>
              <a:t>8. Tutorials (</a:t>
            </a:r>
            <a:r>
              <a:rPr lang="en-US" sz="4000" b="1" dirty="0" err="1">
                <a:solidFill>
                  <a:schemeClr val="accent4">
                    <a:lumMod val="75000"/>
                  </a:schemeClr>
                </a:solidFill>
                <a:latin typeface="Times New Roman" panose="02020603050405020304" pitchFamily="18" charset="0"/>
                <a:cs typeface="Times New Roman" panose="02020603050405020304" pitchFamily="18" charset="0"/>
              </a:rPr>
              <a:t>Laracasts</a:t>
            </a:r>
            <a:r>
              <a:rPr lang="en-US" sz="4000" b="1" dirty="0">
                <a:solidFill>
                  <a:schemeClr val="accent4">
                    <a:lumMod val="75000"/>
                  </a:schemeClr>
                </a:solidFill>
                <a:latin typeface="Times New Roman" panose="02020603050405020304" pitchFamily="18" charset="0"/>
                <a:cs typeface="Times New Roman" panose="02020603050405020304" pitchFamily="18" charset="0"/>
              </a:rPr>
              <a:t>)</a:t>
            </a:r>
          </a:p>
        </p:txBody>
      </p:sp>
      <p:sp>
        <p:nvSpPr>
          <p:cNvPr id="3" name="Content Placeholder 2"/>
          <p:cNvSpPr>
            <a:spLocks noGrp="1"/>
          </p:cNvSpPr>
          <p:nvPr>
            <p:ph idx="1"/>
          </p:nvPr>
        </p:nvSpPr>
        <p:spPr>
          <a:xfrm>
            <a:off x="276045" y="1764791"/>
            <a:ext cx="11680614" cy="4412171"/>
          </a:xfrm>
        </p:spPr>
        <p:txBody>
          <a:bodyPr>
            <a:normAutofit/>
          </a:bodyPr>
          <a:lstStyle/>
          <a:p>
            <a:pPr algn="just"/>
            <a:r>
              <a:rPr lang="en-US" sz="3200" dirty="0">
                <a:latin typeface="Times New Roman" panose="02020603050405020304" pitchFamily="18" charset="0"/>
                <a:cs typeface="Times New Roman" panose="02020603050405020304" pitchFamily="18" charset="0"/>
              </a:rPr>
              <a:t>Your developers or you require to study more in order to convey more. Dissimilar to other frameworks like </a:t>
            </a:r>
            <a:r>
              <a:rPr lang="en-US" sz="3200" dirty="0" err="1">
                <a:latin typeface="Times New Roman" panose="02020603050405020304" pitchFamily="18" charset="0"/>
                <a:cs typeface="Times New Roman" panose="02020603050405020304" pitchFamily="18" charset="0"/>
              </a:rPr>
              <a:t>Yii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Codeigniter</a:t>
            </a:r>
            <a:r>
              <a:rPr lang="en-US" sz="3200" dirty="0">
                <a:latin typeface="Times New Roman" panose="02020603050405020304" pitchFamily="18" charset="0"/>
                <a:cs typeface="Times New Roman" panose="02020603050405020304" pitchFamily="18" charset="0"/>
              </a:rPr>
              <a:t>, and </a:t>
            </a:r>
            <a:r>
              <a:rPr lang="en-US" sz="3200" dirty="0" err="1">
                <a:latin typeface="Times New Roman" panose="02020603050405020304" pitchFamily="18" charset="0"/>
                <a:cs typeface="Times New Roman" panose="02020603050405020304" pitchFamily="18" charset="0"/>
              </a:rPr>
              <a:t>CakePHP</a:t>
            </a:r>
            <a:r>
              <a:rPr lang="en-US" sz="3200" dirty="0">
                <a:latin typeface="Times New Roman" panose="02020603050405020304" pitchFamily="18" charset="0"/>
                <a:cs typeface="Times New Roman" panose="02020603050405020304" pitchFamily="18" charset="0"/>
              </a:rPr>
              <a:t>, Laravel presents </a:t>
            </a:r>
            <a:r>
              <a:rPr lang="en-US" sz="3200" b="1" dirty="0" err="1">
                <a:latin typeface="Times New Roman" panose="02020603050405020304" pitchFamily="18" charset="0"/>
                <a:cs typeface="Times New Roman" panose="02020603050405020304" pitchFamily="18" charset="0"/>
              </a:rPr>
              <a:t>Laracasts</a:t>
            </a:r>
            <a:r>
              <a:rPr lang="en-US" sz="3200" b="1"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which gives a mixture of paid and free video tutorials that depicts how you can use Laravel. </a:t>
            </a:r>
            <a:endParaRPr lang="en-US" sz="3200" dirty="0" smtClean="0">
              <a:latin typeface="Times New Roman" panose="02020603050405020304" pitchFamily="18" charset="0"/>
              <a:cs typeface="Times New Roman" panose="02020603050405020304" pitchFamily="18" charset="0"/>
            </a:endParaRPr>
          </a:p>
          <a:p>
            <a:pPr algn="just"/>
            <a:r>
              <a:rPr lang="en-US" sz="3200" dirty="0" smtClean="0">
                <a:latin typeface="Times New Roman" panose="02020603050405020304" pitchFamily="18" charset="0"/>
                <a:cs typeface="Times New Roman" panose="02020603050405020304" pitchFamily="18" charset="0"/>
              </a:rPr>
              <a:t>These </a:t>
            </a:r>
            <a:r>
              <a:rPr lang="en-US" sz="3200" dirty="0">
                <a:latin typeface="Times New Roman" panose="02020603050405020304" pitchFamily="18" charset="0"/>
                <a:cs typeface="Times New Roman" panose="02020603050405020304" pitchFamily="18" charset="0"/>
              </a:rPr>
              <a:t>videos are made by Jeffery Way, an experienced and expert instructor. He offers concise and clear guidelines. The creation quality is great, and the teachings are well-thought and significant.</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1283084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Laravel Installations</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3308222" y="2503275"/>
            <a:ext cx="2479929" cy="2605723"/>
          </a:xfrm>
          <a:prstGeom prst="rect">
            <a:avLst/>
          </a:prstGeom>
        </p:spPr>
      </p:pic>
      <p:pic>
        <p:nvPicPr>
          <p:cNvPr id="8" name="Picture 7"/>
          <p:cNvPicPr>
            <a:picLocks noChangeAspect="1"/>
          </p:cNvPicPr>
          <p:nvPr/>
        </p:nvPicPr>
        <p:blipFill>
          <a:blip r:embed="rId6"/>
          <a:stretch>
            <a:fillRect/>
          </a:stretch>
        </p:blipFill>
        <p:spPr>
          <a:xfrm>
            <a:off x="6634546" y="2482475"/>
            <a:ext cx="2444687" cy="2626523"/>
          </a:xfrm>
          <a:prstGeom prst="rect">
            <a:avLst/>
          </a:prstGeom>
        </p:spPr>
      </p:pic>
    </p:spTree>
    <p:extLst>
      <p:ext uri="{BB962C8B-B14F-4D97-AF65-F5344CB8AC3E}">
        <p14:creationId xmlns:p14="http://schemas.microsoft.com/office/powerpoint/2010/main" val="2982799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4355" y="259450"/>
            <a:ext cx="6961516" cy="1041223"/>
          </a:xfrm>
        </p:spPr>
        <p:txBody>
          <a:bodyPr>
            <a:normAutofit/>
          </a:bodyPr>
          <a:lstStyle/>
          <a:p>
            <a:pPr algn="ctr"/>
            <a:r>
              <a:rPr lang="en-US" sz="4800" b="1" dirty="0" smtClean="0">
                <a:solidFill>
                  <a:schemeClr val="accent4">
                    <a:lumMod val="75000"/>
                  </a:schemeClr>
                </a:solidFill>
                <a:latin typeface="Times New Roman" panose="02020603050405020304" pitchFamily="18" charset="0"/>
                <a:cs typeface="Times New Roman" panose="02020603050405020304" pitchFamily="18" charset="0"/>
              </a:rPr>
              <a:t>XAMPP Installation </a:t>
            </a:r>
            <a:endParaRPr lang="en-US" sz="4800"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475117"/>
            <a:ext cx="11680614" cy="4701846"/>
          </a:xfrm>
        </p:spPr>
        <p:txBody>
          <a:bodyPr/>
          <a:lstStyle/>
          <a:p>
            <a:r>
              <a:rPr lang="en-US" dirty="0" smtClean="0"/>
              <a:t>Link For Download:</a:t>
            </a:r>
          </a:p>
          <a:p>
            <a:pPr marL="0" indent="0">
              <a:buNone/>
            </a:pPr>
            <a:r>
              <a:rPr lang="en-US" dirty="0" smtClean="0"/>
              <a:t>	</a:t>
            </a:r>
            <a:r>
              <a:rPr lang="en-US" b="1" u="sng" dirty="0">
                <a:solidFill>
                  <a:srgbClr val="00B0F0"/>
                </a:solidFill>
              </a:rPr>
              <a:t>https://www.apachefriends.org/download.html</a:t>
            </a:r>
          </a:p>
        </p:txBody>
      </p:sp>
      <p:pic>
        <p:nvPicPr>
          <p:cNvPr id="1026" name="Picture 2" descr="https://www.ru.edu.af/images/logo/bann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2297052" y="6362700"/>
            <a:ext cx="8391525" cy="495300"/>
          </a:xfrm>
          <a:prstGeom prst="rect">
            <a:avLst/>
          </a:prstGeom>
        </p:spPr>
      </p:pic>
      <p:pic>
        <p:nvPicPr>
          <p:cNvPr id="6" name="Picture 5"/>
          <p:cNvPicPr>
            <a:picLocks noChangeAspect="1"/>
          </p:cNvPicPr>
          <p:nvPr/>
        </p:nvPicPr>
        <p:blipFill>
          <a:blip r:embed="rId5"/>
          <a:stretch>
            <a:fillRect/>
          </a:stretch>
        </p:blipFill>
        <p:spPr>
          <a:xfrm>
            <a:off x="10324562" y="310551"/>
            <a:ext cx="1493628" cy="939023"/>
          </a:xfrm>
          <a:prstGeom prst="rect">
            <a:avLst/>
          </a:prstGeom>
        </p:spPr>
      </p:pic>
      <p:pic>
        <p:nvPicPr>
          <p:cNvPr id="4" name="Picture 3"/>
          <p:cNvPicPr>
            <a:picLocks noChangeAspect="1"/>
          </p:cNvPicPr>
          <p:nvPr/>
        </p:nvPicPr>
        <p:blipFill>
          <a:blip r:embed="rId6"/>
          <a:stretch>
            <a:fillRect/>
          </a:stretch>
        </p:blipFill>
        <p:spPr>
          <a:xfrm>
            <a:off x="2245528" y="2428303"/>
            <a:ext cx="8319169" cy="3748660"/>
          </a:xfrm>
          <a:prstGeom prst="rect">
            <a:avLst/>
          </a:prstGeom>
        </p:spPr>
      </p:pic>
      <p:sp>
        <p:nvSpPr>
          <p:cNvPr id="7" name="Rectangle 6"/>
          <p:cNvSpPr/>
          <p:nvPr/>
        </p:nvSpPr>
        <p:spPr>
          <a:xfrm>
            <a:off x="7626096" y="5440680"/>
            <a:ext cx="1572768" cy="52120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8226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4355" y="259450"/>
            <a:ext cx="6961516" cy="1041223"/>
          </a:xfrm>
        </p:spPr>
        <p:txBody>
          <a:bodyPr>
            <a:normAutofit/>
          </a:bodyPr>
          <a:lstStyle/>
          <a:p>
            <a:pPr algn="ctr"/>
            <a:r>
              <a:rPr lang="en-US" sz="4800" b="1" dirty="0" smtClean="0">
                <a:solidFill>
                  <a:schemeClr val="accent4">
                    <a:lumMod val="75000"/>
                  </a:schemeClr>
                </a:solidFill>
                <a:latin typeface="Times New Roman" panose="02020603050405020304" pitchFamily="18" charset="0"/>
                <a:cs typeface="Times New Roman" panose="02020603050405020304" pitchFamily="18" charset="0"/>
              </a:rPr>
              <a:t>XAMPP Installation </a:t>
            </a:r>
            <a:endParaRPr lang="en-US" sz="4800"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475117"/>
            <a:ext cx="11680614" cy="4701846"/>
          </a:xfrm>
        </p:spPr>
        <p:txBody>
          <a:bodyPr/>
          <a:lstStyle/>
          <a:p>
            <a:pPr algn="just"/>
            <a:r>
              <a:rPr lang="en-US" dirty="0">
                <a:latin typeface="Times New Roman" panose="02020603050405020304" pitchFamily="18" charset="0"/>
                <a:cs typeface="Times New Roman" panose="02020603050405020304" pitchFamily="18" charset="0"/>
              </a:rPr>
              <a:t>Download the </a:t>
            </a:r>
            <a:r>
              <a:rPr lang="en-US" b="1" dirty="0">
                <a:latin typeface="Times New Roman" panose="02020603050405020304" pitchFamily="18" charset="0"/>
                <a:cs typeface="Times New Roman" panose="02020603050405020304" pitchFamily="18" charset="0"/>
              </a:rPr>
              <a:t>PHP </a:t>
            </a:r>
            <a:r>
              <a:rPr lang="en-US" b="1" dirty="0" smtClean="0">
                <a:latin typeface="Times New Roman" panose="02020603050405020304" pitchFamily="18" charset="0"/>
                <a:cs typeface="Times New Roman" panose="02020603050405020304" pitchFamily="18" charset="0"/>
              </a:rPr>
              <a:t>8.1.2 </a:t>
            </a:r>
            <a:r>
              <a:rPr lang="en-US" b="1" dirty="0">
                <a:latin typeface="Times New Roman" panose="02020603050405020304" pitchFamily="18" charset="0"/>
                <a:cs typeface="Times New Roman" panose="02020603050405020304" pitchFamily="18" charset="0"/>
              </a:rPr>
              <a:t>version</a:t>
            </a:r>
            <a:r>
              <a:rPr lang="en-US" dirty="0">
                <a:latin typeface="Times New Roman" panose="02020603050405020304" pitchFamily="18" charset="0"/>
                <a:cs typeface="Times New Roman" panose="02020603050405020304" pitchFamily="18" charset="0"/>
              </a:rPr>
              <a:t>. To download this version, click on the </a:t>
            </a:r>
            <a:r>
              <a:rPr lang="en-US" b="1" dirty="0">
                <a:latin typeface="Times New Roman" panose="02020603050405020304" pitchFamily="18" charset="0"/>
                <a:cs typeface="Times New Roman" panose="02020603050405020304" pitchFamily="18" charset="0"/>
              </a:rPr>
              <a:t>Download</a:t>
            </a:r>
            <a:r>
              <a:rPr lang="en-US" dirty="0">
                <a:latin typeface="Times New Roman" panose="02020603050405020304" pitchFamily="18" charset="0"/>
                <a:cs typeface="Times New Roman" panose="02020603050405020304" pitchFamily="18" charset="0"/>
              </a:rPr>
              <a:t> button.</a:t>
            </a:r>
          </a:p>
          <a:p>
            <a:pPr algn="just"/>
            <a:r>
              <a:rPr lang="en-US" dirty="0">
                <a:latin typeface="Times New Roman" panose="02020603050405020304" pitchFamily="18" charset="0"/>
                <a:cs typeface="Times New Roman" panose="02020603050405020304" pitchFamily="18" charset="0"/>
              </a:rPr>
              <a:t>Click on the file, i.e.,</a:t>
            </a:r>
            <a:r>
              <a:rPr lang="en-US" u="sng" dirty="0">
                <a:solidFill>
                  <a:srgbClr val="00B0F0"/>
                </a:solidFill>
                <a:latin typeface="Times New Roman" panose="02020603050405020304" pitchFamily="18" charset="0"/>
                <a:cs typeface="Times New Roman" panose="02020603050405020304" pitchFamily="18" charset="0"/>
              </a:rPr>
              <a:t> xampp-windows-x64-8.1.2-0-VS16-installer.exe</a:t>
            </a:r>
            <a:r>
              <a:rPr lang="en-US" dirty="0">
                <a:latin typeface="Times New Roman" panose="02020603050405020304" pitchFamily="18" charset="0"/>
                <a:cs typeface="Times New Roman" panose="02020603050405020304" pitchFamily="18" charset="0"/>
              </a:rPr>
              <a:t> to install the XAMPP.</a:t>
            </a:r>
          </a:p>
          <a:p>
            <a:pPr algn="just"/>
            <a:r>
              <a:rPr lang="en-US" dirty="0">
                <a:latin typeface="Times New Roman" panose="02020603050405020304" pitchFamily="18" charset="0"/>
                <a:cs typeface="Times New Roman" panose="02020603050405020304" pitchFamily="18" charset="0"/>
              </a:rPr>
              <a:t>When you click on the downloaded file, the screen appears shown below:</a:t>
            </a:r>
          </a:p>
          <a:p>
            <a:pPr algn="just"/>
            <a:endParaRPr lang="en-US" b="1" u="sng" dirty="0">
              <a:solidFill>
                <a:srgbClr val="00B0F0"/>
              </a:solidFill>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2297052" y="6362700"/>
            <a:ext cx="8391525" cy="495300"/>
          </a:xfrm>
          <a:prstGeom prst="rect">
            <a:avLst/>
          </a:prstGeom>
        </p:spPr>
      </p:pic>
      <p:pic>
        <p:nvPicPr>
          <p:cNvPr id="6" name="Picture 5"/>
          <p:cNvPicPr>
            <a:picLocks noChangeAspect="1"/>
          </p:cNvPicPr>
          <p:nvPr/>
        </p:nvPicPr>
        <p:blipFill>
          <a:blip r:embed="rId5"/>
          <a:stretch>
            <a:fillRect/>
          </a:stretch>
        </p:blipFill>
        <p:spPr>
          <a:xfrm>
            <a:off x="10324562" y="310551"/>
            <a:ext cx="1493628" cy="939023"/>
          </a:xfrm>
          <a:prstGeom prst="rect">
            <a:avLst/>
          </a:prstGeom>
        </p:spPr>
      </p:pic>
      <p:pic>
        <p:nvPicPr>
          <p:cNvPr id="6146" name="Picture 2" descr="XAMPP Installati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24575" y="3786883"/>
            <a:ext cx="6583553" cy="2564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7121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6146"/>
                                        </p:tgtEl>
                                        <p:attrNameLst>
                                          <p:attrName>style.visibility</p:attrName>
                                        </p:attrNameLst>
                                      </p:cBhvr>
                                      <p:to>
                                        <p:strVal val="visible"/>
                                      </p:to>
                                    </p:set>
                                    <p:animEffect transition="in" filter="fade">
                                      <p:cBhvr>
                                        <p:cTn id="35" dur="1000"/>
                                        <p:tgtEl>
                                          <p:spTgt spid="6146"/>
                                        </p:tgtEl>
                                      </p:cBhvr>
                                    </p:animEffect>
                                    <p:anim calcmode="lin" valueType="num">
                                      <p:cBhvr>
                                        <p:cTn id="36" dur="1000" fill="hold"/>
                                        <p:tgtEl>
                                          <p:spTgt spid="6146"/>
                                        </p:tgtEl>
                                        <p:attrNameLst>
                                          <p:attrName>ppt_x</p:attrName>
                                        </p:attrNameLst>
                                      </p:cBhvr>
                                      <p:tavLst>
                                        <p:tav tm="0">
                                          <p:val>
                                            <p:strVal val="#ppt_x"/>
                                          </p:val>
                                        </p:tav>
                                        <p:tav tm="100000">
                                          <p:val>
                                            <p:strVal val="#ppt_x"/>
                                          </p:val>
                                        </p:tav>
                                      </p:tavLst>
                                    </p:anim>
                                    <p:anim calcmode="lin" valueType="num">
                                      <p:cBhvr>
                                        <p:cTn id="37" dur="1000" fill="hold"/>
                                        <p:tgtEl>
                                          <p:spTgt spid="61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4355" y="259450"/>
            <a:ext cx="6961516" cy="1041223"/>
          </a:xfrm>
        </p:spPr>
        <p:txBody>
          <a:bodyPr>
            <a:normAutofit/>
          </a:bodyPr>
          <a:lstStyle/>
          <a:p>
            <a:pPr algn="ctr"/>
            <a:r>
              <a:rPr lang="en-US" sz="4800" b="1" dirty="0" smtClean="0">
                <a:solidFill>
                  <a:schemeClr val="accent4">
                    <a:lumMod val="75000"/>
                  </a:schemeClr>
                </a:solidFill>
                <a:latin typeface="Times New Roman" panose="02020603050405020304" pitchFamily="18" charset="0"/>
                <a:cs typeface="Times New Roman" panose="02020603050405020304" pitchFamily="18" charset="0"/>
              </a:rPr>
              <a:t>XAMPP Installation </a:t>
            </a:r>
            <a:endParaRPr lang="en-US" sz="4800"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779933"/>
            <a:ext cx="5100627" cy="4397030"/>
          </a:xfrm>
        </p:spPr>
        <p:txBody>
          <a:bodyPr/>
          <a:lstStyle/>
          <a:p>
            <a:pPr algn="just"/>
            <a:r>
              <a:rPr lang="en-US" dirty="0">
                <a:latin typeface="Times New Roman" panose="02020603050405020304" pitchFamily="18" charset="0"/>
                <a:cs typeface="Times New Roman" panose="02020603050405020304" pitchFamily="18" charset="0"/>
              </a:rPr>
              <a:t>Click on the </a:t>
            </a:r>
            <a:r>
              <a:rPr lang="en-US" b="1" dirty="0">
                <a:latin typeface="Times New Roman" panose="02020603050405020304" pitchFamily="18" charset="0"/>
                <a:cs typeface="Times New Roman" panose="02020603050405020304" pitchFamily="18" charset="0"/>
              </a:rPr>
              <a:t>Yes</a:t>
            </a:r>
            <a:r>
              <a:rPr lang="en-US" dirty="0">
                <a:latin typeface="Times New Roman" panose="02020603050405020304" pitchFamily="18" charset="0"/>
                <a:cs typeface="Times New Roman" panose="02020603050405020304" pitchFamily="18" charset="0"/>
              </a:rPr>
              <a:t> button.</a:t>
            </a:r>
          </a:p>
          <a:p>
            <a:pPr algn="just"/>
            <a:r>
              <a:rPr lang="en-US" dirty="0">
                <a:latin typeface="Times New Roman" panose="02020603050405020304" pitchFamily="18" charset="0"/>
                <a:cs typeface="Times New Roman" panose="02020603050405020304" pitchFamily="18" charset="0"/>
              </a:rPr>
              <a:t>After clicking on the </a:t>
            </a:r>
            <a:r>
              <a:rPr lang="en-US" b="1" dirty="0">
                <a:latin typeface="Times New Roman" panose="02020603050405020304" pitchFamily="18" charset="0"/>
                <a:cs typeface="Times New Roman" panose="02020603050405020304" pitchFamily="18" charset="0"/>
              </a:rPr>
              <a:t>Yes</a:t>
            </a:r>
            <a:r>
              <a:rPr lang="en-US" dirty="0">
                <a:latin typeface="Times New Roman" panose="02020603050405020304" pitchFamily="18" charset="0"/>
                <a:cs typeface="Times New Roman" panose="02020603050405020304" pitchFamily="18" charset="0"/>
              </a:rPr>
              <a:t> button, the warning appears, but ignores this warning and click on the </a:t>
            </a:r>
            <a:r>
              <a:rPr lang="en-US" b="1" dirty="0">
                <a:latin typeface="Times New Roman" panose="02020603050405020304" pitchFamily="18" charset="0"/>
                <a:cs typeface="Times New Roman" panose="02020603050405020304" pitchFamily="18" charset="0"/>
              </a:rPr>
              <a:t>OK</a:t>
            </a:r>
            <a:r>
              <a:rPr lang="en-US" dirty="0">
                <a:latin typeface="Times New Roman" panose="02020603050405020304" pitchFamily="18" charset="0"/>
                <a:cs typeface="Times New Roman" panose="02020603050405020304" pitchFamily="18" charset="0"/>
              </a:rPr>
              <a:t> button.</a:t>
            </a:r>
          </a:p>
          <a:p>
            <a:pPr algn="just"/>
            <a:r>
              <a:rPr lang="en-US" dirty="0">
                <a:latin typeface="Times New Roman" panose="02020603050405020304" pitchFamily="18" charset="0"/>
                <a:cs typeface="Times New Roman" panose="02020603050405020304" pitchFamily="18" charset="0"/>
              </a:rPr>
              <a:t>On clicking the </a:t>
            </a:r>
            <a:r>
              <a:rPr lang="en-US" b="1" dirty="0">
                <a:latin typeface="Times New Roman" panose="02020603050405020304" pitchFamily="18" charset="0"/>
                <a:cs typeface="Times New Roman" panose="02020603050405020304" pitchFamily="18" charset="0"/>
              </a:rPr>
              <a:t>OK</a:t>
            </a:r>
            <a:r>
              <a:rPr lang="en-US" dirty="0">
                <a:latin typeface="Times New Roman" panose="02020603050405020304" pitchFamily="18" charset="0"/>
                <a:cs typeface="Times New Roman" panose="02020603050405020304" pitchFamily="18" charset="0"/>
              </a:rPr>
              <a:t> button, the Setup window appears shown as below:</a:t>
            </a:r>
          </a:p>
          <a:p>
            <a:pPr algn="just"/>
            <a:endParaRPr lang="en-US" b="1" u="sng" dirty="0">
              <a:solidFill>
                <a:srgbClr val="00B0F0"/>
              </a:solidFill>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2297052" y="6362700"/>
            <a:ext cx="8391525" cy="495300"/>
          </a:xfrm>
          <a:prstGeom prst="rect">
            <a:avLst/>
          </a:prstGeom>
        </p:spPr>
      </p:pic>
      <p:pic>
        <p:nvPicPr>
          <p:cNvPr id="6" name="Picture 5"/>
          <p:cNvPicPr>
            <a:picLocks noChangeAspect="1"/>
          </p:cNvPicPr>
          <p:nvPr/>
        </p:nvPicPr>
        <p:blipFill>
          <a:blip r:embed="rId5"/>
          <a:stretch>
            <a:fillRect/>
          </a:stretch>
        </p:blipFill>
        <p:spPr>
          <a:xfrm>
            <a:off x="10324562" y="310551"/>
            <a:ext cx="1493628" cy="939023"/>
          </a:xfrm>
          <a:prstGeom prst="rect">
            <a:avLst/>
          </a:prstGeom>
        </p:spPr>
      </p:pic>
      <p:pic>
        <p:nvPicPr>
          <p:cNvPr id="7170" name="Picture 2" descr="XAMPP Installati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84492" y="1768639"/>
            <a:ext cx="4914900" cy="4114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1940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170"/>
                                        </p:tgtEl>
                                        <p:attrNameLst>
                                          <p:attrName>style.visibility</p:attrName>
                                        </p:attrNameLst>
                                      </p:cBhvr>
                                      <p:to>
                                        <p:strVal val="visible"/>
                                      </p:to>
                                    </p:set>
                                    <p:animEffect transition="in" filter="fade">
                                      <p:cBhvr>
                                        <p:cTn id="35" dur="1000"/>
                                        <p:tgtEl>
                                          <p:spTgt spid="7170"/>
                                        </p:tgtEl>
                                      </p:cBhvr>
                                    </p:animEffect>
                                    <p:anim calcmode="lin" valueType="num">
                                      <p:cBhvr>
                                        <p:cTn id="36" dur="1000" fill="hold"/>
                                        <p:tgtEl>
                                          <p:spTgt spid="7170"/>
                                        </p:tgtEl>
                                        <p:attrNameLst>
                                          <p:attrName>ppt_x</p:attrName>
                                        </p:attrNameLst>
                                      </p:cBhvr>
                                      <p:tavLst>
                                        <p:tav tm="0">
                                          <p:val>
                                            <p:strVal val="#ppt_x"/>
                                          </p:val>
                                        </p:tav>
                                        <p:tav tm="100000">
                                          <p:val>
                                            <p:strVal val="#ppt_x"/>
                                          </p:val>
                                        </p:tav>
                                      </p:tavLst>
                                    </p:anim>
                                    <p:anim calcmode="lin" valueType="num">
                                      <p:cBhvr>
                                        <p:cTn id="37" dur="1000" fill="hold"/>
                                        <p:tgtEl>
                                          <p:spTgt spid="71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4355" y="259450"/>
            <a:ext cx="6961516" cy="1041223"/>
          </a:xfrm>
        </p:spPr>
        <p:txBody>
          <a:bodyPr>
            <a:normAutofit/>
          </a:bodyPr>
          <a:lstStyle/>
          <a:p>
            <a:pPr algn="ctr"/>
            <a:r>
              <a:rPr lang="en-US" sz="4800" b="1" dirty="0" smtClean="0">
                <a:solidFill>
                  <a:schemeClr val="accent4">
                    <a:lumMod val="75000"/>
                  </a:schemeClr>
                </a:solidFill>
                <a:latin typeface="Times New Roman" panose="02020603050405020304" pitchFamily="18" charset="0"/>
                <a:cs typeface="Times New Roman" panose="02020603050405020304" pitchFamily="18" charset="0"/>
              </a:rPr>
              <a:t>XAMPP Installation </a:t>
            </a:r>
            <a:endParaRPr lang="en-US" sz="4800"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475117"/>
            <a:ext cx="11680614" cy="4701846"/>
          </a:xfrm>
        </p:spPr>
        <p:txBody>
          <a:bodyPr/>
          <a:lstStyle/>
          <a:p>
            <a:pPr algn="just"/>
            <a:r>
              <a:rPr lang="en-US" dirty="0">
                <a:latin typeface="Times New Roman" panose="02020603050405020304" pitchFamily="18" charset="0"/>
                <a:cs typeface="Times New Roman" panose="02020603050405020304" pitchFamily="18" charset="0"/>
              </a:rPr>
              <a:t>Click on the </a:t>
            </a:r>
            <a:r>
              <a:rPr lang="en-US" b="1" dirty="0">
                <a:latin typeface="Times New Roman" panose="02020603050405020304" pitchFamily="18" charset="0"/>
                <a:cs typeface="Times New Roman" panose="02020603050405020304" pitchFamily="18" charset="0"/>
              </a:rPr>
              <a:t>Next</a:t>
            </a:r>
            <a:r>
              <a:rPr lang="en-US" dirty="0">
                <a:latin typeface="Times New Roman" panose="02020603050405020304" pitchFamily="18" charset="0"/>
                <a:cs typeface="Times New Roman" panose="02020603050405020304" pitchFamily="18" charset="0"/>
              </a:rPr>
              <a:t> button.</a:t>
            </a:r>
          </a:p>
          <a:p>
            <a:pPr algn="just"/>
            <a:r>
              <a:rPr lang="en-US" dirty="0">
                <a:latin typeface="Times New Roman" panose="02020603050405020304" pitchFamily="18" charset="0"/>
                <a:cs typeface="Times New Roman" panose="02020603050405020304" pitchFamily="18" charset="0"/>
              </a:rPr>
              <a:t>Select the </a:t>
            </a:r>
            <a:r>
              <a:rPr lang="en-US" b="1" dirty="0">
                <a:latin typeface="Times New Roman" panose="02020603050405020304" pitchFamily="18" charset="0"/>
                <a:cs typeface="Times New Roman" panose="02020603050405020304" pitchFamily="18" charset="0"/>
              </a:rPr>
              <a:t>components</a:t>
            </a:r>
            <a:r>
              <a:rPr lang="en-US" dirty="0">
                <a:latin typeface="Times New Roman" panose="02020603050405020304" pitchFamily="18" charset="0"/>
                <a:cs typeface="Times New Roman" panose="02020603050405020304" pitchFamily="18" charset="0"/>
              </a:rPr>
              <a:t> in the below screen, and then click on the </a:t>
            </a:r>
            <a:r>
              <a:rPr lang="en-US" b="1" dirty="0">
                <a:latin typeface="Times New Roman" panose="02020603050405020304" pitchFamily="18" charset="0"/>
                <a:cs typeface="Times New Roman" panose="02020603050405020304" pitchFamily="18" charset="0"/>
              </a:rPr>
              <a:t>Next</a:t>
            </a:r>
            <a:r>
              <a:rPr lang="en-US" dirty="0">
                <a:latin typeface="Times New Roman" panose="02020603050405020304" pitchFamily="18" charset="0"/>
                <a:cs typeface="Times New Roman" panose="02020603050405020304" pitchFamily="18" charset="0"/>
              </a:rPr>
              <a:t> button.</a:t>
            </a:r>
          </a:p>
          <a:p>
            <a:pPr algn="just"/>
            <a:endParaRPr lang="en-US" b="1" u="sng" dirty="0">
              <a:solidFill>
                <a:srgbClr val="00B0F0"/>
              </a:solidFill>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2297052" y="6362700"/>
            <a:ext cx="8391525" cy="495300"/>
          </a:xfrm>
          <a:prstGeom prst="rect">
            <a:avLst/>
          </a:prstGeom>
        </p:spPr>
      </p:pic>
      <p:pic>
        <p:nvPicPr>
          <p:cNvPr id="6" name="Picture 5"/>
          <p:cNvPicPr>
            <a:picLocks noChangeAspect="1"/>
          </p:cNvPicPr>
          <p:nvPr/>
        </p:nvPicPr>
        <p:blipFill>
          <a:blip r:embed="rId5"/>
          <a:stretch>
            <a:fillRect/>
          </a:stretch>
        </p:blipFill>
        <p:spPr>
          <a:xfrm>
            <a:off x="10324562" y="310551"/>
            <a:ext cx="1493628" cy="939023"/>
          </a:xfrm>
          <a:prstGeom prst="rect">
            <a:avLst/>
          </a:prstGeom>
        </p:spPr>
      </p:pic>
      <p:pic>
        <p:nvPicPr>
          <p:cNvPr id="8194" name="Picture 2" descr="XAMPP Installati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4355" y="2462822"/>
            <a:ext cx="4914900" cy="3888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158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194"/>
                                        </p:tgtEl>
                                        <p:attrNameLst>
                                          <p:attrName>style.visibility</p:attrName>
                                        </p:attrNameLst>
                                      </p:cBhvr>
                                      <p:to>
                                        <p:strVal val="visible"/>
                                      </p:to>
                                    </p:set>
                                    <p:animEffect transition="in" filter="fade">
                                      <p:cBhvr>
                                        <p:cTn id="28" dur="1000"/>
                                        <p:tgtEl>
                                          <p:spTgt spid="8194"/>
                                        </p:tgtEl>
                                      </p:cBhvr>
                                    </p:animEffect>
                                    <p:anim calcmode="lin" valueType="num">
                                      <p:cBhvr>
                                        <p:cTn id="29" dur="1000" fill="hold"/>
                                        <p:tgtEl>
                                          <p:spTgt spid="8194"/>
                                        </p:tgtEl>
                                        <p:attrNameLst>
                                          <p:attrName>ppt_x</p:attrName>
                                        </p:attrNameLst>
                                      </p:cBhvr>
                                      <p:tavLst>
                                        <p:tav tm="0">
                                          <p:val>
                                            <p:strVal val="#ppt_x"/>
                                          </p:val>
                                        </p:tav>
                                        <p:tav tm="100000">
                                          <p:val>
                                            <p:strVal val="#ppt_x"/>
                                          </p:val>
                                        </p:tav>
                                      </p:tavLst>
                                    </p:anim>
                                    <p:anim calcmode="lin" valueType="num">
                                      <p:cBhvr>
                                        <p:cTn id="30" dur="1000" fill="hold"/>
                                        <p:tgtEl>
                                          <p:spTgt spid="819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4355" y="259450"/>
            <a:ext cx="6961516" cy="1041223"/>
          </a:xfrm>
        </p:spPr>
        <p:txBody>
          <a:bodyPr>
            <a:normAutofit/>
          </a:bodyPr>
          <a:lstStyle/>
          <a:p>
            <a:pPr algn="ctr"/>
            <a:r>
              <a:rPr lang="en-US" sz="4800" b="1" dirty="0" smtClean="0">
                <a:solidFill>
                  <a:schemeClr val="accent4">
                    <a:lumMod val="75000"/>
                  </a:schemeClr>
                </a:solidFill>
                <a:latin typeface="Times New Roman" panose="02020603050405020304" pitchFamily="18" charset="0"/>
                <a:cs typeface="Times New Roman" panose="02020603050405020304" pitchFamily="18" charset="0"/>
              </a:rPr>
              <a:t>XAMPP Installation </a:t>
            </a:r>
            <a:endParaRPr lang="en-US" sz="4800"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475117"/>
            <a:ext cx="11680614" cy="4701846"/>
          </a:xfrm>
        </p:spPr>
        <p:txBody>
          <a:bodyPr/>
          <a:lstStyle/>
          <a:p>
            <a:pPr algn="just"/>
            <a:r>
              <a:rPr lang="en-US" dirty="0">
                <a:latin typeface="Times New Roman" panose="02020603050405020304" pitchFamily="18" charset="0"/>
                <a:cs typeface="Times New Roman" panose="02020603050405020304" pitchFamily="18" charset="0"/>
              </a:rPr>
              <a:t>Select the folder in which you want to install your </a:t>
            </a:r>
            <a:r>
              <a:rPr lang="en-US" b="1" dirty="0">
                <a:latin typeface="Times New Roman" panose="02020603050405020304" pitchFamily="18" charset="0"/>
                <a:cs typeface="Times New Roman" panose="02020603050405020304" pitchFamily="18" charset="0"/>
              </a:rPr>
              <a:t>XAMPP</a:t>
            </a:r>
            <a:r>
              <a:rPr lang="en-US" dirty="0">
                <a:latin typeface="Times New Roman" panose="02020603050405020304" pitchFamily="18" charset="0"/>
                <a:cs typeface="Times New Roman" panose="02020603050405020304" pitchFamily="18" charset="0"/>
              </a:rPr>
              <a:t> and click on the </a:t>
            </a:r>
            <a:r>
              <a:rPr lang="en-US" b="1" dirty="0">
                <a:latin typeface="Times New Roman" panose="02020603050405020304" pitchFamily="18" charset="0"/>
                <a:cs typeface="Times New Roman" panose="02020603050405020304" pitchFamily="18" charset="0"/>
              </a:rPr>
              <a:t>Next</a:t>
            </a:r>
            <a:r>
              <a:rPr lang="en-US" dirty="0">
                <a:latin typeface="Times New Roman" panose="02020603050405020304" pitchFamily="18" charset="0"/>
                <a:cs typeface="Times New Roman" panose="02020603050405020304" pitchFamily="18" charset="0"/>
              </a:rPr>
              <a:t> button.</a:t>
            </a:r>
          </a:p>
          <a:p>
            <a:pPr algn="just"/>
            <a:endParaRPr lang="en-US" b="1" u="sng" dirty="0">
              <a:solidFill>
                <a:srgbClr val="00B0F0"/>
              </a:solidFill>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2297052" y="6362700"/>
            <a:ext cx="8391525" cy="495300"/>
          </a:xfrm>
          <a:prstGeom prst="rect">
            <a:avLst/>
          </a:prstGeom>
        </p:spPr>
      </p:pic>
      <p:pic>
        <p:nvPicPr>
          <p:cNvPr id="6" name="Picture 5"/>
          <p:cNvPicPr>
            <a:picLocks noChangeAspect="1"/>
          </p:cNvPicPr>
          <p:nvPr/>
        </p:nvPicPr>
        <p:blipFill>
          <a:blip r:embed="rId5"/>
          <a:stretch>
            <a:fillRect/>
          </a:stretch>
        </p:blipFill>
        <p:spPr>
          <a:xfrm>
            <a:off x="10324562" y="310551"/>
            <a:ext cx="1493628" cy="939023"/>
          </a:xfrm>
          <a:prstGeom prst="rect">
            <a:avLst/>
          </a:prstGeom>
        </p:spPr>
      </p:pic>
      <p:pic>
        <p:nvPicPr>
          <p:cNvPr id="9218" name="Picture 2" descr="XAMPP Installati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01111" y="2155030"/>
            <a:ext cx="4914900" cy="4114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092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218"/>
                                        </p:tgtEl>
                                        <p:attrNameLst>
                                          <p:attrName>style.visibility</p:attrName>
                                        </p:attrNameLst>
                                      </p:cBhvr>
                                      <p:to>
                                        <p:strVal val="visible"/>
                                      </p:to>
                                    </p:set>
                                    <p:animEffect transition="in" filter="fade">
                                      <p:cBhvr>
                                        <p:cTn id="21" dur="1000"/>
                                        <p:tgtEl>
                                          <p:spTgt spid="9218"/>
                                        </p:tgtEl>
                                      </p:cBhvr>
                                    </p:animEffect>
                                    <p:anim calcmode="lin" valueType="num">
                                      <p:cBhvr>
                                        <p:cTn id="22" dur="1000" fill="hold"/>
                                        <p:tgtEl>
                                          <p:spTgt spid="9218"/>
                                        </p:tgtEl>
                                        <p:attrNameLst>
                                          <p:attrName>ppt_x</p:attrName>
                                        </p:attrNameLst>
                                      </p:cBhvr>
                                      <p:tavLst>
                                        <p:tav tm="0">
                                          <p:val>
                                            <p:strVal val="#ppt_x"/>
                                          </p:val>
                                        </p:tav>
                                        <p:tav tm="100000">
                                          <p:val>
                                            <p:strVal val="#ppt_x"/>
                                          </p:val>
                                        </p:tav>
                                      </p:tavLst>
                                    </p:anim>
                                    <p:anim calcmode="lin" valueType="num">
                                      <p:cBhvr>
                                        <p:cTn id="23" dur="1000" fill="hold"/>
                                        <p:tgtEl>
                                          <p:spTgt spid="92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4355" y="259450"/>
            <a:ext cx="6961516" cy="1041223"/>
          </a:xfrm>
        </p:spPr>
        <p:txBody>
          <a:bodyPr>
            <a:normAutofit/>
          </a:bodyPr>
          <a:lstStyle/>
          <a:p>
            <a:pPr algn="ctr"/>
            <a:r>
              <a:rPr lang="en-US" sz="4800" b="1" dirty="0" smtClean="0">
                <a:solidFill>
                  <a:schemeClr val="accent4">
                    <a:lumMod val="75000"/>
                  </a:schemeClr>
                </a:solidFill>
                <a:latin typeface="Times New Roman" panose="02020603050405020304" pitchFamily="18" charset="0"/>
                <a:cs typeface="Times New Roman" panose="02020603050405020304" pitchFamily="18" charset="0"/>
              </a:rPr>
              <a:t>XAMPP Installation </a:t>
            </a:r>
            <a:endParaRPr lang="en-US" sz="4800"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475117"/>
            <a:ext cx="11680614" cy="4701846"/>
          </a:xfrm>
        </p:spPr>
        <p:txBody>
          <a:bodyPr/>
          <a:lstStyle/>
          <a:p>
            <a:r>
              <a:rPr lang="en-US" dirty="0">
                <a:latin typeface="Times New Roman" panose="02020603050405020304" pitchFamily="18" charset="0"/>
                <a:cs typeface="Times New Roman" panose="02020603050405020304" pitchFamily="18" charset="0"/>
              </a:rPr>
              <a:t>Click on the </a:t>
            </a:r>
            <a:r>
              <a:rPr lang="en-US" b="1" dirty="0">
                <a:latin typeface="Times New Roman" panose="02020603050405020304" pitchFamily="18" charset="0"/>
                <a:cs typeface="Times New Roman" panose="02020603050405020304" pitchFamily="18" charset="0"/>
              </a:rPr>
              <a:t>Next</a:t>
            </a:r>
            <a:r>
              <a:rPr lang="en-US" dirty="0">
                <a:latin typeface="Times New Roman" panose="02020603050405020304" pitchFamily="18" charset="0"/>
                <a:cs typeface="Times New Roman" panose="02020603050405020304" pitchFamily="18" charset="0"/>
              </a:rPr>
              <a:t> button.</a:t>
            </a:r>
          </a:p>
          <a:p>
            <a:endParaRPr lang="en-US" b="1" u="sng" dirty="0">
              <a:solidFill>
                <a:srgbClr val="00B0F0"/>
              </a:solidFill>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2297052" y="6362700"/>
            <a:ext cx="8391525" cy="495300"/>
          </a:xfrm>
          <a:prstGeom prst="rect">
            <a:avLst/>
          </a:prstGeom>
        </p:spPr>
      </p:pic>
      <p:pic>
        <p:nvPicPr>
          <p:cNvPr id="6" name="Picture 5"/>
          <p:cNvPicPr>
            <a:picLocks noChangeAspect="1"/>
          </p:cNvPicPr>
          <p:nvPr/>
        </p:nvPicPr>
        <p:blipFill>
          <a:blip r:embed="rId5"/>
          <a:stretch>
            <a:fillRect/>
          </a:stretch>
        </p:blipFill>
        <p:spPr>
          <a:xfrm>
            <a:off x="10324562" y="310551"/>
            <a:ext cx="1493628" cy="939023"/>
          </a:xfrm>
          <a:prstGeom prst="rect">
            <a:avLst/>
          </a:prstGeom>
        </p:spPr>
      </p:pic>
      <p:pic>
        <p:nvPicPr>
          <p:cNvPr id="10242" name="Picture 2" descr="XAMPP Installati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8902" y="1986089"/>
            <a:ext cx="4914900" cy="4114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694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242"/>
                                        </p:tgtEl>
                                        <p:attrNameLst>
                                          <p:attrName>style.visibility</p:attrName>
                                        </p:attrNameLst>
                                      </p:cBhvr>
                                      <p:to>
                                        <p:strVal val="visible"/>
                                      </p:to>
                                    </p:set>
                                    <p:animEffect transition="in" filter="fade">
                                      <p:cBhvr>
                                        <p:cTn id="21" dur="1000"/>
                                        <p:tgtEl>
                                          <p:spTgt spid="10242"/>
                                        </p:tgtEl>
                                      </p:cBhvr>
                                    </p:animEffect>
                                    <p:anim calcmode="lin" valueType="num">
                                      <p:cBhvr>
                                        <p:cTn id="22" dur="1000" fill="hold"/>
                                        <p:tgtEl>
                                          <p:spTgt spid="10242"/>
                                        </p:tgtEl>
                                        <p:attrNameLst>
                                          <p:attrName>ppt_x</p:attrName>
                                        </p:attrNameLst>
                                      </p:cBhvr>
                                      <p:tavLst>
                                        <p:tav tm="0">
                                          <p:val>
                                            <p:strVal val="#ppt_x"/>
                                          </p:val>
                                        </p:tav>
                                        <p:tav tm="100000">
                                          <p:val>
                                            <p:strVal val="#ppt_x"/>
                                          </p:val>
                                        </p:tav>
                                      </p:tavLst>
                                    </p:anim>
                                    <p:anim calcmode="lin" valueType="num">
                                      <p:cBhvr>
                                        <p:cTn id="23" dur="1000" fill="hold"/>
                                        <p:tgtEl>
                                          <p:spTgt spid="102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4355" y="259450"/>
            <a:ext cx="6961516" cy="1041223"/>
          </a:xfrm>
        </p:spPr>
        <p:txBody>
          <a:bodyPr>
            <a:normAutofit/>
          </a:bodyPr>
          <a:lstStyle/>
          <a:p>
            <a:pPr algn="ctr"/>
            <a:r>
              <a:rPr lang="en-US" sz="4800" b="1" dirty="0" smtClean="0">
                <a:solidFill>
                  <a:schemeClr val="accent4">
                    <a:lumMod val="75000"/>
                  </a:schemeClr>
                </a:solidFill>
                <a:latin typeface="Times New Roman" panose="02020603050405020304" pitchFamily="18" charset="0"/>
                <a:cs typeface="Times New Roman" panose="02020603050405020304" pitchFamily="18" charset="0"/>
              </a:rPr>
              <a:t>XAMPP Installation </a:t>
            </a:r>
            <a:endParaRPr lang="en-US" sz="4800"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475117"/>
            <a:ext cx="11680614" cy="4701846"/>
          </a:xfrm>
        </p:spPr>
        <p:txBody>
          <a:bodyPr/>
          <a:lstStyle/>
          <a:p>
            <a:pPr algn="just"/>
            <a:r>
              <a:rPr lang="en-US" dirty="0">
                <a:latin typeface="Times New Roman" panose="02020603050405020304" pitchFamily="18" charset="0"/>
                <a:cs typeface="Times New Roman" panose="02020603050405020304" pitchFamily="18" charset="0"/>
              </a:rPr>
              <a:t>The below screen shows that the setup is ready to install, click on the </a:t>
            </a:r>
            <a:r>
              <a:rPr lang="en-US" b="1" dirty="0">
                <a:latin typeface="Times New Roman" panose="02020603050405020304" pitchFamily="18" charset="0"/>
                <a:cs typeface="Times New Roman" panose="02020603050405020304" pitchFamily="18" charset="0"/>
              </a:rPr>
              <a:t>Next</a:t>
            </a:r>
            <a:r>
              <a:rPr lang="en-US" dirty="0">
                <a:latin typeface="Times New Roman" panose="02020603050405020304" pitchFamily="18" charset="0"/>
                <a:cs typeface="Times New Roman" panose="02020603050405020304" pitchFamily="18" charset="0"/>
              </a:rPr>
              <a:t> button.</a:t>
            </a:r>
          </a:p>
          <a:p>
            <a:pPr algn="just"/>
            <a:endParaRPr lang="en-US" b="1" u="sng" dirty="0">
              <a:solidFill>
                <a:srgbClr val="00B0F0"/>
              </a:solidFill>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2297052" y="6362700"/>
            <a:ext cx="8391525" cy="495300"/>
          </a:xfrm>
          <a:prstGeom prst="rect">
            <a:avLst/>
          </a:prstGeom>
        </p:spPr>
      </p:pic>
      <p:pic>
        <p:nvPicPr>
          <p:cNvPr id="6" name="Picture 5"/>
          <p:cNvPicPr>
            <a:picLocks noChangeAspect="1"/>
          </p:cNvPicPr>
          <p:nvPr/>
        </p:nvPicPr>
        <p:blipFill>
          <a:blip r:embed="rId5"/>
          <a:stretch>
            <a:fillRect/>
          </a:stretch>
        </p:blipFill>
        <p:spPr>
          <a:xfrm>
            <a:off x="10324562" y="310551"/>
            <a:ext cx="1493628" cy="939023"/>
          </a:xfrm>
          <a:prstGeom prst="rect">
            <a:avLst/>
          </a:prstGeom>
        </p:spPr>
      </p:pic>
      <p:pic>
        <p:nvPicPr>
          <p:cNvPr id="11266" name="Picture 2" descr="XAMPP Installati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2279" y="2116930"/>
            <a:ext cx="4953000" cy="4152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4220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1266"/>
                                        </p:tgtEl>
                                        <p:attrNameLst>
                                          <p:attrName>style.visibility</p:attrName>
                                        </p:attrNameLst>
                                      </p:cBhvr>
                                      <p:to>
                                        <p:strVal val="visible"/>
                                      </p:to>
                                    </p:set>
                                    <p:animEffect transition="in" filter="fade">
                                      <p:cBhvr>
                                        <p:cTn id="21" dur="1000"/>
                                        <p:tgtEl>
                                          <p:spTgt spid="11266"/>
                                        </p:tgtEl>
                                      </p:cBhvr>
                                    </p:animEffect>
                                    <p:anim calcmode="lin" valueType="num">
                                      <p:cBhvr>
                                        <p:cTn id="22" dur="1000" fill="hold"/>
                                        <p:tgtEl>
                                          <p:spTgt spid="11266"/>
                                        </p:tgtEl>
                                        <p:attrNameLst>
                                          <p:attrName>ppt_x</p:attrName>
                                        </p:attrNameLst>
                                      </p:cBhvr>
                                      <p:tavLst>
                                        <p:tav tm="0">
                                          <p:val>
                                            <p:strVal val="#ppt_x"/>
                                          </p:val>
                                        </p:tav>
                                        <p:tav tm="100000">
                                          <p:val>
                                            <p:strVal val="#ppt_x"/>
                                          </p:val>
                                        </p:tav>
                                      </p:tavLst>
                                    </p:anim>
                                    <p:anim calcmode="lin" valueType="num">
                                      <p:cBhvr>
                                        <p:cTn id="23" dur="1000" fill="hold"/>
                                        <p:tgtEl>
                                          <p:spTgt spid="112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4355" y="259450"/>
            <a:ext cx="6961516" cy="1041223"/>
          </a:xfrm>
        </p:spPr>
        <p:txBody>
          <a:bodyPr>
            <a:normAutofit/>
          </a:bodyPr>
          <a:lstStyle/>
          <a:p>
            <a:pPr algn="ctr"/>
            <a:r>
              <a:rPr lang="en-US" sz="4800" b="1" dirty="0" smtClean="0">
                <a:solidFill>
                  <a:schemeClr val="accent4">
                    <a:lumMod val="75000"/>
                  </a:schemeClr>
                </a:solidFill>
                <a:latin typeface="Times New Roman" panose="02020603050405020304" pitchFamily="18" charset="0"/>
                <a:cs typeface="Times New Roman" panose="02020603050405020304" pitchFamily="18" charset="0"/>
              </a:rPr>
              <a:t>XAMPP Installation </a:t>
            </a:r>
            <a:endParaRPr lang="en-US" sz="4800"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475117"/>
            <a:ext cx="11680614" cy="4701846"/>
          </a:xfrm>
        </p:spPr>
        <p:txBody>
          <a:bodyPr/>
          <a:lstStyle/>
          <a:p>
            <a:pPr algn="just"/>
            <a:r>
              <a:rPr lang="en-US" dirty="0">
                <a:latin typeface="Times New Roman" panose="02020603050405020304" pitchFamily="18" charset="0"/>
                <a:cs typeface="Times New Roman" panose="02020603050405020304" pitchFamily="18" charset="0"/>
              </a:rPr>
              <a:t>The installation process is started, which is shown in the below screen:</a:t>
            </a:r>
          </a:p>
          <a:p>
            <a:pPr algn="just"/>
            <a:endParaRPr lang="en-US" b="1" u="sng" dirty="0">
              <a:solidFill>
                <a:srgbClr val="00B0F0"/>
              </a:solidFill>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2297052" y="6362700"/>
            <a:ext cx="8391525" cy="495300"/>
          </a:xfrm>
          <a:prstGeom prst="rect">
            <a:avLst/>
          </a:prstGeom>
        </p:spPr>
      </p:pic>
      <p:pic>
        <p:nvPicPr>
          <p:cNvPr id="6" name="Picture 5"/>
          <p:cNvPicPr>
            <a:picLocks noChangeAspect="1"/>
          </p:cNvPicPr>
          <p:nvPr/>
        </p:nvPicPr>
        <p:blipFill>
          <a:blip r:embed="rId5"/>
          <a:stretch>
            <a:fillRect/>
          </a:stretch>
        </p:blipFill>
        <p:spPr>
          <a:xfrm>
            <a:off x="10324562" y="310551"/>
            <a:ext cx="1493628" cy="939023"/>
          </a:xfrm>
          <a:prstGeom prst="rect">
            <a:avLst/>
          </a:prstGeom>
        </p:spPr>
      </p:pic>
      <p:pic>
        <p:nvPicPr>
          <p:cNvPr id="12290" name="Picture 2" descr="XAMPP Installati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8902" y="2062162"/>
            <a:ext cx="4914900" cy="4114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7661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290"/>
                                        </p:tgtEl>
                                        <p:attrNameLst>
                                          <p:attrName>style.visibility</p:attrName>
                                        </p:attrNameLst>
                                      </p:cBhvr>
                                      <p:to>
                                        <p:strVal val="visible"/>
                                      </p:to>
                                    </p:set>
                                    <p:animEffect transition="in" filter="fade">
                                      <p:cBhvr>
                                        <p:cTn id="21" dur="1000"/>
                                        <p:tgtEl>
                                          <p:spTgt spid="12290"/>
                                        </p:tgtEl>
                                      </p:cBhvr>
                                    </p:animEffect>
                                    <p:anim calcmode="lin" valueType="num">
                                      <p:cBhvr>
                                        <p:cTn id="22" dur="1000" fill="hold"/>
                                        <p:tgtEl>
                                          <p:spTgt spid="12290"/>
                                        </p:tgtEl>
                                        <p:attrNameLst>
                                          <p:attrName>ppt_x</p:attrName>
                                        </p:attrNameLst>
                                      </p:cBhvr>
                                      <p:tavLst>
                                        <p:tav tm="0">
                                          <p:val>
                                            <p:strVal val="#ppt_x"/>
                                          </p:val>
                                        </p:tav>
                                        <p:tav tm="100000">
                                          <p:val>
                                            <p:strVal val="#ppt_x"/>
                                          </p:val>
                                        </p:tav>
                                      </p:tavLst>
                                    </p:anim>
                                    <p:anim calcmode="lin" valueType="num">
                                      <p:cBhvr>
                                        <p:cTn id="23" dur="1000" fill="hold"/>
                                        <p:tgtEl>
                                          <p:spTgt spid="1229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4355" y="259450"/>
            <a:ext cx="6961516" cy="1041223"/>
          </a:xfrm>
        </p:spPr>
        <p:txBody>
          <a:bodyPr>
            <a:normAutofit/>
          </a:bodyPr>
          <a:lstStyle/>
          <a:p>
            <a:pPr algn="ctr"/>
            <a:r>
              <a:rPr lang="en-US" sz="4800" b="1" dirty="0" smtClean="0">
                <a:solidFill>
                  <a:schemeClr val="accent4">
                    <a:lumMod val="75000"/>
                  </a:schemeClr>
                </a:solidFill>
                <a:latin typeface="Times New Roman" panose="02020603050405020304" pitchFamily="18" charset="0"/>
                <a:cs typeface="Times New Roman" panose="02020603050405020304" pitchFamily="18" charset="0"/>
              </a:rPr>
              <a:t>XAMPP Installation </a:t>
            </a:r>
            <a:endParaRPr lang="en-US" sz="4800"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475117"/>
            <a:ext cx="11680614" cy="4701846"/>
          </a:xfrm>
        </p:spPr>
        <p:txBody>
          <a:bodyPr/>
          <a:lstStyle/>
          <a:p>
            <a:pPr algn="just"/>
            <a:r>
              <a:rPr lang="en-US" dirty="0">
                <a:latin typeface="Times New Roman" panose="02020603050405020304" pitchFamily="18" charset="0"/>
                <a:cs typeface="Times New Roman" panose="02020603050405020304" pitchFamily="18" charset="0"/>
              </a:rPr>
              <a:t>When the installation is completed, the screen appears asking for the completion of a </a:t>
            </a:r>
            <a:r>
              <a:rPr lang="en-US" b="1" dirty="0">
                <a:latin typeface="Times New Roman" panose="02020603050405020304" pitchFamily="18" charset="0"/>
                <a:cs typeface="Times New Roman" panose="02020603050405020304" pitchFamily="18" charset="0"/>
              </a:rPr>
              <a:t>XAMPP Setup Wizard</a:t>
            </a:r>
            <a:r>
              <a:rPr lang="en-US" dirty="0">
                <a:latin typeface="Times New Roman" panose="02020603050405020304" pitchFamily="18" charset="0"/>
                <a:cs typeface="Times New Roman" panose="02020603050405020304" pitchFamily="18" charset="0"/>
              </a:rPr>
              <a:t>.</a:t>
            </a:r>
          </a:p>
          <a:p>
            <a:pPr algn="just"/>
            <a:endParaRPr lang="en-US" b="1" u="sng" dirty="0">
              <a:solidFill>
                <a:srgbClr val="00B0F0"/>
              </a:solidFill>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2297052" y="6362700"/>
            <a:ext cx="8391525" cy="495300"/>
          </a:xfrm>
          <a:prstGeom prst="rect">
            <a:avLst/>
          </a:prstGeom>
        </p:spPr>
      </p:pic>
      <p:pic>
        <p:nvPicPr>
          <p:cNvPr id="6" name="Picture 5"/>
          <p:cNvPicPr>
            <a:picLocks noChangeAspect="1"/>
          </p:cNvPicPr>
          <p:nvPr/>
        </p:nvPicPr>
        <p:blipFill>
          <a:blip r:embed="rId5"/>
          <a:stretch>
            <a:fillRect/>
          </a:stretch>
        </p:blipFill>
        <p:spPr>
          <a:xfrm>
            <a:off x="10324562" y="310551"/>
            <a:ext cx="1493628" cy="939023"/>
          </a:xfrm>
          <a:prstGeom prst="rect">
            <a:avLst/>
          </a:prstGeom>
        </p:spPr>
      </p:pic>
      <p:pic>
        <p:nvPicPr>
          <p:cNvPr id="13314" name="Picture 2" descr="XAMPP Installati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11423" y="2287705"/>
            <a:ext cx="4914900" cy="4114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3441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3314"/>
                                        </p:tgtEl>
                                        <p:attrNameLst>
                                          <p:attrName>style.visibility</p:attrName>
                                        </p:attrNameLst>
                                      </p:cBhvr>
                                      <p:to>
                                        <p:strVal val="visible"/>
                                      </p:to>
                                    </p:set>
                                    <p:animEffect transition="in" filter="fade">
                                      <p:cBhvr>
                                        <p:cTn id="21" dur="1000"/>
                                        <p:tgtEl>
                                          <p:spTgt spid="13314"/>
                                        </p:tgtEl>
                                      </p:cBhvr>
                                    </p:animEffect>
                                    <p:anim calcmode="lin" valueType="num">
                                      <p:cBhvr>
                                        <p:cTn id="22" dur="1000" fill="hold"/>
                                        <p:tgtEl>
                                          <p:spTgt spid="13314"/>
                                        </p:tgtEl>
                                        <p:attrNameLst>
                                          <p:attrName>ppt_x</p:attrName>
                                        </p:attrNameLst>
                                      </p:cBhvr>
                                      <p:tavLst>
                                        <p:tav tm="0">
                                          <p:val>
                                            <p:strVal val="#ppt_x"/>
                                          </p:val>
                                        </p:tav>
                                        <p:tav tm="100000">
                                          <p:val>
                                            <p:strVal val="#ppt_x"/>
                                          </p:val>
                                        </p:tav>
                                      </p:tavLst>
                                    </p:anim>
                                    <p:anim calcmode="lin" valueType="num">
                                      <p:cBhvr>
                                        <p:cTn id="23" dur="1000" fill="hold"/>
                                        <p:tgtEl>
                                          <p:spTgt spid="133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4355" y="259450"/>
            <a:ext cx="6961516" cy="1041223"/>
          </a:xfrm>
        </p:spPr>
        <p:txBody>
          <a:bodyPr>
            <a:normAutofit/>
          </a:bodyPr>
          <a:lstStyle/>
          <a:p>
            <a:pPr algn="ctr"/>
            <a:r>
              <a:rPr lang="en-US" sz="4800" b="1" dirty="0" smtClean="0">
                <a:solidFill>
                  <a:schemeClr val="accent4">
                    <a:lumMod val="75000"/>
                  </a:schemeClr>
                </a:solidFill>
                <a:latin typeface="Times New Roman" panose="02020603050405020304" pitchFamily="18" charset="0"/>
                <a:cs typeface="Times New Roman" panose="02020603050405020304" pitchFamily="18" charset="0"/>
              </a:rPr>
              <a:t>XAMPP Installation </a:t>
            </a:r>
            <a:endParaRPr lang="en-US" sz="4800"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475117"/>
            <a:ext cx="11680614" cy="4701846"/>
          </a:xfrm>
        </p:spPr>
        <p:txBody>
          <a:bodyPr/>
          <a:lstStyle/>
          <a:p>
            <a:pPr algn="just"/>
            <a:r>
              <a:rPr lang="en-US" dirty="0">
                <a:latin typeface="Times New Roman" panose="02020603050405020304" pitchFamily="18" charset="0"/>
                <a:cs typeface="Times New Roman" panose="02020603050405020304" pitchFamily="18" charset="0"/>
              </a:rPr>
              <a:t>Click on the </a:t>
            </a:r>
            <a:r>
              <a:rPr lang="en-US" b="1" dirty="0">
                <a:latin typeface="Times New Roman" panose="02020603050405020304" pitchFamily="18" charset="0"/>
                <a:cs typeface="Times New Roman" panose="02020603050405020304" pitchFamily="18" charset="0"/>
              </a:rPr>
              <a:t>Finish</a:t>
            </a:r>
            <a:r>
              <a:rPr lang="en-US" dirty="0">
                <a:latin typeface="Times New Roman" panose="02020603050405020304" pitchFamily="18" charset="0"/>
                <a:cs typeface="Times New Roman" panose="02020603050405020304" pitchFamily="18" charset="0"/>
              </a:rPr>
              <a:t> button.</a:t>
            </a:r>
          </a:p>
          <a:p>
            <a:pPr algn="just"/>
            <a:r>
              <a:rPr lang="en-US" dirty="0">
                <a:latin typeface="Times New Roman" panose="02020603050405020304" pitchFamily="18" charset="0"/>
                <a:cs typeface="Times New Roman" panose="02020603050405020304" pitchFamily="18" charset="0"/>
              </a:rPr>
              <a:t>Select the language and then click on the </a:t>
            </a:r>
            <a:r>
              <a:rPr lang="en-US" b="1" dirty="0">
                <a:latin typeface="Times New Roman" panose="02020603050405020304" pitchFamily="18" charset="0"/>
                <a:cs typeface="Times New Roman" panose="02020603050405020304" pitchFamily="18" charset="0"/>
              </a:rPr>
              <a:t>Save</a:t>
            </a:r>
            <a:r>
              <a:rPr lang="en-US" dirty="0">
                <a:latin typeface="Times New Roman" panose="02020603050405020304" pitchFamily="18" charset="0"/>
                <a:cs typeface="Times New Roman" panose="02020603050405020304" pitchFamily="18" charset="0"/>
              </a:rPr>
              <a:t> button.</a:t>
            </a:r>
          </a:p>
          <a:p>
            <a:pPr algn="just"/>
            <a:endParaRPr lang="en-US" b="1" u="sng" dirty="0">
              <a:solidFill>
                <a:srgbClr val="00B0F0"/>
              </a:solidFill>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2297052" y="6362700"/>
            <a:ext cx="8391525" cy="495300"/>
          </a:xfrm>
          <a:prstGeom prst="rect">
            <a:avLst/>
          </a:prstGeom>
        </p:spPr>
      </p:pic>
      <p:pic>
        <p:nvPicPr>
          <p:cNvPr id="6" name="Picture 5"/>
          <p:cNvPicPr>
            <a:picLocks noChangeAspect="1"/>
          </p:cNvPicPr>
          <p:nvPr/>
        </p:nvPicPr>
        <p:blipFill>
          <a:blip r:embed="rId5"/>
          <a:stretch>
            <a:fillRect/>
          </a:stretch>
        </p:blipFill>
        <p:spPr>
          <a:xfrm>
            <a:off x="10324562" y="310551"/>
            <a:ext cx="1493628" cy="939023"/>
          </a:xfrm>
          <a:prstGeom prst="rect">
            <a:avLst/>
          </a:prstGeom>
        </p:spPr>
      </p:pic>
      <p:pic>
        <p:nvPicPr>
          <p:cNvPr id="14338" name="Picture 2" descr="XAMPP Installati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6339" y="2890139"/>
            <a:ext cx="2979989" cy="2256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8129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338"/>
                                        </p:tgtEl>
                                        <p:attrNameLst>
                                          <p:attrName>style.visibility</p:attrName>
                                        </p:attrNameLst>
                                      </p:cBhvr>
                                      <p:to>
                                        <p:strVal val="visible"/>
                                      </p:to>
                                    </p:set>
                                    <p:animEffect transition="in" filter="fade">
                                      <p:cBhvr>
                                        <p:cTn id="28" dur="1000"/>
                                        <p:tgtEl>
                                          <p:spTgt spid="14338"/>
                                        </p:tgtEl>
                                      </p:cBhvr>
                                    </p:animEffect>
                                    <p:anim calcmode="lin" valueType="num">
                                      <p:cBhvr>
                                        <p:cTn id="29" dur="1000" fill="hold"/>
                                        <p:tgtEl>
                                          <p:spTgt spid="14338"/>
                                        </p:tgtEl>
                                        <p:attrNameLst>
                                          <p:attrName>ppt_x</p:attrName>
                                        </p:attrNameLst>
                                      </p:cBhvr>
                                      <p:tavLst>
                                        <p:tav tm="0">
                                          <p:val>
                                            <p:strVal val="#ppt_x"/>
                                          </p:val>
                                        </p:tav>
                                        <p:tav tm="100000">
                                          <p:val>
                                            <p:strVal val="#ppt_x"/>
                                          </p:val>
                                        </p:tav>
                                      </p:tavLst>
                                    </p:anim>
                                    <p:anim calcmode="lin" valueType="num">
                                      <p:cBhvr>
                                        <p:cTn id="30" dur="1000" fill="hold"/>
                                        <p:tgtEl>
                                          <p:spTgt spid="143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4355" y="259450"/>
            <a:ext cx="6961516" cy="1041223"/>
          </a:xfrm>
        </p:spPr>
        <p:txBody>
          <a:bodyPr>
            <a:normAutofit/>
          </a:bodyPr>
          <a:lstStyle/>
          <a:p>
            <a:pPr algn="ctr"/>
            <a:r>
              <a:rPr lang="en-US" sz="4800" b="1" dirty="0" smtClean="0">
                <a:solidFill>
                  <a:schemeClr val="accent4">
                    <a:lumMod val="75000"/>
                  </a:schemeClr>
                </a:solidFill>
                <a:latin typeface="Times New Roman" panose="02020603050405020304" pitchFamily="18" charset="0"/>
                <a:cs typeface="Times New Roman" panose="02020603050405020304" pitchFamily="18" charset="0"/>
              </a:rPr>
              <a:t>XAMPP Installation </a:t>
            </a:r>
            <a:endParaRPr lang="en-US" sz="4800" b="1" dirty="0">
              <a:solidFill>
                <a:schemeClr val="accent4">
                  <a:lumMod val="75000"/>
                </a:schemeClr>
              </a:solidFill>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3"/>
          <a:stretch>
            <a:fillRect/>
          </a:stretch>
        </p:blipFill>
        <p:spPr>
          <a:xfrm>
            <a:off x="2530806" y="1474788"/>
            <a:ext cx="7171662" cy="4702175"/>
          </a:xfrm>
          <a:prstGeom prst="rect">
            <a:avLst/>
          </a:prstGeom>
        </p:spPr>
      </p:pic>
      <p:pic>
        <p:nvPicPr>
          <p:cNvPr id="1026" name="Picture 2" descr="https://www.ru.edu.af/images/logo/banner.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5"/>
          <a:stretch>
            <a:fillRect/>
          </a:stretch>
        </p:blipFill>
        <p:spPr>
          <a:xfrm>
            <a:off x="2297052" y="6362700"/>
            <a:ext cx="8391525" cy="495300"/>
          </a:xfrm>
          <a:prstGeom prst="rect">
            <a:avLst/>
          </a:prstGeom>
        </p:spPr>
      </p:pic>
      <p:pic>
        <p:nvPicPr>
          <p:cNvPr id="6" name="Picture 5"/>
          <p:cNvPicPr>
            <a:picLocks noChangeAspect="1"/>
          </p:cNvPicPr>
          <p:nvPr/>
        </p:nvPicPr>
        <p:blipFill>
          <a:blip r:embed="rId6"/>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1868884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sz="4800" b="1" dirty="0">
                <a:solidFill>
                  <a:schemeClr val="accent4">
                    <a:lumMod val="75000"/>
                  </a:schemeClr>
                </a:solidFill>
                <a:latin typeface="Times New Roman" panose="02020603050405020304" pitchFamily="18" charset="0"/>
                <a:cs typeface="Times New Roman" panose="02020603050405020304" pitchFamily="18" charset="0"/>
              </a:rPr>
              <a:t>Composer Installation</a:t>
            </a:r>
          </a:p>
        </p:txBody>
      </p:sp>
      <p:sp>
        <p:nvSpPr>
          <p:cNvPr id="3" name="Content Placeholder 2"/>
          <p:cNvSpPr>
            <a:spLocks noGrp="1"/>
          </p:cNvSpPr>
          <p:nvPr>
            <p:ph idx="1"/>
          </p:nvPr>
        </p:nvSpPr>
        <p:spPr>
          <a:xfrm>
            <a:off x="276045" y="1770185"/>
            <a:ext cx="7130595" cy="4406778"/>
          </a:xfrm>
        </p:spPr>
        <p:txBody>
          <a:bodyPr/>
          <a:lstStyle/>
          <a:p>
            <a:pPr algn="just"/>
            <a:r>
              <a:rPr lang="en-US" b="1" dirty="0">
                <a:latin typeface="Times New Roman" panose="02020603050405020304" pitchFamily="18" charset="0"/>
                <a:cs typeface="Times New Roman" panose="02020603050405020304" pitchFamily="18" charset="0"/>
              </a:rPr>
              <a:t>Following are the steps to download the Composer:</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Click on the link given below to download the Composer: </a:t>
            </a:r>
            <a:r>
              <a:rPr lang="en-US" dirty="0">
                <a:latin typeface="Times New Roman" panose="02020603050405020304" pitchFamily="18" charset="0"/>
                <a:cs typeface="Times New Roman" panose="02020603050405020304" pitchFamily="18" charset="0"/>
                <a:hlinkClick r:id="rId2"/>
              </a:rPr>
              <a:t>https://getcomposer.org/download/</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To download the Composer for Windows, click on the link </a:t>
            </a:r>
            <a:r>
              <a:rPr lang="en-US" b="1" dirty="0">
                <a:latin typeface="Times New Roman" panose="02020603050405020304" pitchFamily="18" charset="0"/>
                <a:cs typeface="Times New Roman" panose="02020603050405020304" pitchFamily="18" charset="0"/>
              </a:rPr>
              <a:t>Composer-Setup.exe</a:t>
            </a:r>
            <a:r>
              <a:rPr lang="en-US" dirty="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2297052" y="6362700"/>
            <a:ext cx="8391525" cy="495300"/>
          </a:xfrm>
          <a:prstGeom prst="rect">
            <a:avLst/>
          </a:prstGeom>
        </p:spPr>
      </p:pic>
      <p:pic>
        <p:nvPicPr>
          <p:cNvPr id="6" name="Picture 5"/>
          <p:cNvPicPr>
            <a:picLocks noChangeAspect="1"/>
          </p:cNvPicPr>
          <p:nvPr/>
        </p:nvPicPr>
        <p:blipFill>
          <a:blip r:embed="rId5"/>
          <a:stretch>
            <a:fillRect/>
          </a:stretch>
        </p:blipFill>
        <p:spPr>
          <a:xfrm>
            <a:off x="10324562" y="310551"/>
            <a:ext cx="1493628" cy="939023"/>
          </a:xfrm>
          <a:prstGeom prst="rect">
            <a:avLst/>
          </a:prstGeom>
        </p:spPr>
      </p:pic>
      <p:pic>
        <p:nvPicPr>
          <p:cNvPr id="15362" name="Picture 2" descr="Composer Installati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06641" y="1770185"/>
            <a:ext cx="4785360" cy="4610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289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5362"/>
                                        </p:tgtEl>
                                        <p:attrNameLst>
                                          <p:attrName>style.visibility</p:attrName>
                                        </p:attrNameLst>
                                      </p:cBhvr>
                                      <p:to>
                                        <p:strVal val="visible"/>
                                      </p:to>
                                    </p:set>
                                    <p:animEffect transition="in" filter="fade">
                                      <p:cBhvr>
                                        <p:cTn id="35" dur="1000"/>
                                        <p:tgtEl>
                                          <p:spTgt spid="15362"/>
                                        </p:tgtEl>
                                      </p:cBhvr>
                                    </p:animEffect>
                                    <p:anim calcmode="lin" valueType="num">
                                      <p:cBhvr>
                                        <p:cTn id="36" dur="1000" fill="hold"/>
                                        <p:tgtEl>
                                          <p:spTgt spid="15362"/>
                                        </p:tgtEl>
                                        <p:attrNameLst>
                                          <p:attrName>ppt_x</p:attrName>
                                        </p:attrNameLst>
                                      </p:cBhvr>
                                      <p:tavLst>
                                        <p:tav tm="0">
                                          <p:val>
                                            <p:strVal val="#ppt_x"/>
                                          </p:val>
                                        </p:tav>
                                        <p:tav tm="100000">
                                          <p:val>
                                            <p:strVal val="#ppt_x"/>
                                          </p:val>
                                        </p:tav>
                                      </p:tavLst>
                                    </p:anim>
                                    <p:anim calcmode="lin" valueType="num">
                                      <p:cBhvr>
                                        <p:cTn id="37" dur="1000" fill="hold"/>
                                        <p:tgtEl>
                                          <p:spTgt spid="153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Composer Installation</a:t>
            </a:r>
            <a:endParaRPr lang="en-US" dirty="0"/>
          </a:p>
        </p:txBody>
      </p:sp>
      <p:sp>
        <p:nvSpPr>
          <p:cNvPr id="3" name="Content Placeholder 2"/>
          <p:cNvSpPr>
            <a:spLocks noGrp="1"/>
          </p:cNvSpPr>
          <p:nvPr>
            <p:ph idx="1"/>
          </p:nvPr>
        </p:nvSpPr>
        <p:spPr>
          <a:xfrm>
            <a:off x="276045" y="1475117"/>
            <a:ext cx="11680614" cy="4701846"/>
          </a:xfrm>
        </p:spPr>
        <p:txBody>
          <a:bodyPr/>
          <a:lstStyle/>
          <a:p>
            <a:pPr algn="just"/>
            <a:r>
              <a:rPr lang="en-US" dirty="0">
                <a:latin typeface="Times New Roman" panose="02020603050405020304" pitchFamily="18" charset="0"/>
                <a:cs typeface="Times New Roman" panose="02020603050405020304" pitchFamily="18" charset="0"/>
              </a:rPr>
              <a:t>On clicking the above link, the </a:t>
            </a:r>
            <a:r>
              <a:rPr lang="en-US" b="1" dirty="0">
                <a:latin typeface="Times New Roman" panose="02020603050405020304" pitchFamily="18" charset="0"/>
                <a:cs typeface="Times New Roman" panose="02020603050405020304" pitchFamily="18" charset="0"/>
              </a:rPr>
              <a:t>Composer-Setup.exe</a:t>
            </a:r>
            <a:r>
              <a:rPr lang="en-US" dirty="0">
                <a:latin typeface="Times New Roman" panose="02020603050405020304" pitchFamily="18" charset="0"/>
                <a:cs typeface="Times New Roman" panose="02020603050405020304" pitchFamily="18" charset="0"/>
              </a:rPr>
              <a:t> file gets downloaded.</a:t>
            </a:r>
          </a:p>
          <a:p>
            <a:pPr algn="just"/>
            <a:r>
              <a:rPr lang="en-US" dirty="0">
                <a:latin typeface="Times New Roman" panose="02020603050405020304" pitchFamily="18" charset="0"/>
                <a:cs typeface="Times New Roman" panose="02020603050405020304" pitchFamily="18" charset="0"/>
              </a:rPr>
              <a:t>To install the </a:t>
            </a:r>
            <a:r>
              <a:rPr lang="en-US" b="1" dirty="0">
                <a:latin typeface="Times New Roman" panose="02020603050405020304" pitchFamily="18" charset="0"/>
                <a:cs typeface="Times New Roman" panose="02020603050405020304" pitchFamily="18" charset="0"/>
              </a:rPr>
              <a:t>Composer</a:t>
            </a:r>
            <a:r>
              <a:rPr lang="en-US" dirty="0">
                <a:latin typeface="Times New Roman" panose="02020603050405020304" pitchFamily="18" charset="0"/>
                <a:cs typeface="Times New Roman" panose="02020603050405020304" pitchFamily="18" charset="0"/>
              </a:rPr>
              <a:t>, run the downloaded file.</a:t>
            </a:r>
          </a:p>
          <a:p>
            <a:pPr algn="just"/>
            <a:r>
              <a:rPr lang="en-US" dirty="0">
                <a:latin typeface="Times New Roman" panose="02020603050405020304" pitchFamily="18" charset="0"/>
                <a:cs typeface="Times New Roman" panose="02020603050405020304" pitchFamily="18" charset="0"/>
              </a:rPr>
              <a:t>After clicking on the downloaded file, the screen appears shown below:</a:t>
            </a:r>
          </a:p>
          <a:p>
            <a:pPr algn="just"/>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16386" name="Picture 2" descr="Composer Installat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0817" y="2902742"/>
            <a:ext cx="4539912" cy="3531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1644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6386"/>
                                        </p:tgtEl>
                                        <p:attrNameLst>
                                          <p:attrName>style.visibility</p:attrName>
                                        </p:attrNameLst>
                                      </p:cBhvr>
                                      <p:to>
                                        <p:strVal val="visible"/>
                                      </p:to>
                                    </p:set>
                                    <p:animEffect transition="in" filter="fade">
                                      <p:cBhvr>
                                        <p:cTn id="35" dur="1000"/>
                                        <p:tgtEl>
                                          <p:spTgt spid="16386"/>
                                        </p:tgtEl>
                                      </p:cBhvr>
                                    </p:animEffect>
                                    <p:anim calcmode="lin" valueType="num">
                                      <p:cBhvr>
                                        <p:cTn id="36" dur="1000" fill="hold"/>
                                        <p:tgtEl>
                                          <p:spTgt spid="16386"/>
                                        </p:tgtEl>
                                        <p:attrNameLst>
                                          <p:attrName>ppt_x</p:attrName>
                                        </p:attrNameLst>
                                      </p:cBhvr>
                                      <p:tavLst>
                                        <p:tav tm="0">
                                          <p:val>
                                            <p:strVal val="#ppt_x"/>
                                          </p:val>
                                        </p:tav>
                                        <p:tav tm="100000">
                                          <p:val>
                                            <p:strVal val="#ppt_x"/>
                                          </p:val>
                                        </p:tav>
                                      </p:tavLst>
                                    </p:anim>
                                    <p:anim calcmode="lin" valueType="num">
                                      <p:cBhvr>
                                        <p:cTn id="37" dur="1000" fill="hold"/>
                                        <p:tgtEl>
                                          <p:spTgt spid="1638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Composer Installation</a:t>
            </a:r>
            <a:endParaRPr lang="en-US" dirty="0"/>
          </a:p>
        </p:txBody>
      </p:sp>
      <p:sp>
        <p:nvSpPr>
          <p:cNvPr id="3" name="Content Placeholder 2"/>
          <p:cNvSpPr>
            <a:spLocks noGrp="1"/>
          </p:cNvSpPr>
          <p:nvPr>
            <p:ph idx="1"/>
          </p:nvPr>
        </p:nvSpPr>
        <p:spPr>
          <a:xfrm>
            <a:off x="276045" y="1475117"/>
            <a:ext cx="11680614" cy="4701846"/>
          </a:xfrm>
        </p:spPr>
        <p:txBody>
          <a:bodyPr/>
          <a:lstStyle/>
          <a:p>
            <a:pPr algn="just"/>
            <a:r>
              <a:rPr lang="en-US" dirty="0">
                <a:latin typeface="Times New Roman" panose="02020603050405020304" pitchFamily="18" charset="0"/>
                <a:cs typeface="Times New Roman" panose="02020603050405020304" pitchFamily="18" charset="0"/>
              </a:rPr>
              <a:t>Select the Developer mode in the above screen and click on the </a:t>
            </a:r>
            <a:r>
              <a:rPr lang="en-US" b="1" dirty="0">
                <a:latin typeface="Times New Roman" panose="02020603050405020304" pitchFamily="18" charset="0"/>
                <a:cs typeface="Times New Roman" panose="02020603050405020304" pitchFamily="18" charset="0"/>
              </a:rPr>
              <a:t>Next</a:t>
            </a:r>
            <a:r>
              <a:rPr lang="en-US" dirty="0">
                <a:latin typeface="Times New Roman" panose="02020603050405020304" pitchFamily="18" charset="0"/>
                <a:cs typeface="Times New Roman" panose="02020603050405020304" pitchFamily="18" charset="0"/>
              </a:rPr>
              <a:t> button.</a:t>
            </a:r>
          </a:p>
          <a:p>
            <a:pPr algn="just"/>
            <a:r>
              <a:rPr lang="en-US" dirty="0">
                <a:latin typeface="Times New Roman" panose="02020603050405020304" pitchFamily="18" charset="0"/>
                <a:cs typeface="Times New Roman" panose="02020603050405020304" pitchFamily="18" charset="0"/>
              </a:rPr>
              <a:t>Select the path in which you want to install the setup of the composer, and then click on the </a:t>
            </a:r>
            <a:r>
              <a:rPr lang="en-US" b="1" dirty="0">
                <a:latin typeface="Times New Roman" panose="02020603050405020304" pitchFamily="18" charset="0"/>
                <a:cs typeface="Times New Roman" panose="02020603050405020304" pitchFamily="18" charset="0"/>
              </a:rPr>
              <a:t>Next</a:t>
            </a:r>
            <a:r>
              <a:rPr lang="en-US" dirty="0">
                <a:latin typeface="Times New Roman" panose="02020603050405020304" pitchFamily="18" charset="0"/>
                <a:cs typeface="Times New Roman" panose="02020603050405020304" pitchFamily="18" charset="0"/>
              </a:rPr>
              <a:t> button.</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17410" name="Picture 2" descr="Composer Installat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34383" y="2469356"/>
            <a:ext cx="4886325" cy="3800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5616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7410"/>
                                        </p:tgtEl>
                                        <p:attrNameLst>
                                          <p:attrName>style.visibility</p:attrName>
                                        </p:attrNameLst>
                                      </p:cBhvr>
                                      <p:to>
                                        <p:strVal val="visible"/>
                                      </p:to>
                                    </p:set>
                                    <p:animEffect transition="in" filter="fade">
                                      <p:cBhvr>
                                        <p:cTn id="28" dur="1000"/>
                                        <p:tgtEl>
                                          <p:spTgt spid="17410"/>
                                        </p:tgtEl>
                                      </p:cBhvr>
                                    </p:animEffect>
                                    <p:anim calcmode="lin" valueType="num">
                                      <p:cBhvr>
                                        <p:cTn id="29" dur="1000" fill="hold"/>
                                        <p:tgtEl>
                                          <p:spTgt spid="17410"/>
                                        </p:tgtEl>
                                        <p:attrNameLst>
                                          <p:attrName>ppt_x</p:attrName>
                                        </p:attrNameLst>
                                      </p:cBhvr>
                                      <p:tavLst>
                                        <p:tav tm="0">
                                          <p:val>
                                            <p:strVal val="#ppt_x"/>
                                          </p:val>
                                        </p:tav>
                                        <p:tav tm="100000">
                                          <p:val>
                                            <p:strVal val="#ppt_x"/>
                                          </p:val>
                                        </p:tav>
                                      </p:tavLst>
                                    </p:anim>
                                    <p:anim calcmode="lin" valueType="num">
                                      <p:cBhvr>
                                        <p:cTn id="30" dur="1000" fill="hold"/>
                                        <p:tgtEl>
                                          <p:spTgt spid="174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Composer Installation</a:t>
            </a:r>
            <a:endParaRPr lang="en-US" dirty="0"/>
          </a:p>
        </p:txBody>
      </p:sp>
      <p:sp>
        <p:nvSpPr>
          <p:cNvPr id="3" name="Content Placeholder 2"/>
          <p:cNvSpPr>
            <a:spLocks noGrp="1"/>
          </p:cNvSpPr>
          <p:nvPr>
            <p:ph idx="1"/>
          </p:nvPr>
        </p:nvSpPr>
        <p:spPr>
          <a:xfrm>
            <a:off x="276045" y="1475117"/>
            <a:ext cx="11680614" cy="4701846"/>
          </a:xfrm>
        </p:spPr>
        <p:txBody>
          <a:bodyPr/>
          <a:lstStyle/>
          <a:p>
            <a:r>
              <a:rPr lang="en-US" dirty="0">
                <a:latin typeface="Times New Roman" panose="02020603050405020304" pitchFamily="18" charset="0"/>
                <a:cs typeface="Times New Roman" panose="02020603050405020304" pitchFamily="18" charset="0"/>
              </a:rPr>
              <a:t>Select the path of command-line PHP and the path is "</a:t>
            </a:r>
            <a:r>
              <a:rPr lang="en-US" b="1" i="1" dirty="0">
                <a:latin typeface="Times New Roman" panose="02020603050405020304" pitchFamily="18" charset="0"/>
                <a:cs typeface="Times New Roman" panose="02020603050405020304" pitchFamily="18" charset="0"/>
              </a:rPr>
              <a:t>c</a:t>
            </a:r>
            <a:r>
              <a:rPr lang="en-US" b="1" i="1" dirty="0" smtClean="0">
                <a:latin typeface="Times New Roman" panose="02020603050405020304" pitchFamily="18" charset="0"/>
                <a:cs typeface="Times New Roman" panose="02020603050405020304" pitchFamily="18" charset="0"/>
              </a:rPr>
              <a:t>:\xampp\bin\php\php5.6.40\php.exe</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18434" name="Picture 2" descr="Composer Installat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69648" y="2376487"/>
            <a:ext cx="4886325" cy="3800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9159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8434"/>
                                        </p:tgtEl>
                                        <p:attrNameLst>
                                          <p:attrName>style.visibility</p:attrName>
                                        </p:attrNameLst>
                                      </p:cBhvr>
                                      <p:to>
                                        <p:strVal val="visible"/>
                                      </p:to>
                                    </p:set>
                                    <p:animEffect transition="in" filter="fade">
                                      <p:cBhvr>
                                        <p:cTn id="21" dur="1000"/>
                                        <p:tgtEl>
                                          <p:spTgt spid="18434"/>
                                        </p:tgtEl>
                                      </p:cBhvr>
                                    </p:animEffect>
                                    <p:anim calcmode="lin" valueType="num">
                                      <p:cBhvr>
                                        <p:cTn id="22" dur="1000" fill="hold"/>
                                        <p:tgtEl>
                                          <p:spTgt spid="18434"/>
                                        </p:tgtEl>
                                        <p:attrNameLst>
                                          <p:attrName>ppt_x</p:attrName>
                                        </p:attrNameLst>
                                      </p:cBhvr>
                                      <p:tavLst>
                                        <p:tav tm="0">
                                          <p:val>
                                            <p:strVal val="#ppt_x"/>
                                          </p:val>
                                        </p:tav>
                                        <p:tav tm="100000">
                                          <p:val>
                                            <p:strVal val="#ppt_x"/>
                                          </p:val>
                                        </p:tav>
                                      </p:tavLst>
                                    </p:anim>
                                    <p:anim calcmode="lin" valueType="num">
                                      <p:cBhvr>
                                        <p:cTn id="23" dur="1000" fill="hold"/>
                                        <p:tgtEl>
                                          <p:spTgt spid="184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Composer Installation</a:t>
            </a:r>
            <a:endParaRPr lang="en-US" dirty="0"/>
          </a:p>
        </p:txBody>
      </p:sp>
      <p:sp>
        <p:nvSpPr>
          <p:cNvPr id="3" name="Content Placeholder 2"/>
          <p:cNvSpPr>
            <a:spLocks noGrp="1"/>
          </p:cNvSpPr>
          <p:nvPr>
            <p:ph idx="1"/>
          </p:nvPr>
        </p:nvSpPr>
        <p:spPr>
          <a:xfrm>
            <a:off x="276045" y="1475117"/>
            <a:ext cx="11680614" cy="4701846"/>
          </a:xfrm>
        </p:spPr>
        <p:txBody>
          <a:bodyPr/>
          <a:lstStyle/>
          <a:p>
            <a:pPr algn="just"/>
            <a:r>
              <a:rPr lang="en-US" dirty="0">
                <a:latin typeface="Times New Roman" panose="02020603050405020304" pitchFamily="18" charset="0"/>
                <a:cs typeface="Times New Roman" panose="02020603050405020304" pitchFamily="18" charset="0"/>
              </a:rPr>
              <a:t>If you want to use a proxy, then check the box of the proxy server and enter proxy </a:t>
            </a:r>
            <a:r>
              <a:rPr lang="en-US" dirty="0" err="1">
                <a:latin typeface="Times New Roman" panose="02020603050405020304" pitchFamily="18" charset="0"/>
                <a:cs typeface="Times New Roman" panose="02020603050405020304" pitchFamily="18" charset="0"/>
              </a:rPr>
              <a:t>url</a:t>
            </a:r>
            <a:r>
              <a:rPr lang="en-US" dirty="0">
                <a:latin typeface="Times New Roman" panose="02020603050405020304" pitchFamily="18" charset="0"/>
                <a:cs typeface="Times New Roman" panose="02020603050405020304" pitchFamily="18" charset="0"/>
              </a:rPr>
              <a:t>. Here, I am using Composer without a proxy server, so I uncheck the box. Click on the </a:t>
            </a:r>
            <a:r>
              <a:rPr lang="en-US" b="1" dirty="0">
                <a:latin typeface="Times New Roman" panose="02020603050405020304" pitchFamily="18" charset="0"/>
                <a:cs typeface="Times New Roman" panose="02020603050405020304" pitchFamily="18" charset="0"/>
              </a:rPr>
              <a:t>Next</a:t>
            </a:r>
            <a:r>
              <a:rPr lang="en-US" dirty="0">
                <a:latin typeface="Times New Roman" panose="02020603050405020304" pitchFamily="18" charset="0"/>
                <a:cs typeface="Times New Roman" panose="02020603050405020304" pitchFamily="18" charset="0"/>
              </a:rPr>
              <a:t> button.</a:t>
            </a:r>
          </a:p>
          <a:p>
            <a:pPr algn="just"/>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19458" name="Picture 2" descr="Composer Installat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33129" y="2426055"/>
            <a:ext cx="4886325" cy="3800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7970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9458"/>
                                        </p:tgtEl>
                                        <p:attrNameLst>
                                          <p:attrName>style.visibility</p:attrName>
                                        </p:attrNameLst>
                                      </p:cBhvr>
                                      <p:to>
                                        <p:strVal val="visible"/>
                                      </p:to>
                                    </p:set>
                                    <p:animEffect transition="in" filter="fade">
                                      <p:cBhvr>
                                        <p:cTn id="21" dur="1000"/>
                                        <p:tgtEl>
                                          <p:spTgt spid="19458"/>
                                        </p:tgtEl>
                                      </p:cBhvr>
                                    </p:animEffect>
                                    <p:anim calcmode="lin" valueType="num">
                                      <p:cBhvr>
                                        <p:cTn id="22" dur="1000" fill="hold"/>
                                        <p:tgtEl>
                                          <p:spTgt spid="19458"/>
                                        </p:tgtEl>
                                        <p:attrNameLst>
                                          <p:attrName>ppt_x</p:attrName>
                                        </p:attrNameLst>
                                      </p:cBhvr>
                                      <p:tavLst>
                                        <p:tav tm="0">
                                          <p:val>
                                            <p:strVal val="#ppt_x"/>
                                          </p:val>
                                        </p:tav>
                                        <p:tav tm="100000">
                                          <p:val>
                                            <p:strVal val="#ppt_x"/>
                                          </p:val>
                                        </p:tav>
                                      </p:tavLst>
                                    </p:anim>
                                    <p:anim calcmode="lin" valueType="num">
                                      <p:cBhvr>
                                        <p:cTn id="23" dur="1000" fill="hold"/>
                                        <p:tgtEl>
                                          <p:spTgt spid="194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Composer Installation</a:t>
            </a:r>
            <a:endParaRPr lang="en-US" dirty="0"/>
          </a:p>
        </p:txBody>
      </p:sp>
      <p:sp>
        <p:nvSpPr>
          <p:cNvPr id="3" name="Content Placeholder 2"/>
          <p:cNvSpPr>
            <a:spLocks noGrp="1"/>
          </p:cNvSpPr>
          <p:nvPr>
            <p:ph idx="1"/>
          </p:nvPr>
        </p:nvSpPr>
        <p:spPr>
          <a:xfrm>
            <a:off x="276045" y="1475117"/>
            <a:ext cx="11680614" cy="4701846"/>
          </a:xfrm>
        </p:spPr>
        <p:txBody>
          <a:bodyPr/>
          <a:lstStyle/>
          <a:p>
            <a:pPr algn="just"/>
            <a:r>
              <a:rPr lang="en-US" dirty="0">
                <a:latin typeface="Times New Roman" panose="02020603050405020304" pitchFamily="18" charset="0"/>
                <a:cs typeface="Times New Roman" panose="02020603050405020304" pitchFamily="18" charset="0"/>
              </a:rPr>
              <a:t>The below screen shows that the setup is ready to install, click on the </a:t>
            </a:r>
            <a:r>
              <a:rPr lang="en-US" b="1" dirty="0">
                <a:latin typeface="Times New Roman" panose="02020603050405020304" pitchFamily="18" charset="0"/>
                <a:cs typeface="Times New Roman" panose="02020603050405020304" pitchFamily="18" charset="0"/>
              </a:rPr>
              <a:t>Install</a:t>
            </a:r>
            <a:r>
              <a:rPr lang="en-US" dirty="0">
                <a:latin typeface="Times New Roman" panose="02020603050405020304" pitchFamily="18" charset="0"/>
                <a:cs typeface="Times New Roman" panose="02020603050405020304" pitchFamily="18" charset="0"/>
              </a:rPr>
              <a:t> button.</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20482" name="Picture 2" descr="Composer Installat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73189" y="2182262"/>
            <a:ext cx="4886325" cy="3800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991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0482"/>
                                        </p:tgtEl>
                                        <p:attrNameLst>
                                          <p:attrName>style.visibility</p:attrName>
                                        </p:attrNameLst>
                                      </p:cBhvr>
                                      <p:to>
                                        <p:strVal val="visible"/>
                                      </p:to>
                                    </p:set>
                                    <p:animEffect transition="in" filter="fade">
                                      <p:cBhvr>
                                        <p:cTn id="21" dur="1000"/>
                                        <p:tgtEl>
                                          <p:spTgt spid="20482"/>
                                        </p:tgtEl>
                                      </p:cBhvr>
                                    </p:animEffect>
                                    <p:anim calcmode="lin" valueType="num">
                                      <p:cBhvr>
                                        <p:cTn id="22" dur="1000" fill="hold"/>
                                        <p:tgtEl>
                                          <p:spTgt spid="20482"/>
                                        </p:tgtEl>
                                        <p:attrNameLst>
                                          <p:attrName>ppt_x</p:attrName>
                                        </p:attrNameLst>
                                      </p:cBhvr>
                                      <p:tavLst>
                                        <p:tav tm="0">
                                          <p:val>
                                            <p:strVal val="#ppt_x"/>
                                          </p:val>
                                        </p:tav>
                                        <p:tav tm="100000">
                                          <p:val>
                                            <p:strVal val="#ppt_x"/>
                                          </p:val>
                                        </p:tav>
                                      </p:tavLst>
                                    </p:anim>
                                    <p:anim calcmode="lin" valueType="num">
                                      <p:cBhvr>
                                        <p:cTn id="23" dur="1000" fill="hold"/>
                                        <p:tgtEl>
                                          <p:spTgt spid="2048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Composer Installation</a:t>
            </a:r>
            <a:endParaRPr lang="en-US" dirty="0"/>
          </a:p>
        </p:txBody>
      </p:sp>
      <p:sp>
        <p:nvSpPr>
          <p:cNvPr id="3" name="Content Placeholder 2"/>
          <p:cNvSpPr>
            <a:spLocks noGrp="1"/>
          </p:cNvSpPr>
          <p:nvPr>
            <p:ph idx="1"/>
          </p:nvPr>
        </p:nvSpPr>
        <p:spPr>
          <a:xfrm>
            <a:off x="276045" y="1475117"/>
            <a:ext cx="11680614" cy="4701846"/>
          </a:xfrm>
        </p:spPr>
        <p:txBody>
          <a:bodyPr/>
          <a:lstStyle/>
          <a:p>
            <a:pPr algn="just"/>
            <a:r>
              <a:rPr lang="en-US" dirty="0">
                <a:latin typeface="Times New Roman" panose="02020603050405020304" pitchFamily="18" charset="0"/>
                <a:cs typeface="Times New Roman" panose="02020603050405020304" pitchFamily="18" charset="0"/>
              </a:rPr>
              <a:t>After clicking on the </a:t>
            </a:r>
            <a:r>
              <a:rPr lang="en-US" b="1" dirty="0">
                <a:latin typeface="Times New Roman" panose="02020603050405020304" pitchFamily="18" charset="0"/>
                <a:cs typeface="Times New Roman" panose="02020603050405020304" pitchFamily="18" charset="0"/>
              </a:rPr>
              <a:t>install</a:t>
            </a:r>
            <a:r>
              <a:rPr lang="en-US" dirty="0">
                <a:latin typeface="Times New Roman" panose="02020603050405020304" pitchFamily="18" charset="0"/>
                <a:cs typeface="Times New Roman" panose="02020603050405020304" pitchFamily="18" charset="0"/>
              </a:rPr>
              <a:t> button, the screen appears shown below:</a:t>
            </a:r>
          </a:p>
          <a:p>
            <a:pPr algn="just"/>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21506" name="Picture 2" descr="Composer Installat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9127" y="2376487"/>
            <a:ext cx="4886325" cy="3800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3019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1506"/>
                                        </p:tgtEl>
                                        <p:attrNameLst>
                                          <p:attrName>style.visibility</p:attrName>
                                        </p:attrNameLst>
                                      </p:cBhvr>
                                      <p:to>
                                        <p:strVal val="visible"/>
                                      </p:to>
                                    </p:set>
                                    <p:animEffect transition="in" filter="fade">
                                      <p:cBhvr>
                                        <p:cTn id="21" dur="1000"/>
                                        <p:tgtEl>
                                          <p:spTgt spid="21506"/>
                                        </p:tgtEl>
                                      </p:cBhvr>
                                    </p:animEffect>
                                    <p:anim calcmode="lin" valueType="num">
                                      <p:cBhvr>
                                        <p:cTn id="22" dur="1000" fill="hold"/>
                                        <p:tgtEl>
                                          <p:spTgt spid="21506"/>
                                        </p:tgtEl>
                                        <p:attrNameLst>
                                          <p:attrName>ppt_x</p:attrName>
                                        </p:attrNameLst>
                                      </p:cBhvr>
                                      <p:tavLst>
                                        <p:tav tm="0">
                                          <p:val>
                                            <p:strVal val="#ppt_x"/>
                                          </p:val>
                                        </p:tav>
                                        <p:tav tm="100000">
                                          <p:val>
                                            <p:strVal val="#ppt_x"/>
                                          </p:val>
                                        </p:tav>
                                      </p:tavLst>
                                    </p:anim>
                                    <p:anim calcmode="lin" valueType="num">
                                      <p:cBhvr>
                                        <p:cTn id="23" dur="1000" fill="hold"/>
                                        <p:tgtEl>
                                          <p:spTgt spid="2150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Composer Installation</a:t>
            </a:r>
            <a:endParaRPr lang="en-US" dirty="0"/>
          </a:p>
        </p:txBody>
      </p:sp>
      <p:sp>
        <p:nvSpPr>
          <p:cNvPr id="3" name="Content Placeholder 2"/>
          <p:cNvSpPr>
            <a:spLocks noGrp="1"/>
          </p:cNvSpPr>
          <p:nvPr>
            <p:ph idx="1"/>
          </p:nvPr>
        </p:nvSpPr>
        <p:spPr>
          <a:xfrm>
            <a:off x="276045" y="1475117"/>
            <a:ext cx="11680614" cy="4701846"/>
          </a:xfrm>
        </p:spPr>
        <p:txBody>
          <a:bodyPr/>
          <a:lstStyle/>
          <a:p>
            <a:pPr algn="just"/>
            <a:r>
              <a:rPr lang="en-US" dirty="0">
                <a:latin typeface="Times New Roman" panose="02020603050405020304" pitchFamily="18" charset="0"/>
                <a:cs typeface="Times New Roman" panose="02020603050405020304" pitchFamily="18" charset="0"/>
              </a:rPr>
              <a:t>Click on the Next button.</a:t>
            </a:r>
          </a:p>
          <a:p>
            <a:pPr algn="just"/>
            <a:r>
              <a:rPr lang="en-US" dirty="0">
                <a:latin typeface="Times New Roman" panose="02020603050405020304" pitchFamily="18" charset="0"/>
                <a:cs typeface="Times New Roman" panose="02020603050405020304" pitchFamily="18" charset="0"/>
              </a:rPr>
              <a:t>If you want to see the online documentation, then check the box of "View online documentation" and click on the Finish button.</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22532" name="Picture 4" descr="Composer Installat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6327" y="2809874"/>
            <a:ext cx="4886325" cy="3552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5511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2532"/>
                                        </p:tgtEl>
                                        <p:attrNameLst>
                                          <p:attrName>style.visibility</p:attrName>
                                        </p:attrNameLst>
                                      </p:cBhvr>
                                      <p:to>
                                        <p:strVal val="visible"/>
                                      </p:to>
                                    </p:set>
                                    <p:animEffect transition="in" filter="fade">
                                      <p:cBhvr>
                                        <p:cTn id="28" dur="1000"/>
                                        <p:tgtEl>
                                          <p:spTgt spid="22532"/>
                                        </p:tgtEl>
                                      </p:cBhvr>
                                    </p:animEffect>
                                    <p:anim calcmode="lin" valueType="num">
                                      <p:cBhvr>
                                        <p:cTn id="29" dur="1000" fill="hold"/>
                                        <p:tgtEl>
                                          <p:spTgt spid="22532"/>
                                        </p:tgtEl>
                                        <p:attrNameLst>
                                          <p:attrName>ppt_x</p:attrName>
                                        </p:attrNameLst>
                                      </p:cBhvr>
                                      <p:tavLst>
                                        <p:tav tm="0">
                                          <p:val>
                                            <p:strVal val="#ppt_x"/>
                                          </p:val>
                                        </p:tav>
                                        <p:tav tm="100000">
                                          <p:val>
                                            <p:strVal val="#ppt_x"/>
                                          </p:val>
                                        </p:tav>
                                      </p:tavLst>
                                    </p:anim>
                                    <p:anim calcmode="lin" valueType="num">
                                      <p:cBhvr>
                                        <p:cTn id="30" dur="1000" fill="hold"/>
                                        <p:tgtEl>
                                          <p:spTgt spid="225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Composer Installation</a:t>
            </a:r>
            <a:endParaRPr lang="en-US" dirty="0"/>
          </a:p>
        </p:txBody>
      </p:sp>
      <p:sp>
        <p:nvSpPr>
          <p:cNvPr id="3" name="Content Placeholder 2"/>
          <p:cNvSpPr>
            <a:spLocks noGrp="1"/>
          </p:cNvSpPr>
          <p:nvPr>
            <p:ph idx="1"/>
          </p:nvPr>
        </p:nvSpPr>
        <p:spPr>
          <a:xfrm>
            <a:off x="276045" y="1475117"/>
            <a:ext cx="11680614" cy="4701846"/>
          </a:xfrm>
        </p:spPr>
        <p:txBody>
          <a:bodyPr/>
          <a:lstStyle/>
          <a:p>
            <a:pPr algn="just"/>
            <a:r>
              <a:rPr lang="en-US" dirty="0">
                <a:latin typeface="Times New Roman" panose="02020603050405020304" pitchFamily="18" charset="0"/>
                <a:cs typeface="Times New Roman" panose="02020603050405020304" pitchFamily="18" charset="0"/>
              </a:rPr>
              <a:t>The installation of the composer is completed. Now we will check whether the composer is installed successfully or not. To check this, open the command prompt and type Composer.</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1034986" y="3064764"/>
            <a:ext cx="10506075" cy="2667000"/>
          </a:xfrm>
          <a:prstGeom prst="rect">
            <a:avLst/>
          </a:prstGeom>
        </p:spPr>
      </p:pic>
    </p:spTree>
    <p:extLst>
      <p:ext uri="{BB962C8B-B14F-4D97-AF65-F5344CB8AC3E}">
        <p14:creationId xmlns:p14="http://schemas.microsoft.com/office/powerpoint/2010/main" val="3630839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Composer Installation</a:t>
            </a:r>
            <a:endParaRPr lang="en-US" dirty="0"/>
          </a:p>
        </p:txBody>
      </p:sp>
      <p:sp>
        <p:nvSpPr>
          <p:cNvPr id="3" name="Content Placeholder 2"/>
          <p:cNvSpPr>
            <a:spLocks noGrp="1"/>
          </p:cNvSpPr>
          <p:nvPr>
            <p:ph idx="1"/>
          </p:nvPr>
        </p:nvSpPr>
        <p:spPr>
          <a:xfrm>
            <a:off x="276045" y="1475117"/>
            <a:ext cx="11680614" cy="4701846"/>
          </a:xfrm>
        </p:spPr>
        <p:txBody>
          <a:bodyPr/>
          <a:lstStyle/>
          <a:p>
            <a:pPr algn="just"/>
            <a:r>
              <a:rPr lang="en-US" b="1" dirty="0">
                <a:latin typeface="Times New Roman" panose="02020603050405020304" pitchFamily="18" charset="0"/>
                <a:cs typeface="Times New Roman" panose="02020603050405020304" pitchFamily="18" charset="0"/>
              </a:rPr>
              <a:t>After entering the Composer, press Enter.</a:t>
            </a:r>
            <a:endParaRPr lang="en-US" dirty="0" smtClean="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847725" y="1938528"/>
            <a:ext cx="10496550" cy="4362259"/>
          </a:xfrm>
          <a:prstGeom prst="rect">
            <a:avLst/>
          </a:prstGeom>
        </p:spPr>
      </p:pic>
    </p:spTree>
    <p:extLst>
      <p:ext uri="{BB962C8B-B14F-4D97-AF65-F5344CB8AC3E}">
        <p14:creationId xmlns:p14="http://schemas.microsoft.com/office/powerpoint/2010/main" val="2979208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fontScale="90000"/>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Creating First Laravel Project</a:t>
            </a:r>
          </a:p>
        </p:txBody>
      </p:sp>
      <p:sp>
        <p:nvSpPr>
          <p:cNvPr id="3" name="Content Placeholder 2"/>
          <p:cNvSpPr>
            <a:spLocks noGrp="1"/>
          </p:cNvSpPr>
          <p:nvPr>
            <p:ph idx="1"/>
          </p:nvPr>
        </p:nvSpPr>
        <p:spPr>
          <a:xfrm>
            <a:off x="276045" y="1819655"/>
            <a:ext cx="11680614" cy="4357307"/>
          </a:xfrm>
        </p:spPr>
        <p:txBody>
          <a:bodyPr/>
          <a:lstStyle/>
          <a:p>
            <a:pPr marL="0" indent="0" algn="just">
              <a:buNone/>
            </a:pPr>
            <a:r>
              <a:rPr lang="en-US" b="1" dirty="0">
                <a:latin typeface="Times New Roman" panose="02020603050405020304" pitchFamily="18" charset="0"/>
                <a:cs typeface="Times New Roman" panose="02020603050405020304" pitchFamily="18" charset="0"/>
                <a:hlinkClick r:id="rId2"/>
              </a:rPr>
              <a:t>Installation Via </a:t>
            </a:r>
            <a:r>
              <a:rPr lang="en-US" b="1" dirty="0" smtClean="0">
                <a:latin typeface="Times New Roman" panose="02020603050405020304" pitchFamily="18" charset="0"/>
                <a:cs typeface="Times New Roman" panose="02020603050405020304" pitchFamily="18" charset="0"/>
                <a:hlinkClick r:id="rId2"/>
              </a:rPr>
              <a:t>Composer</a:t>
            </a:r>
            <a:endParaRPr lang="en-US" b="1"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your computer already has PHP and Composer installed, you may create a new Laravel project by using Composer directly.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After </a:t>
            </a:r>
            <a:r>
              <a:rPr lang="en-US" dirty="0">
                <a:latin typeface="Times New Roman" panose="02020603050405020304" pitchFamily="18" charset="0"/>
                <a:cs typeface="Times New Roman" panose="02020603050405020304" pitchFamily="18" charset="0"/>
              </a:rPr>
              <a:t>the application has been created, you may start </a:t>
            </a:r>
            <a:r>
              <a:rPr lang="en-US" dirty="0" err="1">
                <a:latin typeface="Times New Roman" panose="02020603050405020304" pitchFamily="18" charset="0"/>
                <a:cs typeface="Times New Roman" panose="02020603050405020304" pitchFamily="18" charset="0"/>
              </a:rPr>
              <a:t>Laravel's</a:t>
            </a:r>
            <a:r>
              <a:rPr lang="en-US" dirty="0">
                <a:latin typeface="Times New Roman" panose="02020603050405020304" pitchFamily="18" charset="0"/>
                <a:cs typeface="Times New Roman" panose="02020603050405020304" pitchFamily="18" charset="0"/>
              </a:rPr>
              <a:t> local development server using the Artisan CLI's serve command:</a:t>
            </a:r>
          </a:p>
        </p:txBody>
      </p:sp>
      <p:pic>
        <p:nvPicPr>
          <p:cNvPr id="1026" name="Picture 2" descr="https://www.ru.edu.af/images/logo/bann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2297052" y="6362700"/>
            <a:ext cx="8391525" cy="495300"/>
          </a:xfrm>
          <a:prstGeom prst="rect">
            <a:avLst/>
          </a:prstGeom>
        </p:spPr>
      </p:pic>
      <p:pic>
        <p:nvPicPr>
          <p:cNvPr id="6" name="Picture 5"/>
          <p:cNvPicPr>
            <a:picLocks noChangeAspect="1"/>
          </p:cNvPicPr>
          <p:nvPr/>
        </p:nvPicPr>
        <p:blipFill>
          <a:blip r:embed="rId5"/>
          <a:stretch>
            <a:fillRect/>
          </a:stretch>
        </p:blipFill>
        <p:spPr>
          <a:xfrm>
            <a:off x="10324562" y="310551"/>
            <a:ext cx="1493628" cy="939023"/>
          </a:xfrm>
          <a:prstGeom prst="rect">
            <a:avLst/>
          </a:prstGeom>
        </p:spPr>
      </p:pic>
      <p:pic>
        <p:nvPicPr>
          <p:cNvPr id="4" name="Picture 3"/>
          <p:cNvPicPr>
            <a:picLocks noChangeAspect="1"/>
          </p:cNvPicPr>
          <p:nvPr/>
        </p:nvPicPr>
        <p:blipFill>
          <a:blip r:embed="rId6"/>
          <a:stretch>
            <a:fillRect/>
          </a:stretch>
        </p:blipFill>
        <p:spPr>
          <a:xfrm>
            <a:off x="2370204" y="4229100"/>
            <a:ext cx="7762875" cy="2133600"/>
          </a:xfrm>
          <a:prstGeom prst="rect">
            <a:avLst/>
          </a:prstGeom>
        </p:spPr>
      </p:pic>
    </p:spTree>
    <p:extLst>
      <p:ext uri="{BB962C8B-B14F-4D97-AF65-F5344CB8AC3E}">
        <p14:creationId xmlns:p14="http://schemas.microsoft.com/office/powerpoint/2010/main" val="2276137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1000"/>
                                        <p:tgtEl>
                                          <p:spTgt spid="4"/>
                                        </p:tgtEl>
                                      </p:cBhvr>
                                    </p:animEffect>
                                    <p:anim calcmode="lin" valueType="num">
                                      <p:cBhvr>
                                        <p:cTn id="36" dur="1000" fill="hold"/>
                                        <p:tgtEl>
                                          <p:spTgt spid="4"/>
                                        </p:tgtEl>
                                        <p:attrNameLst>
                                          <p:attrName>ppt_x</p:attrName>
                                        </p:attrNameLst>
                                      </p:cBhvr>
                                      <p:tavLst>
                                        <p:tav tm="0">
                                          <p:val>
                                            <p:strVal val="#ppt_x"/>
                                          </p:val>
                                        </p:tav>
                                        <p:tav tm="100000">
                                          <p:val>
                                            <p:strVal val="#ppt_x"/>
                                          </p:val>
                                        </p:tav>
                                      </p:tavLst>
                                    </p:anim>
                                    <p:anim calcmode="lin" valueType="num">
                                      <p:cBhvr>
                                        <p:cTn id="3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fontScale="90000"/>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Creating First Laravel Project</a:t>
            </a:r>
          </a:p>
        </p:txBody>
      </p:sp>
      <p:sp>
        <p:nvSpPr>
          <p:cNvPr id="3" name="Content Placeholder 2"/>
          <p:cNvSpPr>
            <a:spLocks noGrp="1"/>
          </p:cNvSpPr>
          <p:nvPr>
            <p:ph idx="1"/>
          </p:nvPr>
        </p:nvSpPr>
        <p:spPr>
          <a:xfrm>
            <a:off x="530351" y="1763161"/>
            <a:ext cx="11426307" cy="4413801"/>
          </a:xfrm>
        </p:spPr>
        <p:txBody>
          <a:bodyPr/>
          <a:lstStyle/>
          <a:p>
            <a:pPr marL="0" indent="0">
              <a:buNone/>
            </a:pPr>
            <a:r>
              <a:rPr lang="en-US" b="1" dirty="0">
                <a:latin typeface="Times New Roman" panose="02020603050405020304" pitchFamily="18" charset="0"/>
                <a:cs typeface="Times New Roman" panose="02020603050405020304" pitchFamily="18" charset="0"/>
                <a:hlinkClick r:id="rId2"/>
              </a:rPr>
              <a:t>The Laravel </a:t>
            </a:r>
            <a:r>
              <a:rPr lang="en-US" b="1" dirty="0" smtClean="0">
                <a:latin typeface="Times New Roman" panose="02020603050405020304" pitchFamily="18" charset="0"/>
                <a:cs typeface="Times New Roman" panose="02020603050405020304" pitchFamily="18" charset="0"/>
                <a:hlinkClick r:id="rId2"/>
              </a:rPr>
              <a:t>Installer</a:t>
            </a:r>
            <a:endParaRPr lang="en-US" b="1" dirty="0" smtClean="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Or, you may install the Laravel Installer as a global Composer dependency:</a:t>
            </a:r>
          </a:p>
        </p:txBody>
      </p:sp>
      <p:pic>
        <p:nvPicPr>
          <p:cNvPr id="1026" name="Picture 2" descr="https://www.ru.edu.af/images/logo/bann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2297052" y="6362700"/>
            <a:ext cx="8391525" cy="495300"/>
          </a:xfrm>
          <a:prstGeom prst="rect">
            <a:avLst/>
          </a:prstGeom>
        </p:spPr>
      </p:pic>
      <p:pic>
        <p:nvPicPr>
          <p:cNvPr id="6" name="Picture 5"/>
          <p:cNvPicPr>
            <a:picLocks noChangeAspect="1"/>
          </p:cNvPicPr>
          <p:nvPr/>
        </p:nvPicPr>
        <p:blipFill>
          <a:blip r:embed="rId5"/>
          <a:stretch>
            <a:fillRect/>
          </a:stretch>
        </p:blipFill>
        <p:spPr>
          <a:xfrm>
            <a:off x="10324562" y="310551"/>
            <a:ext cx="1493628" cy="939023"/>
          </a:xfrm>
          <a:prstGeom prst="rect">
            <a:avLst/>
          </a:prstGeom>
        </p:spPr>
      </p:pic>
      <p:pic>
        <p:nvPicPr>
          <p:cNvPr id="4" name="Picture 3"/>
          <p:cNvPicPr>
            <a:picLocks noChangeAspect="1"/>
          </p:cNvPicPr>
          <p:nvPr/>
        </p:nvPicPr>
        <p:blipFill>
          <a:blip r:embed="rId6"/>
          <a:stretch>
            <a:fillRect/>
          </a:stretch>
        </p:blipFill>
        <p:spPr>
          <a:xfrm>
            <a:off x="2616139" y="3258312"/>
            <a:ext cx="7753350" cy="2590800"/>
          </a:xfrm>
          <a:prstGeom prst="rect">
            <a:avLst/>
          </a:prstGeom>
        </p:spPr>
      </p:pic>
    </p:spTree>
    <p:extLst>
      <p:ext uri="{BB962C8B-B14F-4D97-AF65-F5344CB8AC3E}">
        <p14:creationId xmlns:p14="http://schemas.microsoft.com/office/powerpoint/2010/main" val="2827125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Directory Structure</a:t>
            </a:r>
          </a:p>
        </p:txBody>
      </p:sp>
      <p:sp>
        <p:nvSpPr>
          <p:cNvPr id="3" name="Content Placeholder 2"/>
          <p:cNvSpPr>
            <a:spLocks noGrp="1"/>
          </p:cNvSpPr>
          <p:nvPr>
            <p:ph idx="1"/>
          </p:nvPr>
        </p:nvSpPr>
        <p:spPr>
          <a:xfrm>
            <a:off x="276045" y="1475117"/>
            <a:ext cx="11680614" cy="4701846"/>
          </a:xfrm>
        </p:spPr>
        <p:txBody>
          <a:bodyPr/>
          <a:lstStyle/>
          <a:p>
            <a:pPr marL="0" indent="0" algn="just">
              <a:buNone/>
            </a:pPr>
            <a:r>
              <a:rPr lang="en-US" b="1" dirty="0">
                <a:solidFill>
                  <a:srgbClr val="C00000"/>
                </a:solidFill>
                <a:latin typeface="Times New Roman" panose="02020603050405020304" pitchFamily="18" charset="0"/>
                <a:cs typeface="Times New Roman" panose="02020603050405020304" pitchFamily="18" charset="0"/>
              </a:rPr>
              <a:t>A</a:t>
            </a:r>
            <a:r>
              <a:rPr lang="en-US" b="1" dirty="0" smtClean="0">
                <a:solidFill>
                  <a:srgbClr val="C00000"/>
                </a:solidFill>
                <a:latin typeface="Times New Roman" panose="02020603050405020304" pitchFamily="18" charset="0"/>
                <a:cs typeface="Times New Roman" panose="02020603050405020304" pitchFamily="18" charset="0"/>
              </a:rPr>
              <a:t>pp </a:t>
            </a:r>
            <a:r>
              <a:rPr lang="en-US" b="1" dirty="0">
                <a:solidFill>
                  <a:srgbClr val="C00000"/>
                </a:solidFill>
                <a:latin typeface="Times New Roman" panose="02020603050405020304" pitchFamily="18" charset="0"/>
                <a:cs typeface="Times New Roman" panose="02020603050405020304" pitchFamily="18" charset="0"/>
              </a:rPr>
              <a:t>D</a:t>
            </a:r>
            <a:r>
              <a:rPr lang="en-US" b="1" dirty="0" smtClean="0">
                <a:solidFill>
                  <a:srgbClr val="C00000"/>
                </a:solidFill>
                <a:latin typeface="Times New Roman" panose="02020603050405020304" pitchFamily="18" charset="0"/>
                <a:cs typeface="Times New Roman" panose="02020603050405020304" pitchFamily="18" charset="0"/>
              </a:rPr>
              <a:t>irectory</a:t>
            </a:r>
            <a:endParaRPr lang="en-US" b="1" dirty="0">
              <a:solidFill>
                <a:srgbClr val="C00000"/>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app directory contains the core code of your application. </a:t>
            </a:r>
            <a:r>
              <a:rPr lang="en-US" dirty="0" smtClean="0">
                <a:latin typeface="Times New Roman" panose="02020603050405020304" pitchFamily="18" charset="0"/>
                <a:cs typeface="Times New Roman" panose="02020603050405020304" pitchFamily="18" charset="0"/>
              </a:rPr>
              <a:t>almost </a:t>
            </a:r>
            <a:r>
              <a:rPr lang="en-US" dirty="0">
                <a:latin typeface="Times New Roman" panose="02020603050405020304" pitchFamily="18" charset="0"/>
                <a:cs typeface="Times New Roman" panose="02020603050405020304" pitchFamily="18" charset="0"/>
              </a:rPr>
              <a:t>all of the classes in your application will be in this directory</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The App folder contains the following sub-folders:</a:t>
            </a:r>
          </a:p>
          <a:p>
            <a:pPr lvl="1" algn="just"/>
            <a:r>
              <a:rPr lang="en-US" sz="2800" dirty="0">
                <a:latin typeface="Times New Roman" panose="02020603050405020304" pitchFamily="18" charset="0"/>
                <a:cs typeface="Times New Roman" panose="02020603050405020304" pitchFamily="18" charset="0"/>
              </a:rPr>
              <a:t>Console</a:t>
            </a:r>
          </a:p>
          <a:p>
            <a:pPr lvl="1" algn="just"/>
            <a:r>
              <a:rPr lang="en-US" sz="2800" dirty="0">
                <a:latin typeface="Times New Roman" panose="02020603050405020304" pitchFamily="18" charset="0"/>
                <a:cs typeface="Times New Roman" panose="02020603050405020304" pitchFamily="18" charset="0"/>
              </a:rPr>
              <a:t>Exceptions</a:t>
            </a:r>
          </a:p>
          <a:p>
            <a:pPr lvl="1" algn="just"/>
            <a:r>
              <a:rPr lang="en-US" sz="2800" dirty="0">
                <a:latin typeface="Times New Roman" panose="02020603050405020304" pitchFamily="18" charset="0"/>
                <a:cs typeface="Times New Roman" panose="02020603050405020304" pitchFamily="18" charset="0"/>
              </a:rPr>
              <a:t>Http</a:t>
            </a:r>
          </a:p>
          <a:p>
            <a:pPr lvl="1" algn="just"/>
            <a:r>
              <a:rPr lang="en-US" sz="2800" dirty="0">
                <a:latin typeface="Times New Roman" panose="02020603050405020304" pitchFamily="18" charset="0"/>
                <a:cs typeface="Times New Roman" panose="02020603050405020304" pitchFamily="18" charset="0"/>
              </a:rPr>
              <a:t>Providers</a:t>
            </a:r>
          </a:p>
          <a:p>
            <a:pPr algn="just"/>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4236842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animEffect transition="in" filter="fade">
                                      <p:cBhvr>
                                        <p:cTn id="38" dur="1000"/>
                                        <p:tgtEl>
                                          <p:spTgt spid="3">
                                            <p:txEl>
                                              <p:pRg st="4" end="4"/>
                                            </p:txEl>
                                          </p:spTgt>
                                        </p:tgtEl>
                                      </p:cBhvr>
                                    </p:animEffect>
                                    <p:anim calcmode="lin" valueType="num">
                                      <p:cBhvr>
                                        <p:cTn id="3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4" end="4"/>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Effect transition="in" filter="fade">
                                      <p:cBhvr>
                                        <p:cTn id="43" dur="1000"/>
                                        <p:tgtEl>
                                          <p:spTgt spid="3">
                                            <p:txEl>
                                              <p:pRg st="5" end="5"/>
                                            </p:txEl>
                                          </p:spTgt>
                                        </p:tgtEl>
                                      </p:cBhvr>
                                    </p:animEffect>
                                    <p:anim calcmode="lin" valueType="num">
                                      <p:cBhvr>
                                        <p:cTn id="44"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Effect transition="in" filter="fade">
                                      <p:cBhvr>
                                        <p:cTn id="48" dur="1000"/>
                                        <p:tgtEl>
                                          <p:spTgt spid="3">
                                            <p:txEl>
                                              <p:pRg st="6" end="6"/>
                                            </p:txEl>
                                          </p:spTgt>
                                        </p:tgtEl>
                                      </p:cBhvr>
                                    </p:animEffect>
                                    <p:anim calcmode="lin" valueType="num">
                                      <p:cBhvr>
                                        <p:cTn id="4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Directory Structure</a:t>
            </a:r>
          </a:p>
        </p:txBody>
      </p:sp>
      <p:sp>
        <p:nvSpPr>
          <p:cNvPr id="3" name="Content Placeholder 2"/>
          <p:cNvSpPr>
            <a:spLocks noGrp="1"/>
          </p:cNvSpPr>
          <p:nvPr>
            <p:ph idx="1"/>
          </p:nvPr>
        </p:nvSpPr>
        <p:spPr>
          <a:xfrm>
            <a:off x="276045" y="1475117"/>
            <a:ext cx="11680614" cy="4701846"/>
          </a:xfrm>
        </p:spPr>
        <p:txBody>
          <a:bodyPr/>
          <a:lstStyle/>
          <a:p>
            <a:pPr marL="0" indent="0" algn="just">
              <a:buNone/>
            </a:pPr>
            <a:r>
              <a:rPr lang="en-US" b="1" dirty="0">
                <a:solidFill>
                  <a:srgbClr val="C00000"/>
                </a:solidFill>
                <a:latin typeface="Times New Roman" panose="02020603050405020304" pitchFamily="18" charset="0"/>
                <a:cs typeface="Times New Roman" panose="02020603050405020304" pitchFamily="18" charset="0"/>
              </a:rPr>
              <a:t>Console</a:t>
            </a:r>
          </a:p>
          <a:p>
            <a:pPr algn="just"/>
            <a:r>
              <a:rPr lang="en-US" dirty="0">
                <a:latin typeface="Times New Roman" panose="02020603050405020304" pitchFamily="18" charset="0"/>
                <a:cs typeface="Times New Roman" panose="02020603050405020304" pitchFamily="18" charset="0"/>
              </a:rPr>
              <a:t>Console folder contains the artisan commands required for </a:t>
            </a:r>
            <a:r>
              <a:rPr lang="en-US" dirty="0" err="1">
                <a:latin typeface="Times New Roman" panose="02020603050405020304" pitchFamily="18" charset="0"/>
                <a:cs typeface="Times New Roman" panose="02020603050405020304" pitchFamily="18" charset="0"/>
              </a:rPr>
              <a:t>Laravel</a:t>
            </a:r>
            <a:r>
              <a:rPr lang="en-US" dirty="0">
                <a:latin typeface="Times New Roman" panose="02020603050405020304" pitchFamily="18" charset="0"/>
                <a:cs typeface="Times New Roman" panose="02020603050405020304" pitchFamily="18" charset="0"/>
              </a:rPr>
              <a:t>. It contains the commands which are declared with the appropriate signature.</a:t>
            </a:r>
          </a:p>
          <a:p>
            <a:pPr marL="0" indent="0" algn="just">
              <a:buNone/>
            </a:pPr>
            <a:r>
              <a:rPr lang="en-US" b="1" dirty="0">
                <a:solidFill>
                  <a:srgbClr val="C00000"/>
                </a:solidFill>
                <a:latin typeface="Times New Roman" panose="02020603050405020304" pitchFamily="18" charset="0"/>
                <a:cs typeface="Times New Roman" panose="02020603050405020304" pitchFamily="18" charset="0"/>
              </a:rPr>
              <a:t>Exceptions</a:t>
            </a:r>
          </a:p>
          <a:p>
            <a:pPr algn="just"/>
            <a:r>
              <a:rPr lang="en-US" dirty="0">
                <a:latin typeface="Times New Roman" panose="02020603050405020304" pitchFamily="18" charset="0"/>
                <a:cs typeface="Times New Roman" panose="02020603050405020304" pitchFamily="18" charset="0"/>
              </a:rPr>
              <a:t>Exceptions folder contains the various exception handlers. It handles the exceptions thrown by the </a:t>
            </a:r>
            <a:r>
              <a:rPr lang="en-US" dirty="0" err="1">
                <a:latin typeface="Times New Roman" panose="02020603050405020304" pitchFamily="18" charset="0"/>
                <a:cs typeface="Times New Roman" panose="02020603050405020304" pitchFamily="18" charset="0"/>
              </a:rPr>
              <a:t>Laravel</a:t>
            </a:r>
            <a:r>
              <a:rPr lang="en-US" dirty="0">
                <a:latin typeface="Times New Roman" panose="02020603050405020304" pitchFamily="18" charset="0"/>
                <a:cs typeface="Times New Roman" panose="02020603050405020304" pitchFamily="18" charset="0"/>
              </a:rPr>
              <a:t> project. The Exceptions directory contains the methods that handle the exceptions.</a:t>
            </a:r>
          </a:p>
          <a:p>
            <a:pPr algn="just"/>
            <a:r>
              <a:rPr lang="en-US" dirty="0">
                <a:latin typeface="Times New Roman" panose="02020603050405020304" pitchFamily="18" charset="0"/>
                <a:cs typeface="Times New Roman" panose="02020603050405020304" pitchFamily="18" charset="0"/>
              </a:rPr>
              <a:t>The Exceptions directory contains the file </a:t>
            </a:r>
            <a:r>
              <a:rPr lang="en-US" dirty="0" err="1">
                <a:latin typeface="Times New Roman" panose="02020603050405020304" pitchFamily="18" charset="0"/>
                <a:cs typeface="Times New Roman" panose="02020603050405020304" pitchFamily="18" charset="0"/>
              </a:rPr>
              <a:t>handle.php</a:t>
            </a:r>
            <a:r>
              <a:rPr lang="en-US" dirty="0">
                <a:latin typeface="Times New Roman" panose="02020603050405020304" pitchFamily="18" charset="0"/>
                <a:cs typeface="Times New Roman" panose="02020603050405020304" pitchFamily="18" charset="0"/>
              </a:rPr>
              <a:t> that handles all the exceptions.</a:t>
            </a:r>
          </a:p>
          <a:p>
            <a:endParaRPr lang="en-US" dirty="0"/>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1419879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Directory Structure</a:t>
            </a:r>
          </a:p>
        </p:txBody>
      </p:sp>
      <p:sp>
        <p:nvSpPr>
          <p:cNvPr id="3" name="Content Placeholder 2"/>
          <p:cNvSpPr>
            <a:spLocks noGrp="1"/>
          </p:cNvSpPr>
          <p:nvPr>
            <p:ph idx="1"/>
          </p:nvPr>
        </p:nvSpPr>
        <p:spPr>
          <a:xfrm>
            <a:off x="276045" y="1475117"/>
            <a:ext cx="11680614" cy="4701846"/>
          </a:xfrm>
        </p:spPr>
        <p:txBody>
          <a:bodyPr>
            <a:normAutofit lnSpcReduction="10000"/>
          </a:bodyPr>
          <a:lstStyle/>
          <a:p>
            <a:pPr marL="0" indent="0" algn="just">
              <a:buNone/>
            </a:pPr>
            <a:r>
              <a:rPr lang="en-US" b="1" dirty="0">
                <a:solidFill>
                  <a:srgbClr val="C00000"/>
                </a:solidFill>
                <a:latin typeface="Times New Roman" panose="02020603050405020304" pitchFamily="18" charset="0"/>
                <a:cs typeface="Times New Roman" panose="02020603050405020304" pitchFamily="18" charset="0"/>
              </a:rPr>
              <a:t>Http</a:t>
            </a:r>
            <a:endParaRPr lang="en-US" dirty="0">
              <a:solidFill>
                <a:srgbClr val="C00000"/>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http folder is a sub-folder of the app folder. It has sub-folders such as controllers, </a:t>
            </a:r>
            <a:r>
              <a:rPr lang="en-US" dirty="0" smtClean="0">
                <a:latin typeface="Times New Roman" panose="02020603050405020304" pitchFamily="18" charset="0"/>
                <a:cs typeface="Times New Roman" panose="02020603050405020304" pitchFamily="18" charset="0"/>
              </a:rPr>
              <a:t>middleware.</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Middleware: It is a sub-folder of the http directory. It provides a filter mechanism and communication between request and response</a:t>
            </a:r>
            <a:r>
              <a:rPr lang="en-US" dirty="0" smtClean="0">
                <a:latin typeface="Times New Roman" panose="02020603050405020304" pitchFamily="18" charset="0"/>
                <a:cs typeface="Times New Roman" panose="02020603050405020304" pitchFamily="18" charset="0"/>
              </a:rPr>
              <a:t>.</a:t>
            </a:r>
          </a:p>
          <a:p>
            <a:pPr marL="0" indent="0" algn="just">
              <a:lnSpc>
                <a:spcPct val="100000"/>
              </a:lnSpc>
              <a:buNone/>
            </a:pPr>
            <a:r>
              <a:rPr lang="en-US" b="1" dirty="0">
                <a:solidFill>
                  <a:srgbClr val="C00000"/>
                </a:solidFill>
                <a:latin typeface="Times New Roman" panose="02020603050405020304" pitchFamily="18" charset="0"/>
                <a:cs typeface="Times New Roman" panose="02020603050405020304" pitchFamily="18" charset="0"/>
              </a:rPr>
              <a:t>Model</a:t>
            </a:r>
          </a:p>
          <a:p>
            <a:pPr algn="just"/>
            <a:endParaRPr lang="en-US" dirty="0">
              <a:latin typeface="Times New Roman" panose="02020603050405020304" pitchFamily="18" charset="0"/>
              <a:cs typeface="Times New Roman" panose="02020603050405020304" pitchFamily="18" charset="0"/>
            </a:endParaRPr>
          </a:p>
          <a:p>
            <a:pPr marL="0" indent="0" algn="just">
              <a:buNone/>
            </a:pPr>
            <a:r>
              <a:rPr lang="en-US" b="1" dirty="0">
                <a:solidFill>
                  <a:srgbClr val="C00000"/>
                </a:solidFill>
                <a:latin typeface="Times New Roman" panose="02020603050405020304" pitchFamily="18" charset="0"/>
                <a:cs typeface="Times New Roman" panose="02020603050405020304" pitchFamily="18" charset="0"/>
              </a:rPr>
              <a:t>Providers</a:t>
            </a:r>
          </a:p>
          <a:p>
            <a:pPr algn="just"/>
            <a:r>
              <a:rPr lang="en-US" dirty="0">
                <a:latin typeface="Times New Roman" panose="02020603050405020304" pitchFamily="18" charset="0"/>
                <a:cs typeface="Times New Roman" panose="02020603050405020304" pitchFamily="18" charset="0"/>
              </a:rPr>
              <a:t>The Providers directory is used to contain all the service providers that are required to register events for core servers and provides configuration for </a:t>
            </a:r>
            <a:r>
              <a:rPr lang="en-US" dirty="0" err="1">
                <a:latin typeface="Times New Roman" panose="02020603050405020304" pitchFamily="18" charset="0"/>
                <a:cs typeface="Times New Roman" panose="02020603050405020304" pitchFamily="18" charset="0"/>
              </a:rPr>
              <a:t>Laravel</a:t>
            </a:r>
            <a:r>
              <a:rPr lang="en-US" dirty="0">
                <a:latin typeface="Times New Roman" panose="02020603050405020304" pitchFamily="18" charset="0"/>
                <a:cs typeface="Times New Roman" panose="02020603050405020304" pitchFamily="18" charset="0"/>
              </a:rPr>
              <a:t> application.</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1078008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Directory Structure</a:t>
            </a:r>
          </a:p>
        </p:txBody>
      </p:sp>
      <p:sp>
        <p:nvSpPr>
          <p:cNvPr id="3" name="Content Placeholder 2"/>
          <p:cNvSpPr>
            <a:spLocks noGrp="1"/>
          </p:cNvSpPr>
          <p:nvPr>
            <p:ph idx="1"/>
          </p:nvPr>
        </p:nvSpPr>
        <p:spPr>
          <a:xfrm>
            <a:off x="276045" y="1475117"/>
            <a:ext cx="11680614" cy="4701846"/>
          </a:xfrm>
        </p:spPr>
        <p:txBody>
          <a:bodyPr/>
          <a:lstStyle/>
          <a:p>
            <a:pPr marL="0" indent="0" algn="just">
              <a:buNone/>
            </a:pPr>
            <a:r>
              <a:rPr lang="en-US" b="1" dirty="0">
                <a:solidFill>
                  <a:srgbClr val="C00000"/>
                </a:solidFill>
                <a:latin typeface="Times New Roman" panose="02020603050405020304" pitchFamily="18" charset="0"/>
                <a:cs typeface="Times New Roman" panose="02020603050405020304" pitchFamily="18" charset="0"/>
              </a:rPr>
              <a:t>B</a:t>
            </a:r>
            <a:r>
              <a:rPr lang="en-US" b="1" dirty="0" smtClean="0">
                <a:solidFill>
                  <a:srgbClr val="C00000"/>
                </a:solidFill>
                <a:latin typeface="Times New Roman" panose="02020603050405020304" pitchFamily="18" charset="0"/>
                <a:cs typeface="Times New Roman" panose="02020603050405020304" pitchFamily="18" charset="0"/>
              </a:rPr>
              <a:t>ootstrap </a:t>
            </a:r>
            <a:r>
              <a:rPr lang="en-US" b="1" dirty="0">
                <a:solidFill>
                  <a:srgbClr val="C00000"/>
                </a:solidFill>
                <a:latin typeface="Times New Roman" panose="02020603050405020304" pitchFamily="18" charset="0"/>
                <a:cs typeface="Times New Roman" panose="02020603050405020304" pitchFamily="18" charset="0"/>
              </a:rPr>
              <a:t>D</a:t>
            </a:r>
            <a:r>
              <a:rPr lang="en-US" b="1" dirty="0" smtClean="0">
                <a:solidFill>
                  <a:srgbClr val="C00000"/>
                </a:solidFill>
                <a:latin typeface="Times New Roman" panose="02020603050405020304" pitchFamily="18" charset="0"/>
                <a:cs typeface="Times New Roman" panose="02020603050405020304" pitchFamily="18" charset="0"/>
              </a:rPr>
              <a:t>irectory</a:t>
            </a:r>
            <a:endParaRPr lang="en-US" b="1" dirty="0">
              <a:solidFill>
                <a:srgbClr val="C00000"/>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bootstrap directory contains the </a:t>
            </a:r>
            <a:r>
              <a:rPr lang="en-US" dirty="0" err="1">
                <a:latin typeface="Times New Roman" panose="02020603050405020304" pitchFamily="18" charset="0"/>
                <a:cs typeface="Times New Roman" panose="02020603050405020304" pitchFamily="18" charset="0"/>
              </a:rPr>
              <a:t>app.php</a:t>
            </a:r>
            <a:r>
              <a:rPr lang="en-US" dirty="0">
                <a:latin typeface="Times New Roman" panose="02020603050405020304" pitchFamily="18" charset="0"/>
                <a:cs typeface="Times New Roman" panose="02020603050405020304" pitchFamily="18" charset="0"/>
              </a:rPr>
              <a:t> file which bootstraps the framework</a:t>
            </a: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bootstrap folder contains a sub-folder cache used for caching a web application</a:t>
            </a: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You </a:t>
            </a:r>
            <a:r>
              <a:rPr lang="en-US" dirty="0">
                <a:latin typeface="Times New Roman" panose="02020603050405020304" pitchFamily="18" charset="0"/>
                <a:cs typeface="Times New Roman" panose="02020603050405020304" pitchFamily="18" charset="0"/>
              </a:rPr>
              <a:t>should not typically need to modify any files within this directory</a:t>
            </a:r>
            <a:r>
              <a:rPr lang="en-US" dirty="0" smtClean="0">
                <a:latin typeface="Times New Roman" panose="02020603050405020304" pitchFamily="18" charset="0"/>
                <a:cs typeface="Times New Roman" panose="02020603050405020304" pitchFamily="18" charset="0"/>
              </a:rPr>
              <a:t>.</a:t>
            </a:r>
          </a:p>
          <a:p>
            <a:pPr algn="just"/>
            <a:endParaRPr lang="en-US" dirty="0" smtClean="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1732579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Directory Structure</a:t>
            </a:r>
          </a:p>
        </p:txBody>
      </p:sp>
      <p:sp>
        <p:nvSpPr>
          <p:cNvPr id="3" name="Content Placeholder 2"/>
          <p:cNvSpPr>
            <a:spLocks noGrp="1"/>
          </p:cNvSpPr>
          <p:nvPr>
            <p:ph idx="1"/>
          </p:nvPr>
        </p:nvSpPr>
        <p:spPr>
          <a:xfrm>
            <a:off x="276045" y="1475117"/>
            <a:ext cx="11680614" cy="4701846"/>
          </a:xfrm>
        </p:spPr>
        <p:txBody>
          <a:bodyPr/>
          <a:lstStyle/>
          <a:p>
            <a:pPr marL="0" indent="0" algn="just">
              <a:buNone/>
            </a:pPr>
            <a:r>
              <a:rPr lang="en-US" b="1" dirty="0" err="1">
                <a:solidFill>
                  <a:srgbClr val="C00000"/>
                </a:solidFill>
                <a:latin typeface="Times New Roman" panose="02020603050405020304" pitchFamily="18" charset="0"/>
                <a:cs typeface="Times New Roman" panose="02020603050405020304" pitchFamily="18" charset="0"/>
              </a:rPr>
              <a:t>C</a:t>
            </a:r>
            <a:r>
              <a:rPr lang="en-US" b="1" dirty="0" err="1" smtClean="0">
                <a:solidFill>
                  <a:srgbClr val="C00000"/>
                </a:solidFill>
                <a:latin typeface="Times New Roman" panose="02020603050405020304" pitchFamily="18" charset="0"/>
                <a:cs typeface="Times New Roman" panose="02020603050405020304" pitchFamily="18" charset="0"/>
              </a:rPr>
              <a:t>onfig</a:t>
            </a:r>
            <a:r>
              <a:rPr lang="en-US" b="1" dirty="0" smtClean="0">
                <a:solidFill>
                  <a:srgbClr val="C00000"/>
                </a:solidFill>
                <a:latin typeface="Times New Roman" panose="02020603050405020304" pitchFamily="18" charset="0"/>
                <a:cs typeface="Times New Roman" panose="02020603050405020304" pitchFamily="18" charset="0"/>
              </a:rPr>
              <a:t> </a:t>
            </a:r>
            <a:r>
              <a:rPr lang="en-US" b="1" dirty="0">
                <a:solidFill>
                  <a:srgbClr val="C00000"/>
                </a:solidFill>
                <a:latin typeface="Times New Roman" panose="02020603050405020304" pitchFamily="18" charset="0"/>
                <a:cs typeface="Times New Roman" panose="02020603050405020304" pitchFamily="18" charset="0"/>
              </a:rPr>
              <a:t>D</a:t>
            </a:r>
            <a:r>
              <a:rPr lang="en-US" b="1" dirty="0" smtClean="0">
                <a:solidFill>
                  <a:srgbClr val="C00000"/>
                </a:solidFill>
                <a:latin typeface="Times New Roman" panose="02020603050405020304" pitchFamily="18" charset="0"/>
                <a:cs typeface="Times New Roman" panose="02020603050405020304" pitchFamily="18" charset="0"/>
              </a:rPr>
              <a:t>irectory</a:t>
            </a:r>
            <a:endParaRPr lang="en-US" b="1" dirty="0">
              <a:solidFill>
                <a:srgbClr val="C00000"/>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config</a:t>
            </a:r>
            <a:r>
              <a:rPr lang="en-US" dirty="0">
                <a:latin typeface="Times New Roman" panose="02020603050405020304" pitchFamily="18" charset="0"/>
                <a:cs typeface="Times New Roman" panose="02020603050405020304" pitchFamily="18" charset="0"/>
              </a:rPr>
              <a:t> directory, as the name implies, contains all of your application's </a:t>
            </a:r>
            <a:r>
              <a:rPr lang="en-US" dirty="0" smtClean="0">
                <a:latin typeface="Times New Roman" panose="02020603050405020304" pitchFamily="18" charset="0"/>
                <a:cs typeface="Times New Roman" panose="02020603050405020304" pitchFamily="18" charset="0"/>
              </a:rPr>
              <a:t>configuration </a:t>
            </a:r>
            <a:r>
              <a:rPr lang="en-US" dirty="0">
                <a:latin typeface="Times New Roman" panose="02020603050405020304" pitchFamily="18" charset="0"/>
                <a:cs typeface="Times New Roman" panose="02020603050405020304" pitchFamily="18" charset="0"/>
              </a:rPr>
              <a:t>files</a:t>
            </a:r>
            <a:r>
              <a:rPr lang="en-US" dirty="0" smtClean="0">
                <a:latin typeface="Times New Roman" panose="02020603050405020304" pitchFamily="18" charset="0"/>
                <a:cs typeface="Times New Roman" panose="02020603050405020304" pitchFamily="18" charset="0"/>
              </a:rPr>
              <a:t>.</a:t>
            </a:r>
          </a:p>
          <a:p>
            <a:pPr marL="0" indent="0" algn="just">
              <a:buNone/>
            </a:pPr>
            <a:r>
              <a:rPr lang="en-US" b="1" dirty="0">
                <a:solidFill>
                  <a:srgbClr val="C00000"/>
                </a:solidFill>
                <a:latin typeface="Times New Roman" panose="02020603050405020304" pitchFamily="18" charset="0"/>
                <a:cs typeface="Times New Roman" panose="02020603050405020304" pitchFamily="18" charset="0"/>
              </a:rPr>
              <a:t>Database Directory</a:t>
            </a:r>
          </a:p>
          <a:p>
            <a:pPr algn="just"/>
            <a:r>
              <a:rPr lang="en-US" dirty="0">
                <a:latin typeface="Times New Roman" panose="02020603050405020304" pitchFamily="18" charset="0"/>
                <a:cs typeface="Times New Roman" panose="02020603050405020304" pitchFamily="18" charset="0"/>
              </a:rPr>
              <a:t>The database directory holds the database files. It contains </a:t>
            </a:r>
            <a:r>
              <a:rPr lang="en-US" dirty="0" smtClean="0">
                <a:latin typeface="Times New Roman" panose="02020603050405020304" pitchFamily="18" charset="0"/>
                <a:cs typeface="Times New Roman" panose="02020603050405020304" pitchFamily="18" charset="0"/>
              </a:rPr>
              <a:t>sub-folders:</a:t>
            </a:r>
          </a:p>
          <a:p>
            <a:pPr lvl="1" algn="just"/>
            <a:r>
              <a:rPr lang="en-US" sz="3200" dirty="0" smtClean="0">
                <a:latin typeface="Times New Roman" panose="02020603050405020304" pitchFamily="18" charset="0"/>
                <a:cs typeface="Times New Roman" panose="02020603050405020304" pitchFamily="18" charset="0"/>
              </a:rPr>
              <a:t>Factories</a:t>
            </a:r>
            <a:endParaRPr lang="en-US" sz="3200" dirty="0">
              <a:latin typeface="Times New Roman" panose="02020603050405020304" pitchFamily="18" charset="0"/>
              <a:cs typeface="Times New Roman" panose="02020603050405020304" pitchFamily="18" charset="0"/>
            </a:endParaRPr>
          </a:p>
          <a:p>
            <a:pPr lvl="1" algn="just"/>
            <a:r>
              <a:rPr lang="en-US" sz="3200" dirty="0" smtClean="0">
                <a:latin typeface="Times New Roman" panose="02020603050405020304" pitchFamily="18" charset="0"/>
                <a:cs typeface="Times New Roman" panose="02020603050405020304" pitchFamily="18" charset="0"/>
              </a:rPr>
              <a:t>Migrations</a:t>
            </a:r>
            <a:endParaRPr lang="en-US" sz="3200" dirty="0">
              <a:latin typeface="Times New Roman" panose="02020603050405020304" pitchFamily="18" charset="0"/>
              <a:cs typeface="Times New Roman" panose="02020603050405020304" pitchFamily="18" charset="0"/>
            </a:endParaRPr>
          </a:p>
          <a:p>
            <a:pPr lvl="1" algn="just"/>
            <a:r>
              <a:rPr lang="en-US" sz="3200" dirty="0" smtClean="0">
                <a:latin typeface="Times New Roman" panose="02020603050405020304" pitchFamily="18" charset="0"/>
                <a:cs typeface="Times New Roman" panose="02020603050405020304" pitchFamily="18" charset="0"/>
              </a:rPr>
              <a:t>seeds</a:t>
            </a:r>
            <a:endParaRPr lang="en-US" sz="3200"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2043698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1000"/>
                                        <p:tgtEl>
                                          <p:spTgt spid="3">
                                            <p:txEl>
                                              <p:pRg st="4" end="4"/>
                                            </p:txEl>
                                          </p:spTgt>
                                        </p:tgtEl>
                                      </p:cBhvr>
                                    </p:animEffect>
                                    <p:anim calcmode="lin" valueType="num">
                                      <p:cBhvr>
                                        <p:cTn id="4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4" end="4"/>
                                            </p:tx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3">
                                            <p:txEl>
                                              <p:pRg st="5" end="5"/>
                                            </p:txEl>
                                          </p:spTgt>
                                        </p:tgtEl>
                                        <p:attrNameLst>
                                          <p:attrName>style.visibility</p:attrName>
                                        </p:attrNameLst>
                                      </p:cBhvr>
                                      <p:to>
                                        <p:strVal val="visible"/>
                                      </p:to>
                                    </p:set>
                                    <p:animEffect transition="in" filter="fade">
                                      <p:cBhvr>
                                        <p:cTn id="45" dur="1000"/>
                                        <p:tgtEl>
                                          <p:spTgt spid="3">
                                            <p:txEl>
                                              <p:pRg st="5" end="5"/>
                                            </p:txEl>
                                          </p:spTgt>
                                        </p:tgtEl>
                                      </p:cBhvr>
                                    </p:animEffect>
                                    <p:anim calcmode="lin" valueType="num">
                                      <p:cBhvr>
                                        <p:cTn id="4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3">
                                            <p:txEl>
                                              <p:pRg st="6" end="6"/>
                                            </p:txEl>
                                          </p:spTgt>
                                        </p:tgtEl>
                                        <p:attrNameLst>
                                          <p:attrName>style.visibility</p:attrName>
                                        </p:attrNameLst>
                                      </p:cBhvr>
                                      <p:to>
                                        <p:strVal val="visible"/>
                                      </p:to>
                                    </p:set>
                                    <p:animEffect transition="in" filter="fade">
                                      <p:cBhvr>
                                        <p:cTn id="50" dur="1000"/>
                                        <p:tgtEl>
                                          <p:spTgt spid="3">
                                            <p:txEl>
                                              <p:pRg st="6" end="6"/>
                                            </p:txEl>
                                          </p:spTgt>
                                        </p:tgtEl>
                                      </p:cBhvr>
                                    </p:animEffect>
                                    <p:anim calcmode="lin" valueType="num">
                                      <p:cBhvr>
                                        <p:cTn id="51"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2"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Directory Structure</a:t>
            </a:r>
          </a:p>
        </p:txBody>
      </p:sp>
      <p:sp>
        <p:nvSpPr>
          <p:cNvPr id="3" name="Content Placeholder 2"/>
          <p:cNvSpPr>
            <a:spLocks noGrp="1"/>
          </p:cNvSpPr>
          <p:nvPr>
            <p:ph idx="1"/>
          </p:nvPr>
        </p:nvSpPr>
        <p:spPr>
          <a:xfrm>
            <a:off x="276045" y="1810511"/>
            <a:ext cx="11680614" cy="4366451"/>
          </a:xfrm>
        </p:spPr>
        <p:txBody>
          <a:bodyPr/>
          <a:lstStyle/>
          <a:p>
            <a:pPr marL="0" indent="0" algn="just">
              <a:buNone/>
            </a:pPr>
            <a:r>
              <a:rPr lang="en-US" b="1" dirty="0" smtClean="0">
                <a:solidFill>
                  <a:srgbClr val="C00000"/>
                </a:solidFill>
                <a:latin typeface="Times New Roman" panose="02020603050405020304" pitchFamily="18" charset="0"/>
                <a:cs typeface="Times New Roman" panose="02020603050405020304" pitchFamily="18" charset="0"/>
              </a:rPr>
              <a:t>Lang Directory</a:t>
            </a:r>
          </a:p>
          <a:p>
            <a:pPr algn="just"/>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lang</a:t>
            </a:r>
            <a:r>
              <a:rPr lang="en-US" dirty="0">
                <a:latin typeface="Times New Roman" panose="02020603050405020304" pitchFamily="18" charset="0"/>
                <a:cs typeface="Times New Roman" panose="02020603050405020304" pitchFamily="18" charset="0"/>
              </a:rPr>
              <a:t> directory houses all of your application's language files</a:t>
            </a:r>
            <a:r>
              <a:rPr lang="en-US" dirty="0" smtClean="0">
                <a:latin typeface="Times New Roman" panose="02020603050405020304" pitchFamily="18" charset="0"/>
                <a:cs typeface="Times New Roman" panose="02020603050405020304" pitchFamily="18" charset="0"/>
              </a:rPr>
              <a:t>.</a:t>
            </a:r>
          </a:p>
          <a:p>
            <a:pPr marL="0" indent="0" algn="just">
              <a:buNone/>
            </a:pPr>
            <a:r>
              <a:rPr lang="en-US" b="1" dirty="0">
                <a:solidFill>
                  <a:srgbClr val="C00000"/>
                </a:solidFill>
                <a:latin typeface="Times New Roman" panose="02020603050405020304" pitchFamily="18" charset="0"/>
                <a:cs typeface="Times New Roman" panose="02020603050405020304" pitchFamily="18" charset="0"/>
              </a:rPr>
              <a:t>Public Directory</a:t>
            </a:r>
          </a:p>
          <a:p>
            <a:pPr algn="just"/>
            <a:r>
              <a:rPr lang="en-US" dirty="0">
                <a:latin typeface="Times New Roman" panose="02020603050405020304" pitchFamily="18" charset="0"/>
                <a:cs typeface="Times New Roman" panose="02020603050405020304" pitchFamily="18" charset="0"/>
              </a:rPr>
              <a:t>The public directory contains the </a:t>
            </a:r>
            <a:r>
              <a:rPr lang="en-US" dirty="0" err="1">
                <a:latin typeface="Times New Roman" panose="02020603050405020304" pitchFamily="18" charset="0"/>
                <a:cs typeface="Times New Roman" panose="02020603050405020304" pitchFamily="18" charset="0"/>
              </a:rPr>
              <a:t>index.php</a:t>
            </a:r>
            <a:r>
              <a:rPr lang="en-US" dirty="0">
                <a:latin typeface="Times New Roman" panose="02020603050405020304" pitchFamily="18" charset="0"/>
                <a:cs typeface="Times New Roman" panose="02020603050405020304" pitchFamily="18" charset="0"/>
              </a:rPr>
              <a:t> file, which is the entry point for all requests entering your application and configures </a:t>
            </a:r>
            <a:r>
              <a:rPr lang="en-US" dirty="0" err="1">
                <a:latin typeface="Times New Roman" panose="02020603050405020304" pitchFamily="18" charset="0"/>
                <a:cs typeface="Times New Roman" panose="02020603050405020304" pitchFamily="18" charset="0"/>
              </a:rPr>
              <a:t>autoloading</a:t>
            </a:r>
            <a:r>
              <a:rPr lang="en-US" dirty="0">
                <a:latin typeface="Times New Roman" panose="02020603050405020304" pitchFamily="18" charset="0"/>
                <a:cs typeface="Times New Roman" panose="02020603050405020304" pitchFamily="18" charset="0"/>
              </a:rPr>
              <a:t>. This directory also houses your assets such as images, JavaScript, and CSS.</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3680845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Directory Structure</a:t>
            </a:r>
          </a:p>
        </p:txBody>
      </p:sp>
      <p:sp>
        <p:nvSpPr>
          <p:cNvPr id="3" name="Content Placeholder 2"/>
          <p:cNvSpPr>
            <a:spLocks noGrp="1"/>
          </p:cNvSpPr>
          <p:nvPr>
            <p:ph idx="1"/>
          </p:nvPr>
        </p:nvSpPr>
        <p:spPr>
          <a:xfrm>
            <a:off x="276045" y="1475117"/>
            <a:ext cx="11680614" cy="4701846"/>
          </a:xfrm>
        </p:spPr>
        <p:txBody>
          <a:bodyPr/>
          <a:lstStyle/>
          <a:p>
            <a:pPr marL="0" indent="0" algn="just">
              <a:buNone/>
            </a:pPr>
            <a:r>
              <a:rPr lang="en-US" b="1" dirty="0">
                <a:solidFill>
                  <a:srgbClr val="C00000"/>
                </a:solidFill>
                <a:latin typeface="Times New Roman" panose="02020603050405020304" pitchFamily="18" charset="0"/>
                <a:cs typeface="Times New Roman" panose="02020603050405020304" pitchFamily="18" charset="0"/>
              </a:rPr>
              <a:t>Resource </a:t>
            </a:r>
            <a:r>
              <a:rPr lang="en-US" b="1" dirty="0" smtClean="0">
                <a:solidFill>
                  <a:srgbClr val="C00000"/>
                </a:solidFill>
                <a:latin typeface="Times New Roman" panose="02020603050405020304" pitchFamily="18" charset="0"/>
                <a:cs typeface="Times New Roman" panose="02020603050405020304" pitchFamily="18" charset="0"/>
              </a:rPr>
              <a:t>Directory</a:t>
            </a:r>
            <a:endParaRPr lang="en-US" b="1" dirty="0">
              <a:solidFill>
                <a:srgbClr val="C00000"/>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resources directory contains your views as well as your raw, un-compiled assets such as CSS or JavaScript</a:t>
            </a:r>
            <a:r>
              <a:rPr lang="en-US" dirty="0" smtClean="0">
                <a:latin typeface="Times New Roman" panose="02020603050405020304" pitchFamily="18" charset="0"/>
                <a:cs typeface="Times New Roman" panose="02020603050405020304" pitchFamily="18" charset="0"/>
              </a:rPr>
              <a:t>.</a:t>
            </a:r>
          </a:p>
          <a:p>
            <a:pPr algn="just"/>
            <a:r>
              <a:rPr lang="en-US" b="1" dirty="0">
                <a:latin typeface="Times New Roman" panose="02020603050405020304" pitchFamily="18" charset="0"/>
                <a:cs typeface="Times New Roman" panose="02020603050405020304" pitchFamily="18" charset="0"/>
              </a:rPr>
              <a:t>Views:</a:t>
            </a:r>
            <a:r>
              <a:rPr lang="en-US" dirty="0">
                <a:latin typeface="Times New Roman" panose="02020603050405020304" pitchFamily="18" charset="0"/>
                <a:cs typeface="Times New Roman" panose="02020603050405020304" pitchFamily="18" charset="0"/>
              </a:rPr>
              <a:t> The views folder contains html files used to interact with the end-users, and it also plays an important role in MVC architecture.</a:t>
            </a:r>
          </a:p>
          <a:p>
            <a:pPr marL="0" indent="0" algn="just">
              <a:buNone/>
            </a:pPr>
            <a:r>
              <a:rPr lang="en-US" b="1" dirty="0">
                <a:solidFill>
                  <a:srgbClr val="C00000"/>
                </a:solidFill>
                <a:latin typeface="Times New Roman" panose="02020603050405020304" pitchFamily="18" charset="0"/>
                <a:cs typeface="Times New Roman" panose="02020603050405020304" pitchFamily="18" charset="0"/>
              </a:rPr>
              <a:t>Routes Directory</a:t>
            </a:r>
          </a:p>
          <a:p>
            <a:pPr algn="just"/>
            <a:r>
              <a:rPr lang="en-US" dirty="0">
                <a:latin typeface="Times New Roman" panose="02020603050405020304" pitchFamily="18" charset="0"/>
                <a:cs typeface="Times New Roman" panose="02020603050405020304" pitchFamily="18" charset="0"/>
              </a:rPr>
              <a:t>The routes directory contains all of the route definitions for your application</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By default, several route files are included with </a:t>
            </a:r>
            <a:r>
              <a:rPr lang="en-US" dirty="0" err="1">
                <a:latin typeface="Times New Roman" panose="02020603050405020304" pitchFamily="18" charset="0"/>
                <a:cs typeface="Times New Roman" panose="02020603050405020304" pitchFamily="18" charset="0"/>
              </a:rPr>
              <a:t>Laravel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web.php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api.php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console.php</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channels.php</a:t>
            </a:r>
            <a:r>
              <a:rPr lang="en-US" dirty="0">
                <a:latin typeface="Times New Roman" panose="02020603050405020304" pitchFamily="18" charset="0"/>
                <a:cs typeface="Times New Roman" panose="02020603050405020304" pitchFamily="18" charset="0"/>
              </a:rPr>
              <a:t>.</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2572691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1000"/>
                                        <p:tgtEl>
                                          <p:spTgt spid="3">
                                            <p:txEl>
                                              <p:pRg st="5" end="5"/>
                                            </p:txEl>
                                          </p:spTgt>
                                        </p:tgtEl>
                                      </p:cBhvr>
                                    </p:animEffect>
                                    <p:anim calcmode="lin" valueType="num">
                                      <p:cBhvr>
                                        <p:cTn id="5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Directory Structure</a:t>
            </a:r>
          </a:p>
        </p:txBody>
      </p:sp>
      <p:sp>
        <p:nvSpPr>
          <p:cNvPr id="3" name="Content Placeholder 2"/>
          <p:cNvSpPr>
            <a:spLocks noGrp="1"/>
          </p:cNvSpPr>
          <p:nvPr>
            <p:ph idx="1"/>
          </p:nvPr>
        </p:nvSpPr>
        <p:spPr>
          <a:xfrm>
            <a:off x="276045" y="1801367"/>
            <a:ext cx="11680614" cy="4375595"/>
          </a:xfrm>
        </p:spPr>
        <p:txBody>
          <a:bodyPr/>
          <a:lstStyle/>
          <a:p>
            <a:pPr marL="0" indent="0" algn="just">
              <a:buNone/>
            </a:pPr>
            <a:r>
              <a:rPr lang="en-US" b="1" dirty="0">
                <a:solidFill>
                  <a:srgbClr val="C00000"/>
                </a:solidFill>
                <a:latin typeface="Times New Roman" panose="02020603050405020304" pitchFamily="18" charset="0"/>
                <a:cs typeface="Times New Roman" panose="02020603050405020304" pitchFamily="18" charset="0"/>
              </a:rPr>
              <a:t>Storage Directory</a:t>
            </a:r>
          </a:p>
          <a:p>
            <a:pPr algn="just"/>
            <a:r>
              <a:rPr lang="en-US" dirty="0">
                <a:latin typeface="Times New Roman" panose="02020603050405020304" pitchFamily="18" charset="0"/>
                <a:cs typeface="Times New Roman" panose="02020603050405020304" pitchFamily="18" charset="0"/>
              </a:rPr>
              <a:t>The storage directory contains your logs, compiled Blade templates, file based sessions, file caches, and other files generated by the framework</a:t>
            </a:r>
            <a:r>
              <a:rPr lang="en-US" dirty="0" smtClean="0">
                <a:latin typeface="Times New Roman" panose="02020603050405020304" pitchFamily="18" charset="0"/>
                <a:cs typeface="Times New Roman" panose="02020603050405020304" pitchFamily="18" charset="0"/>
              </a:rPr>
              <a:t>.</a:t>
            </a:r>
          </a:p>
          <a:p>
            <a:pPr lvl="1" algn="just"/>
            <a:r>
              <a:rPr lang="en-US" sz="2800" dirty="0" smtClean="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app</a:t>
            </a:r>
            <a:r>
              <a:rPr lang="en-US" sz="2800" dirty="0">
                <a:latin typeface="Times New Roman" panose="02020603050405020304" pitchFamily="18" charset="0"/>
                <a:cs typeface="Times New Roman" panose="02020603050405020304" pitchFamily="18" charset="0"/>
              </a:rPr>
              <a:t> directory may be used to store any files generated by your application</a:t>
            </a:r>
            <a:r>
              <a:rPr lang="en-US" sz="2800" dirty="0" smtClean="0">
                <a:latin typeface="Times New Roman" panose="02020603050405020304" pitchFamily="18" charset="0"/>
                <a:cs typeface="Times New Roman" panose="02020603050405020304" pitchFamily="18" charset="0"/>
              </a:rPr>
              <a:t>.</a:t>
            </a:r>
          </a:p>
          <a:p>
            <a:pPr lvl="1" algn="just"/>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framework</a:t>
            </a:r>
            <a:r>
              <a:rPr lang="en-US" sz="2800" dirty="0">
                <a:latin typeface="Times New Roman" panose="02020603050405020304" pitchFamily="18" charset="0"/>
                <a:cs typeface="Times New Roman" panose="02020603050405020304" pitchFamily="18" charset="0"/>
              </a:rPr>
              <a:t> directory is used to store framework generated files and caches. </a:t>
            </a:r>
            <a:endParaRPr lang="en-US" sz="2800" dirty="0" smtClean="0">
              <a:latin typeface="Times New Roman" panose="02020603050405020304" pitchFamily="18" charset="0"/>
              <a:cs typeface="Times New Roman" panose="02020603050405020304" pitchFamily="18" charset="0"/>
            </a:endParaRPr>
          </a:p>
          <a:p>
            <a:pPr lvl="1" algn="just"/>
            <a:r>
              <a:rPr lang="en-US" sz="2800" dirty="0" smtClean="0">
                <a:latin typeface="Times New Roman" panose="02020603050405020304" pitchFamily="18" charset="0"/>
                <a:cs typeface="Times New Roman" panose="02020603050405020304" pitchFamily="18" charset="0"/>
              </a:rPr>
              <a:t>The </a:t>
            </a:r>
            <a:r>
              <a:rPr lang="en-US" sz="2800" b="1" dirty="0" smtClean="0">
                <a:latin typeface="Times New Roman" panose="02020603050405020304" pitchFamily="18" charset="0"/>
                <a:cs typeface="Times New Roman" panose="02020603050405020304" pitchFamily="18" charset="0"/>
              </a:rPr>
              <a:t>logs</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directory contains your application's log files.</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827988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1000"/>
                                        <p:tgtEl>
                                          <p:spTgt spid="3">
                                            <p:txEl>
                                              <p:pRg st="3" end="3"/>
                                            </p:txEl>
                                          </p:spTgt>
                                        </p:tgtEl>
                                      </p:cBhvr>
                                    </p:animEffect>
                                    <p:anim calcmode="lin" valueType="num">
                                      <p:cBhvr>
                                        <p:cTn id="3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Effect transition="in" filter="fade">
                                      <p:cBhvr>
                                        <p:cTn id="36" dur="1000"/>
                                        <p:tgtEl>
                                          <p:spTgt spid="3">
                                            <p:txEl>
                                              <p:pRg st="4" end="4"/>
                                            </p:txEl>
                                          </p:spTgt>
                                        </p:tgtEl>
                                      </p:cBhvr>
                                    </p:animEffect>
                                    <p:anim calcmode="lin" valueType="num">
                                      <p:cBhvr>
                                        <p:cTn id="3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Directory Structure</a:t>
            </a:r>
          </a:p>
        </p:txBody>
      </p:sp>
      <p:sp>
        <p:nvSpPr>
          <p:cNvPr id="3" name="Content Placeholder 2"/>
          <p:cNvSpPr>
            <a:spLocks noGrp="1"/>
          </p:cNvSpPr>
          <p:nvPr>
            <p:ph idx="1"/>
          </p:nvPr>
        </p:nvSpPr>
        <p:spPr>
          <a:xfrm>
            <a:off x="276045" y="1956815"/>
            <a:ext cx="11680614" cy="4220147"/>
          </a:xfrm>
        </p:spPr>
        <p:txBody>
          <a:bodyPr/>
          <a:lstStyle/>
          <a:p>
            <a:pPr marL="0" indent="0" algn="just">
              <a:buNone/>
            </a:pPr>
            <a:r>
              <a:rPr lang="en-US" b="1" dirty="0">
                <a:solidFill>
                  <a:srgbClr val="C00000"/>
                </a:solidFill>
                <a:latin typeface="Times New Roman" panose="02020603050405020304" pitchFamily="18" charset="0"/>
                <a:cs typeface="Times New Roman" panose="02020603050405020304" pitchFamily="18" charset="0"/>
              </a:rPr>
              <a:t>Test directory</a:t>
            </a:r>
          </a:p>
          <a:p>
            <a:pPr algn="just"/>
            <a:r>
              <a:rPr lang="en-US" dirty="0">
                <a:latin typeface="Times New Roman" panose="02020603050405020304" pitchFamily="18" charset="0"/>
                <a:cs typeface="Times New Roman" panose="02020603050405020304" pitchFamily="18" charset="0"/>
              </a:rPr>
              <a:t>The test directory holds all the automated unit test cases. The naming convention of test classes is </a:t>
            </a:r>
            <a:r>
              <a:rPr lang="en-US" b="1" dirty="0" err="1">
                <a:latin typeface="Times New Roman" panose="02020603050405020304" pitchFamily="18" charset="0"/>
                <a:cs typeface="Times New Roman" panose="02020603050405020304" pitchFamily="18" charset="0"/>
              </a:rPr>
              <a:t>camel_case</a:t>
            </a:r>
            <a:r>
              <a:rPr lang="en-US" dirty="0">
                <a:latin typeface="Times New Roman" panose="02020603050405020304" pitchFamily="18" charset="0"/>
                <a:cs typeface="Times New Roman" panose="02020603050405020304" pitchFamily="18" charset="0"/>
              </a:rPr>
              <a:t> but follow the naming convention according to the functionality of a class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lgn="just">
              <a:buNone/>
            </a:pPr>
            <a:r>
              <a:rPr lang="en-US" b="1" dirty="0">
                <a:solidFill>
                  <a:srgbClr val="C00000"/>
                </a:solidFill>
                <a:latin typeface="Times New Roman" panose="02020603050405020304" pitchFamily="18" charset="0"/>
                <a:cs typeface="Times New Roman" panose="02020603050405020304" pitchFamily="18" charset="0"/>
              </a:rPr>
              <a:t>Vendor directory</a:t>
            </a:r>
          </a:p>
          <a:p>
            <a:pPr algn="just"/>
            <a:r>
              <a:rPr lang="en-US" dirty="0">
                <a:latin typeface="Times New Roman" panose="02020603050405020304" pitchFamily="18" charset="0"/>
                <a:cs typeface="Times New Roman" panose="02020603050405020304" pitchFamily="18" charset="0"/>
              </a:rPr>
              <a:t>The vendor directory contains the composer dependencies, for example, to install </a:t>
            </a:r>
            <a:r>
              <a:rPr lang="en-US" dirty="0" err="1">
                <a:latin typeface="Times New Roman" panose="02020603050405020304" pitchFamily="18" charset="0"/>
                <a:cs typeface="Times New Roman" panose="02020603050405020304" pitchFamily="18" charset="0"/>
              </a:rPr>
              <a:t>Laravel</a:t>
            </a:r>
            <a:r>
              <a:rPr lang="en-US" dirty="0">
                <a:latin typeface="Times New Roman" panose="02020603050405020304" pitchFamily="18" charset="0"/>
                <a:cs typeface="Times New Roman" panose="02020603050405020304" pitchFamily="18" charset="0"/>
              </a:rPr>
              <a:t> setup, the composer is required. The vendor folder contains all the composer dependencies.</a:t>
            </a:r>
            <a:endParaRPr lang="en-US" dirty="0" smtClean="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1251387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6045" y="3200399"/>
            <a:ext cx="11680614" cy="1399033"/>
          </a:xfrm>
        </p:spPr>
        <p:txBody>
          <a:bodyPr>
            <a:normAutofit/>
          </a:bodyPr>
          <a:lstStyle/>
          <a:p>
            <a:pPr marL="0" indent="0" algn="ctr">
              <a:buNone/>
            </a:pPr>
            <a:r>
              <a:rPr lang="en-US" sz="8800" b="1" dirty="0" smtClean="0">
                <a:solidFill>
                  <a:srgbClr val="C00000"/>
                </a:solidFill>
                <a:latin typeface="Times New Roman" panose="02020603050405020304" pitchFamily="18" charset="0"/>
                <a:cs typeface="Times New Roman" panose="02020603050405020304" pitchFamily="18" charset="0"/>
              </a:rPr>
              <a:t>Thank You!</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4404" y="538869"/>
            <a:ext cx="3450020" cy="142140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spTree>
    <p:extLst>
      <p:ext uri="{BB962C8B-B14F-4D97-AF65-F5344CB8AC3E}">
        <p14:creationId xmlns:p14="http://schemas.microsoft.com/office/powerpoint/2010/main" val="29678165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745</TotalTime>
  <Words>1398</Words>
  <Application>Microsoft Office PowerPoint</Application>
  <PresentationFormat>Widescreen</PresentationFormat>
  <Paragraphs>231</Paragraphs>
  <Slides>54</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Arial</vt:lpstr>
      <vt:lpstr>Calibri</vt:lpstr>
      <vt:lpstr>Calibri Light</vt:lpstr>
      <vt:lpstr>Times New Roman</vt:lpstr>
      <vt:lpstr>Office Theme</vt:lpstr>
      <vt:lpstr>PowerPoint Presentation</vt:lpstr>
      <vt:lpstr>PHP Frameworks</vt:lpstr>
      <vt:lpstr>What is Laravel?</vt:lpstr>
      <vt:lpstr>History of Laravel</vt:lpstr>
      <vt:lpstr>Laravel Version Release</vt:lpstr>
      <vt:lpstr>Laravel Version Release</vt:lpstr>
      <vt:lpstr>What is MVC? </vt:lpstr>
      <vt:lpstr>What is Model? </vt:lpstr>
      <vt:lpstr>What is View? </vt:lpstr>
      <vt:lpstr>What is Controller? </vt:lpstr>
      <vt:lpstr>Why Laravel?</vt:lpstr>
      <vt:lpstr>PowerPoint Presentation</vt:lpstr>
      <vt:lpstr>1. Object-Oriented Libraries</vt:lpstr>
      <vt:lpstr>2. Authorization Technique</vt:lpstr>
      <vt:lpstr>3. MVC Support</vt:lpstr>
      <vt:lpstr>4. Artisan</vt:lpstr>
      <vt:lpstr>5. Database Migration</vt:lpstr>
      <vt:lpstr>6. Security</vt:lpstr>
      <vt:lpstr>7. Blade Templating Engine</vt:lpstr>
      <vt:lpstr>8. Tutorials (Laracasts)</vt:lpstr>
      <vt:lpstr>Laravel Installations</vt:lpstr>
      <vt:lpstr>XAMPP Installation </vt:lpstr>
      <vt:lpstr>XAMPP Installation </vt:lpstr>
      <vt:lpstr>XAMPP Installation </vt:lpstr>
      <vt:lpstr>XAMPP Installation </vt:lpstr>
      <vt:lpstr>XAMPP Installation </vt:lpstr>
      <vt:lpstr>XAMPP Installation </vt:lpstr>
      <vt:lpstr>XAMPP Installation </vt:lpstr>
      <vt:lpstr>XAMPP Installation </vt:lpstr>
      <vt:lpstr>XAMPP Installation </vt:lpstr>
      <vt:lpstr>XAMPP Installation </vt:lpstr>
      <vt:lpstr>XAMPP Installation </vt:lpstr>
      <vt:lpstr>Composer Installation</vt:lpstr>
      <vt:lpstr>Composer Installation</vt:lpstr>
      <vt:lpstr>Composer Installation</vt:lpstr>
      <vt:lpstr>Composer Installation</vt:lpstr>
      <vt:lpstr>Composer Installation</vt:lpstr>
      <vt:lpstr>Composer Installation</vt:lpstr>
      <vt:lpstr>Composer Installation</vt:lpstr>
      <vt:lpstr>Composer Installation</vt:lpstr>
      <vt:lpstr>Composer Installation</vt:lpstr>
      <vt:lpstr>Composer Installation</vt:lpstr>
      <vt:lpstr>Creating First Laravel Project</vt:lpstr>
      <vt:lpstr>Creating First Laravel Project</vt:lpstr>
      <vt:lpstr>Directory Structure</vt:lpstr>
      <vt:lpstr>Directory Structure</vt:lpstr>
      <vt:lpstr>Directory Structure</vt:lpstr>
      <vt:lpstr>Directory Structure</vt:lpstr>
      <vt:lpstr>Directory Structure</vt:lpstr>
      <vt:lpstr>Directory Structure</vt:lpstr>
      <vt:lpstr>Directory Structure</vt:lpstr>
      <vt:lpstr>Directory Structure</vt:lpstr>
      <vt:lpstr>Directory Structure</vt:lpstr>
      <vt:lpstr>PowerPoint Presentation</vt:lpstr>
    </vt:vector>
  </TitlesOfParts>
  <Company>Moorche 30 DVDs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Hamedullah</dc:creator>
  <cp:lastModifiedBy>Hamedullah</cp:lastModifiedBy>
  <cp:revision>38</cp:revision>
  <dcterms:created xsi:type="dcterms:W3CDTF">2022-02-20T08:42:26Z</dcterms:created>
  <dcterms:modified xsi:type="dcterms:W3CDTF">2022-03-11T16:52:35Z</dcterms:modified>
</cp:coreProperties>
</file>