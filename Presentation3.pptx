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66" r:id="rId5"/>
    <p:sldId id="267" r:id="rId6"/>
    <p:sldId id="270" r:id="rId7"/>
    <p:sldId id="271" r:id="rId8"/>
    <p:sldId id="273" r:id="rId9"/>
    <p:sldId id="274" r:id="rId10"/>
    <p:sldId id="272" r:id="rId11"/>
    <p:sldId id="275" r:id="rId12"/>
    <p:sldId id="277" r:id="rId13"/>
    <p:sldId id="279" r:id="rId14"/>
    <p:sldId id="280" r:id="rId15"/>
    <p:sldId id="281" r:id="rId16"/>
    <p:sldId id="282" r:id="rId17"/>
    <p:sldId id="283" r:id="rId18"/>
    <p:sldId id="276" r:id="rId19"/>
    <p:sldId id="278" r:id="rId20"/>
    <p:sldId id="284" r:id="rId21"/>
    <p:sldId id="291" r:id="rId22"/>
    <p:sldId id="285" r:id="rId23"/>
    <p:sldId id="286" r:id="rId24"/>
    <p:sldId id="288" r:id="rId25"/>
    <p:sldId id="287" r:id="rId26"/>
    <p:sldId id="26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9" d="100"/>
          <a:sy n="89" d="100"/>
        </p:scale>
        <p:origin x="46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E81D31D-7C84-4510-860C-705F6CAF2E78}" type="datetimeFigureOut">
              <a:rPr lang="en-US" smtClean="0"/>
              <a:t>3/12/2022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216020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81D31D-7C84-4510-860C-705F6CAF2E78}" type="datetimeFigureOut">
              <a:rPr lang="en-US" smtClean="0"/>
              <a:t>3/12/2022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719822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E81D31D-7C84-4510-860C-705F6CAF2E78}" type="datetimeFigureOut">
              <a:rPr lang="en-US" smtClean="0"/>
              <a:t>3/12/2022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4250807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E81D31D-7C84-4510-860C-705F6CAF2E78}" type="datetimeFigureOut">
              <a:rPr lang="en-US" smtClean="0"/>
              <a:t>3/12/2022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370148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E81D31D-7C84-4510-860C-705F6CAF2E78}" type="datetimeFigureOut">
              <a:rPr lang="en-US" smtClean="0"/>
              <a:t>3/12/2022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3681059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E81D31D-7C84-4510-860C-705F6CAF2E78}" type="datetimeFigureOut">
              <a:rPr lang="en-US" smtClean="0"/>
              <a:t>3/12/2022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3505490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81D31D-7C84-4510-860C-705F6CAF2E78}" type="datetimeFigureOut">
              <a:rPr lang="en-US" smtClean="0"/>
              <a:t>3/12/2022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426474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E81D31D-7C84-4510-860C-705F6CAF2E78}" type="datetimeFigureOut">
              <a:rPr lang="en-US" smtClean="0"/>
              <a:t>3/12/2022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292179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E81D31D-7C84-4510-860C-705F6CAF2E78}" type="datetimeFigureOut">
              <a:rPr lang="en-US" smtClean="0"/>
              <a:t>3/12/2022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153066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81D31D-7C84-4510-860C-705F6CAF2E78}" type="datetimeFigureOut">
              <a:rPr lang="en-US" smtClean="0"/>
              <a:t>3/12/2022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1423039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81D31D-7C84-4510-860C-705F6CAF2E78}" type="datetimeFigureOut">
              <a:rPr lang="en-US" smtClean="0"/>
              <a:t>3/12/2022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F73569-ABDB-4A0F-AE5A-D508F2026589}" type="slidenum">
              <a:rPr lang="en-US" smtClean="0"/>
              <a:t>‹#›</a:t>
            </a:fld>
            <a:endParaRPr lang="en-US"/>
          </a:p>
        </p:txBody>
      </p:sp>
    </p:spTree>
    <p:extLst>
      <p:ext uri="{BB962C8B-B14F-4D97-AF65-F5344CB8AC3E}">
        <p14:creationId xmlns:p14="http://schemas.microsoft.com/office/powerpoint/2010/main" val="3445183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1D31D-7C84-4510-860C-705F6CAF2E78}" type="datetimeFigureOut">
              <a:rPr lang="en-US" smtClean="0"/>
              <a:t>3/12/2022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F73569-ABDB-4A0F-AE5A-D508F2026589}" type="slidenum">
              <a:rPr lang="en-US" smtClean="0"/>
              <a:t>‹#›</a:t>
            </a:fld>
            <a:endParaRPr lang="en-US"/>
          </a:p>
        </p:txBody>
      </p:sp>
    </p:spTree>
    <p:extLst>
      <p:ext uri="{BB962C8B-B14F-4D97-AF65-F5344CB8AC3E}">
        <p14:creationId xmlns:p14="http://schemas.microsoft.com/office/powerpoint/2010/main" val="5555941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9674"/>
          </a:xfrm>
          <a:prstGeom prst="rect">
            <a:avLst/>
          </a:prstGeom>
        </p:spPr>
      </p:pic>
      <p:sp>
        <p:nvSpPr>
          <p:cNvPr id="5" name="TextBox 4"/>
          <p:cNvSpPr txBox="1"/>
          <p:nvPr/>
        </p:nvSpPr>
        <p:spPr>
          <a:xfrm>
            <a:off x="2173856" y="2894494"/>
            <a:ext cx="8186467" cy="707886"/>
          </a:xfrm>
          <a:prstGeom prst="rect">
            <a:avLst/>
          </a:prstGeom>
          <a:noFill/>
        </p:spPr>
        <p:txBody>
          <a:bodyPr wrap="square" rtlCol="0">
            <a:spAutoFit/>
          </a:bodyPr>
          <a:lstStyle/>
          <a:p>
            <a:pPr algn="ctr"/>
            <a:r>
              <a:rPr lang="en-US" sz="4000" b="1" dirty="0" smtClean="0">
                <a:solidFill>
                  <a:schemeClr val="bg1"/>
                </a:solidFill>
                <a:latin typeface="Times New Roman" panose="02020603050405020304" pitchFamily="18" charset="0"/>
                <a:cs typeface="Times New Roman" panose="02020603050405020304" pitchFamily="18" charset="0"/>
              </a:rPr>
              <a:t>Faculty of Computer Science</a:t>
            </a:r>
          </a:p>
        </p:txBody>
      </p:sp>
    </p:spTree>
    <p:extLst>
      <p:ext uri="{BB962C8B-B14F-4D97-AF65-F5344CB8AC3E}">
        <p14:creationId xmlns:p14="http://schemas.microsoft.com/office/powerpoint/2010/main" val="40388645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Introduction</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656271"/>
            <a:ext cx="11680614" cy="4520691"/>
          </a:xfrm>
        </p:spPr>
        <p:txBody>
          <a:bodyPr/>
          <a:lstStyle/>
          <a:p>
            <a:pPr algn="just"/>
            <a:r>
              <a:rPr lang="en-US" dirty="0">
                <a:latin typeface="Times New Roman" panose="02020603050405020304" pitchFamily="18" charset="0"/>
                <a:cs typeface="Times New Roman" panose="02020603050405020304" pitchFamily="18" charset="0"/>
              </a:rPr>
              <a:t>Instead of defining all of your request handling logic as closures in your route files, you may wish to organize this behavior using "controller" classes. Controllers can group related request handling logic into a single class</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For </a:t>
            </a:r>
            <a:r>
              <a:rPr lang="en-US" dirty="0">
                <a:latin typeface="Times New Roman" panose="02020603050405020304" pitchFamily="18" charset="0"/>
                <a:cs typeface="Times New Roman" panose="02020603050405020304" pitchFamily="18" charset="0"/>
              </a:rPr>
              <a:t>example, a </a:t>
            </a:r>
            <a:r>
              <a:rPr lang="en-US" b="1" dirty="0" err="1">
                <a:latin typeface="Times New Roman" panose="02020603050405020304" pitchFamily="18" charset="0"/>
                <a:cs typeface="Times New Roman" panose="02020603050405020304" pitchFamily="18" charset="0"/>
              </a:rPr>
              <a:t>UserController</a:t>
            </a:r>
            <a:r>
              <a:rPr lang="en-US" dirty="0">
                <a:latin typeface="Times New Roman" panose="02020603050405020304" pitchFamily="18" charset="0"/>
                <a:cs typeface="Times New Roman" panose="02020603050405020304" pitchFamily="18" charset="0"/>
              </a:rPr>
              <a:t> class might handle all incoming requests related to users, including showing, creating, updating, and deleting users.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By </a:t>
            </a:r>
            <a:r>
              <a:rPr lang="en-US" dirty="0">
                <a:latin typeface="Times New Roman" panose="02020603050405020304" pitchFamily="18" charset="0"/>
                <a:cs typeface="Times New Roman" panose="02020603050405020304" pitchFamily="18" charset="0"/>
              </a:rPr>
              <a:t>default, controllers are stored in the app/Http/Controllers directory</a:t>
            </a:r>
            <a:r>
              <a:rPr lang="en-US" dirty="0" smtClean="0">
                <a:latin typeface="Times New Roman" panose="02020603050405020304" pitchFamily="18" charset="0"/>
                <a:cs typeface="Times New Roman" panose="02020603050405020304" pitchFamily="18" charset="0"/>
              </a:rPr>
              <a:t>.</a:t>
            </a:r>
          </a:p>
          <a:p>
            <a:pPr algn="just"/>
            <a:r>
              <a:rPr lang="en-US" dirty="0" err="1">
                <a:latin typeface="Times New Roman" panose="02020603050405020304" pitchFamily="18" charset="0"/>
                <a:cs typeface="Times New Roman" panose="02020603050405020304" pitchFamily="18" charset="0"/>
              </a:rPr>
              <a:t>Laravel</a:t>
            </a:r>
            <a:r>
              <a:rPr lang="en-US" dirty="0">
                <a:latin typeface="Times New Roman" panose="02020603050405020304" pitchFamily="18" charset="0"/>
                <a:cs typeface="Times New Roman" panose="02020603050405020304" pitchFamily="18" charset="0"/>
              </a:rPr>
              <a:t> framework follows the MVC (Model View Controller) architecture in which controllers act as moving the traffic back and forth between model and views.</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34607843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How To Create Controller</a:t>
            </a:r>
            <a:endParaRPr lang="en-US" dirty="0"/>
          </a:p>
        </p:txBody>
      </p:sp>
      <p:sp>
        <p:nvSpPr>
          <p:cNvPr id="3" name="Content Placeholder 2"/>
          <p:cNvSpPr>
            <a:spLocks noGrp="1"/>
          </p:cNvSpPr>
          <p:nvPr>
            <p:ph idx="1"/>
          </p:nvPr>
        </p:nvSpPr>
        <p:spPr>
          <a:xfrm>
            <a:off x="276045" y="1690777"/>
            <a:ext cx="11680614" cy="4486186"/>
          </a:xfrm>
        </p:spPr>
        <p:txBody>
          <a:bodyPr/>
          <a:lstStyle/>
          <a:p>
            <a:r>
              <a:rPr lang="en-US" dirty="0" smtClean="0">
                <a:latin typeface="Times New Roman" panose="02020603050405020304" pitchFamily="18" charset="0"/>
                <a:cs typeface="Times New Roman" panose="02020603050405020304" pitchFamily="18" charset="0"/>
              </a:rPr>
              <a:t>To create controller we use the following command.</a:t>
            </a: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default code of the </a:t>
            </a:r>
            <a:r>
              <a:rPr lang="en-US" b="1" dirty="0" err="1" smtClean="0">
                <a:latin typeface="Times New Roman" panose="02020603050405020304" pitchFamily="18" charset="0"/>
                <a:cs typeface="Times New Roman" panose="02020603050405020304" pitchFamily="18" charset="0"/>
              </a:rPr>
              <a:t>PhotoController.php</a:t>
            </a:r>
            <a:r>
              <a:rPr lang="en-US" dirty="0">
                <a:latin typeface="Times New Roman" panose="02020603050405020304" pitchFamily="18" charset="0"/>
                <a:cs typeface="Times New Roman" panose="02020603050405020304" pitchFamily="18" charset="0"/>
              </a:rPr>
              <a:t> file is given below:</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3822940" y="2265960"/>
            <a:ext cx="5043184" cy="968945"/>
          </a:xfrm>
          <a:prstGeom prst="rect">
            <a:avLst/>
          </a:prstGeom>
        </p:spPr>
      </p:pic>
      <p:pic>
        <p:nvPicPr>
          <p:cNvPr id="7" name="Picture 6"/>
          <p:cNvPicPr>
            <a:picLocks noChangeAspect="1"/>
          </p:cNvPicPr>
          <p:nvPr/>
        </p:nvPicPr>
        <p:blipFill>
          <a:blip r:embed="rId6"/>
          <a:stretch>
            <a:fillRect/>
          </a:stretch>
        </p:blipFill>
        <p:spPr>
          <a:xfrm>
            <a:off x="4187226" y="3657600"/>
            <a:ext cx="4591050" cy="2705100"/>
          </a:xfrm>
          <a:prstGeom prst="rect">
            <a:avLst/>
          </a:prstGeom>
        </p:spPr>
      </p:pic>
    </p:spTree>
    <p:extLst>
      <p:ext uri="{BB962C8B-B14F-4D97-AF65-F5344CB8AC3E}">
        <p14:creationId xmlns:p14="http://schemas.microsoft.com/office/powerpoint/2010/main" val="12035941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Routing </a:t>
            </a:r>
            <a:r>
              <a:rPr lang="en-US" b="1" dirty="0" smtClean="0">
                <a:solidFill>
                  <a:schemeClr val="accent4">
                    <a:lumMod val="75000"/>
                  </a:schemeClr>
                </a:solidFill>
                <a:latin typeface="Times New Roman" panose="02020603050405020304" pitchFamily="18" charset="0"/>
                <a:cs typeface="Times New Roman" panose="02020603050405020304" pitchFamily="18" charset="0"/>
              </a:rPr>
              <a:t>Controllers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820173"/>
            <a:ext cx="11680614" cy="4356789"/>
          </a:xfrm>
        </p:spPr>
        <p:txBody>
          <a:bodyPr/>
          <a:lstStyle/>
          <a:p>
            <a:r>
              <a:rPr lang="en-US" dirty="0">
                <a:latin typeface="Times New Roman" panose="02020603050405020304" pitchFamily="18" charset="0"/>
                <a:cs typeface="Times New Roman" panose="02020603050405020304" pitchFamily="18" charset="0"/>
              </a:rPr>
              <a:t>Route with controller.</a:t>
            </a:r>
          </a:p>
          <a:p>
            <a:endParaRPr lang="en-US" dirty="0"/>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7" name="Picture 6"/>
          <p:cNvPicPr>
            <a:picLocks noChangeAspect="1"/>
          </p:cNvPicPr>
          <p:nvPr/>
        </p:nvPicPr>
        <p:blipFill>
          <a:blip r:embed="rId5"/>
          <a:stretch>
            <a:fillRect/>
          </a:stretch>
        </p:blipFill>
        <p:spPr>
          <a:xfrm>
            <a:off x="1849152" y="3037936"/>
            <a:ext cx="8534400" cy="1524000"/>
          </a:xfrm>
          <a:prstGeom prst="rect">
            <a:avLst/>
          </a:prstGeom>
        </p:spPr>
      </p:pic>
    </p:spTree>
    <p:extLst>
      <p:ext uri="{BB962C8B-B14F-4D97-AF65-F5344CB8AC3E}">
        <p14:creationId xmlns:p14="http://schemas.microsoft.com/office/powerpoint/2010/main" val="4725878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Single Action Controllers</a:t>
            </a:r>
          </a:p>
        </p:txBody>
      </p:sp>
      <p:sp>
        <p:nvSpPr>
          <p:cNvPr id="3" name="Content Placeholder 2"/>
          <p:cNvSpPr>
            <a:spLocks noGrp="1"/>
          </p:cNvSpPr>
          <p:nvPr>
            <p:ph idx="1"/>
          </p:nvPr>
        </p:nvSpPr>
        <p:spPr>
          <a:xfrm>
            <a:off x="276045" y="1828800"/>
            <a:ext cx="11680614" cy="4348163"/>
          </a:xfrm>
        </p:spPr>
        <p:txBody>
          <a:bodyPr/>
          <a:lstStyle/>
          <a:p>
            <a:pPr algn="just"/>
            <a:r>
              <a:rPr lang="en-US" dirty="0">
                <a:latin typeface="Times New Roman" panose="02020603050405020304" pitchFamily="18" charset="0"/>
                <a:cs typeface="Times New Roman" panose="02020603050405020304" pitchFamily="18" charset="0"/>
              </a:rPr>
              <a:t>If we want to use the single method in a controller, then we can use the </a:t>
            </a:r>
            <a:r>
              <a:rPr lang="en-US" b="1" dirty="0">
                <a:latin typeface="Times New Roman" panose="02020603050405020304" pitchFamily="18" charset="0"/>
                <a:cs typeface="Times New Roman" panose="02020603050405020304" pitchFamily="18" charset="0"/>
              </a:rPr>
              <a:t>single __invoke()</a:t>
            </a:r>
            <a:r>
              <a:rPr lang="en-US" dirty="0">
                <a:latin typeface="Times New Roman" panose="02020603050405020304" pitchFamily="18" charset="0"/>
                <a:cs typeface="Times New Roman" panose="02020603050405020304" pitchFamily="18" charset="0"/>
              </a:rPr>
              <a:t> method on the </a:t>
            </a:r>
            <a:r>
              <a:rPr lang="en-US" dirty="0" smtClean="0">
                <a:latin typeface="Times New Roman" panose="02020603050405020304" pitchFamily="18" charset="0"/>
                <a:cs typeface="Times New Roman" panose="02020603050405020304" pitchFamily="18" charset="0"/>
              </a:rPr>
              <a:t>controller. </a:t>
            </a:r>
          </a:p>
          <a:p>
            <a:pPr algn="just"/>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accomplish this, you may define a single __invoke method within the controller:</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8" name="Picture 7"/>
          <p:cNvPicPr>
            <a:picLocks noChangeAspect="1"/>
          </p:cNvPicPr>
          <p:nvPr/>
        </p:nvPicPr>
        <p:blipFill>
          <a:blip r:embed="rId5"/>
          <a:stretch>
            <a:fillRect/>
          </a:stretch>
        </p:blipFill>
        <p:spPr>
          <a:xfrm>
            <a:off x="2249202" y="4190820"/>
            <a:ext cx="7734300" cy="857250"/>
          </a:xfrm>
          <a:prstGeom prst="rect">
            <a:avLst/>
          </a:prstGeom>
        </p:spPr>
      </p:pic>
    </p:spTree>
    <p:extLst>
      <p:ext uri="{BB962C8B-B14F-4D97-AF65-F5344CB8AC3E}">
        <p14:creationId xmlns:p14="http://schemas.microsoft.com/office/powerpoint/2010/main" val="9507061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Single Action </a:t>
            </a:r>
            <a:r>
              <a:rPr lang="en-US" b="1" dirty="0" smtClean="0">
                <a:solidFill>
                  <a:schemeClr val="accent4">
                    <a:lumMod val="75000"/>
                  </a:schemeClr>
                </a:solidFill>
                <a:latin typeface="Times New Roman" panose="02020603050405020304" pitchFamily="18" charset="0"/>
                <a:cs typeface="Times New Roman" panose="02020603050405020304" pitchFamily="18" charset="0"/>
              </a:rPr>
              <a:t>Controllers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699403"/>
            <a:ext cx="11680614" cy="4477559"/>
          </a:xfrm>
        </p:spPr>
        <p:txBody>
          <a:bodyPr/>
          <a:lstStyle/>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7" name="Picture 6"/>
          <p:cNvPicPr>
            <a:picLocks noChangeAspect="1"/>
          </p:cNvPicPr>
          <p:nvPr/>
        </p:nvPicPr>
        <p:blipFill>
          <a:blip r:embed="rId5"/>
          <a:stretch>
            <a:fillRect/>
          </a:stretch>
        </p:blipFill>
        <p:spPr>
          <a:xfrm>
            <a:off x="3771696" y="1873954"/>
            <a:ext cx="4689311" cy="3274443"/>
          </a:xfrm>
          <a:prstGeom prst="rect">
            <a:avLst/>
          </a:prstGeom>
        </p:spPr>
      </p:pic>
      <p:pic>
        <p:nvPicPr>
          <p:cNvPr id="8" name="Picture 7"/>
          <p:cNvPicPr>
            <a:picLocks noChangeAspect="1"/>
          </p:cNvPicPr>
          <p:nvPr/>
        </p:nvPicPr>
        <p:blipFill>
          <a:blip r:embed="rId6"/>
          <a:stretch>
            <a:fillRect/>
          </a:stretch>
        </p:blipFill>
        <p:spPr>
          <a:xfrm>
            <a:off x="3813504" y="5334135"/>
            <a:ext cx="4605694" cy="554831"/>
          </a:xfrm>
          <a:prstGeom prst="rect">
            <a:avLst/>
          </a:prstGeom>
        </p:spPr>
      </p:pic>
    </p:spTree>
    <p:extLst>
      <p:ext uri="{BB962C8B-B14F-4D97-AF65-F5344CB8AC3E}">
        <p14:creationId xmlns:p14="http://schemas.microsoft.com/office/powerpoint/2010/main" val="21882390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Resource </a:t>
            </a:r>
            <a:r>
              <a:rPr lang="en-US" b="1" dirty="0" smtClean="0">
                <a:solidFill>
                  <a:schemeClr val="accent4">
                    <a:lumMod val="75000"/>
                  </a:schemeClr>
                </a:solidFill>
                <a:latin typeface="Times New Roman" panose="02020603050405020304" pitchFamily="18" charset="0"/>
                <a:cs typeface="Times New Roman" panose="02020603050405020304" pitchFamily="18" charset="0"/>
              </a:rPr>
              <a:t>Controllers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811547"/>
            <a:ext cx="11680614" cy="4365416"/>
          </a:xfrm>
        </p:spPr>
        <p:txBody>
          <a:bodyPr/>
          <a:lstStyle/>
          <a:p>
            <a:pPr algn="just"/>
            <a:r>
              <a:rPr lang="en-US" dirty="0" err="1">
                <a:latin typeface="Times New Roman" panose="02020603050405020304" pitchFamily="18" charset="0"/>
                <a:cs typeface="Times New Roman" panose="02020603050405020304" pitchFamily="18" charset="0"/>
              </a:rPr>
              <a:t>Laravel</a:t>
            </a:r>
            <a:r>
              <a:rPr lang="en-US" dirty="0">
                <a:latin typeface="Times New Roman" panose="02020603050405020304" pitchFamily="18" charset="0"/>
                <a:cs typeface="Times New Roman" panose="02020603050405020304" pitchFamily="18" charset="0"/>
              </a:rPr>
              <a:t> resource controllers provide the CRUD routes to the controller in a single line of code. A resource controller is used to create a controller that handles all the http requests stored by your application.</a:t>
            </a:r>
          </a:p>
          <a:p>
            <a:pPr algn="just"/>
            <a:r>
              <a:rPr lang="en-US" dirty="0">
                <a:latin typeface="Times New Roman" panose="02020603050405020304" pitchFamily="18" charset="0"/>
                <a:cs typeface="Times New Roman" panose="02020603050405020304" pitchFamily="18" charset="0"/>
              </a:rPr>
              <a:t>The resource() is a static function like get() method that gives access to multiple routes that we can use in a controller.</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2377296" y="4340164"/>
            <a:ext cx="7696200" cy="800100"/>
          </a:xfrm>
          <a:prstGeom prst="rect">
            <a:avLst/>
          </a:prstGeom>
        </p:spPr>
      </p:pic>
    </p:spTree>
    <p:extLst>
      <p:ext uri="{BB962C8B-B14F-4D97-AF65-F5344CB8AC3E}">
        <p14:creationId xmlns:p14="http://schemas.microsoft.com/office/powerpoint/2010/main" val="9268087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Resource </a:t>
            </a:r>
            <a:r>
              <a:rPr lang="en-US" b="1" dirty="0" smtClean="0">
                <a:solidFill>
                  <a:schemeClr val="accent4">
                    <a:lumMod val="75000"/>
                  </a:schemeClr>
                </a:solidFill>
                <a:latin typeface="Times New Roman" panose="02020603050405020304" pitchFamily="18" charset="0"/>
                <a:cs typeface="Times New Roman" panose="02020603050405020304" pitchFamily="18" charset="0"/>
              </a:rPr>
              <a:t>Controllers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690777"/>
            <a:ext cx="11680614" cy="4486186"/>
          </a:xfrm>
        </p:spPr>
        <p:txBody>
          <a:bodyPr/>
          <a:lstStyle/>
          <a:p>
            <a:pPr algn="just"/>
            <a:r>
              <a:rPr lang="en-US" dirty="0">
                <a:latin typeface="Times New Roman" panose="02020603050405020304" pitchFamily="18" charset="0"/>
                <a:cs typeface="Times New Roman" panose="02020603050405020304" pitchFamily="18" charset="0"/>
              </a:rPr>
              <a:t>This command will generate a controller at app/Http/Controllers/</a:t>
            </a:r>
            <a:r>
              <a:rPr lang="en-US" dirty="0" err="1">
                <a:latin typeface="Times New Roman" panose="02020603050405020304" pitchFamily="18" charset="0"/>
                <a:cs typeface="Times New Roman" panose="02020603050405020304" pitchFamily="18" charset="0"/>
              </a:rPr>
              <a:t>PhotoController.php</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controller will contain a method for each of the available resource operations. Next, you may register a resource route that points to the controller:</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7" name="Picture 6"/>
          <p:cNvPicPr>
            <a:picLocks noChangeAspect="1"/>
          </p:cNvPicPr>
          <p:nvPr/>
        </p:nvPicPr>
        <p:blipFill>
          <a:blip r:embed="rId5"/>
          <a:stretch>
            <a:fillRect/>
          </a:stretch>
        </p:blipFill>
        <p:spPr>
          <a:xfrm>
            <a:off x="1644589" y="3933194"/>
            <a:ext cx="9696450" cy="1838325"/>
          </a:xfrm>
          <a:prstGeom prst="rect">
            <a:avLst/>
          </a:prstGeom>
        </p:spPr>
      </p:pic>
    </p:spTree>
    <p:extLst>
      <p:ext uri="{BB962C8B-B14F-4D97-AF65-F5344CB8AC3E}">
        <p14:creationId xmlns:p14="http://schemas.microsoft.com/office/powerpoint/2010/main" val="34596989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Resource </a:t>
            </a:r>
            <a:r>
              <a:rPr lang="en-US" b="1" dirty="0" smtClean="0">
                <a:solidFill>
                  <a:schemeClr val="accent4">
                    <a:lumMod val="75000"/>
                  </a:schemeClr>
                </a:solidFill>
                <a:latin typeface="Times New Roman" panose="02020603050405020304" pitchFamily="18" charset="0"/>
                <a:cs typeface="Times New Roman" panose="02020603050405020304" pitchFamily="18" charset="0"/>
              </a:rPr>
              <a:t>Controllers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794293"/>
            <a:ext cx="11680614" cy="4382669"/>
          </a:xfrm>
        </p:spPr>
        <p:txBody>
          <a:bodyPr/>
          <a:lstStyle/>
          <a:p>
            <a:pPr algn="just"/>
            <a:r>
              <a:rPr lang="en-US" dirty="0">
                <a:latin typeface="Times New Roman" panose="02020603050405020304" pitchFamily="18" charset="0"/>
                <a:cs typeface="Times New Roman" panose="02020603050405020304" pitchFamily="18" charset="0"/>
              </a:rPr>
              <a:t>You may even register many resource controllers at once by passing an array to the resources method:</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605951" y="2912269"/>
            <a:ext cx="9753600" cy="2238375"/>
          </a:xfrm>
          <a:prstGeom prst="rect">
            <a:avLst/>
          </a:prstGeom>
        </p:spPr>
      </p:pic>
    </p:spTree>
    <p:extLst>
      <p:ext uri="{BB962C8B-B14F-4D97-AF65-F5344CB8AC3E}">
        <p14:creationId xmlns:p14="http://schemas.microsoft.com/office/powerpoint/2010/main" val="24651779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4792" y="259450"/>
            <a:ext cx="8048445" cy="1041223"/>
          </a:xfrm>
        </p:spPr>
        <p:txBody>
          <a:bodyPr>
            <a:noAutofit/>
          </a:bodyPr>
          <a:lstStyle/>
          <a:p>
            <a:r>
              <a:rPr lang="en-US" sz="3600" dirty="0">
                <a:solidFill>
                  <a:schemeClr val="accent4">
                    <a:lumMod val="75000"/>
                  </a:schemeClr>
                </a:solidFill>
                <a:latin typeface="Times New Roman" panose="02020603050405020304" pitchFamily="18" charset="0"/>
                <a:cs typeface="Times New Roman" panose="02020603050405020304" pitchFamily="18" charset="0"/>
              </a:rPr>
              <a:t>Actions Handled By Resource Controller</a:t>
            </a:r>
          </a:p>
        </p:txBody>
      </p:sp>
      <p:pic>
        <p:nvPicPr>
          <p:cNvPr id="4" name="Content Placeholder 3"/>
          <p:cNvPicPr>
            <a:picLocks noGrp="1" noChangeAspect="1"/>
          </p:cNvPicPr>
          <p:nvPr>
            <p:ph idx="1"/>
          </p:nvPr>
        </p:nvPicPr>
        <p:blipFill>
          <a:blip r:embed="rId2"/>
          <a:stretch>
            <a:fillRect/>
          </a:stretch>
        </p:blipFill>
        <p:spPr>
          <a:xfrm>
            <a:off x="2089731" y="1486410"/>
            <a:ext cx="8598846" cy="4825191"/>
          </a:xfrm>
          <a:prstGeom prst="rect">
            <a:avLst/>
          </a:prstGeom>
        </p:spPr>
      </p:pic>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238138688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Partial Resource Routes</a:t>
            </a:r>
          </a:p>
        </p:txBody>
      </p:sp>
      <p:sp>
        <p:nvSpPr>
          <p:cNvPr id="3" name="Content Placeholder 2"/>
          <p:cNvSpPr>
            <a:spLocks noGrp="1"/>
          </p:cNvSpPr>
          <p:nvPr>
            <p:ph idx="1"/>
          </p:nvPr>
        </p:nvSpPr>
        <p:spPr>
          <a:xfrm>
            <a:off x="276045" y="1630391"/>
            <a:ext cx="11680614" cy="4546571"/>
          </a:xfrm>
        </p:spPr>
        <p:txBody>
          <a:bodyPr/>
          <a:lstStyle/>
          <a:p>
            <a:pPr algn="just"/>
            <a:r>
              <a:rPr lang="en-US" dirty="0">
                <a:latin typeface="Times New Roman" panose="02020603050405020304" pitchFamily="18" charset="0"/>
                <a:cs typeface="Times New Roman" panose="02020603050405020304" pitchFamily="18" charset="0"/>
              </a:rPr>
              <a:t>When declaring a resource route, you may specify a subset of actions the controller should handle instead of the full set of default actions:</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532177" y="2495550"/>
            <a:ext cx="9610725" cy="3867150"/>
          </a:xfrm>
          <a:prstGeom prst="rect">
            <a:avLst/>
          </a:prstGeom>
        </p:spPr>
      </p:pic>
    </p:spTree>
    <p:extLst>
      <p:ext uri="{BB962C8B-B14F-4D97-AF65-F5344CB8AC3E}">
        <p14:creationId xmlns:p14="http://schemas.microsoft.com/office/powerpoint/2010/main" val="24992474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Middleware</a:t>
            </a:r>
            <a:endParaRPr lang="en-US" dirty="0"/>
          </a:p>
        </p:txBody>
      </p:sp>
      <p:sp>
        <p:nvSpPr>
          <p:cNvPr id="3" name="Content Placeholder 2"/>
          <p:cNvSpPr>
            <a:spLocks noGrp="1"/>
          </p:cNvSpPr>
          <p:nvPr>
            <p:ph idx="1"/>
          </p:nvPr>
        </p:nvSpPr>
        <p:spPr>
          <a:xfrm>
            <a:off x="276045" y="1673525"/>
            <a:ext cx="11680614" cy="4503438"/>
          </a:xfrm>
        </p:spPr>
        <p:txBody>
          <a:bodyPr/>
          <a:lstStyle/>
          <a:p>
            <a:pPr algn="just"/>
            <a:r>
              <a:rPr lang="en-US" dirty="0">
                <a:latin typeface="Times New Roman" panose="02020603050405020304" pitchFamily="18" charset="0"/>
                <a:cs typeface="Times New Roman" panose="02020603050405020304" pitchFamily="18" charset="0"/>
              </a:rPr>
              <a:t>Middleware provide a convenient mechanism for inspecting and filtering HTTP requests entering your application.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For </a:t>
            </a:r>
            <a:r>
              <a:rPr lang="en-US" dirty="0">
                <a:latin typeface="Times New Roman" panose="02020603050405020304" pitchFamily="18" charset="0"/>
                <a:cs typeface="Times New Roman" panose="02020603050405020304" pitchFamily="18" charset="0"/>
              </a:rPr>
              <a:t>example, </a:t>
            </a:r>
            <a:r>
              <a:rPr lang="en-US" dirty="0" err="1">
                <a:latin typeface="Times New Roman" panose="02020603050405020304" pitchFamily="18" charset="0"/>
                <a:cs typeface="Times New Roman" panose="02020603050405020304" pitchFamily="18" charset="0"/>
              </a:rPr>
              <a:t>Laravel</a:t>
            </a:r>
            <a:r>
              <a:rPr lang="en-US" dirty="0">
                <a:latin typeface="Times New Roman" panose="02020603050405020304" pitchFamily="18" charset="0"/>
                <a:cs typeface="Times New Roman" panose="02020603050405020304" pitchFamily="18" charset="0"/>
              </a:rPr>
              <a:t> includes a middleware that verifies the user of your application is authenticated.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If </a:t>
            </a:r>
            <a:r>
              <a:rPr lang="en-US" dirty="0">
                <a:latin typeface="Times New Roman" panose="02020603050405020304" pitchFamily="18" charset="0"/>
                <a:cs typeface="Times New Roman" panose="02020603050405020304" pitchFamily="18" charset="0"/>
              </a:rPr>
              <a:t>the user is not authenticated, the middleware will redirect the user to your application's login screen.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However</a:t>
            </a:r>
            <a:r>
              <a:rPr lang="en-US" dirty="0">
                <a:latin typeface="Times New Roman" panose="02020603050405020304" pitchFamily="18" charset="0"/>
                <a:cs typeface="Times New Roman" panose="02020603050405020304" pitchFamily="18" charset="0"/>
              </a:rPr>
              <a:t>, if the user is authenticated, the middleware will allow the request to proceed further into the application</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Middleware </a:t>
            </a:r>
            <a:r>
              <a:rPr lang="en-US" dirty="0">
                <a:latin typeface="Times New Roman" panose="02020603050405020304" pitchFamily="18" charset="0"/>
                <a:cs typeface="Times New Roman" panose="02020603050405020304" pitchFamily="18" charset="0"/>
              </a:rPr>
              <a:t>are located in the app/Http/Middleware directory.</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23153222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Defining Middleware</a:t>
            </a:r>
            <a:endParaRPr lang="en-US" dirty="0"/>
          </a:p>
        </p:txBody>
      </p:sp>
      <p:sp>
        <p:nvSpPr>
          <p:cNvPr id="3" name="Content Placeholder 2"/>
          <p:cNvSpPr>
            <a:spLocks noGrp="1"/>
          </p:cNvSpPr>
          <p:nvPr>
            <p:ph idx="1"/>
          </p:nvPr>
        </p:nvSpPr>
        <p:spPr>
          <a:xfrm>
            <a:off x="276045" y="1673525"/>
            <a:ext cx="11680614" cy="4503438"/>
          </a:xfrm>
        </p:spPr>
        <p:txBody>
          <a:bodyPr/>
          <a:lstStyle/>
          <a:p>
            <a:pPr algn="just"/>
            <a:r>
              <a:rPr lang="en-US" dirty="0">
                <a:latin typeface="Times New Roman" panose="02020603050405020304" pitchFamily="18" charset="0"/>
                <a:cs typeface="Times New Roman" panose="02020603050405020304" pitchFamily="18" charset="0"/>
              </a:rPr>
              <a:t>To create a new middleware, use the </a:t>
            </a:r>
            <a:r>
              <a:rPr lang="en-US" dirty="0" err="1">
                <a:latin typeface="Times New Roman" panose="02020603050405020304" pitchFamily="18" charset="0"/>
                <a:cs typeface="Times New Roman" panose="02020603050405020304" pitchFamily="18" charset="0"/>
              </a:rPr>
              <a:t>make:middleware</a:t>
            </a:r>
            <a:r>
              <a:rPr lang="en-US" dirty="0">
                <a:latin typeface="Times New Roman" panose="02020603050405020304" pitchFamily="18" charset="0"/>
                <a:cs typeface="Times New Roman" panose="02020603050405020304" pitchFamily="18" charset="0"/>
              </a:rPr>
              <a:t> Artisan command:</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296702" y="2230916"/>
            <a:ext cx="9639300" cy="1076325"/>
          </a:xfrm>
          <a:prstGeom prst="rect">
            <a:avLst/>
          </a:prstGeom>
        </p:spPr>
      </p:pic>
      <p:pic>
        <p:nvPicPr>
          <p:cNvPr id="7" name="Picture 6"/>
          <p:cNvPicPr>
            <a:picLocks noChangeAspect="1"/>
          </p:cNvPicPr>
          <p:nvPr/>
        </p:nvPicPr>
        <p:blipFill>
          <a:blip r:embed="rId6"/>
          <a:stretch>
            <a:fillRect/>
          </a:stretch>
        </p:blipFill>
        <p:spPr>
          <a:xfrm>
            <a:off x="3001993" y="3257190"/>
            <a:ext cx="6772275" cy="3105510"/>
          </a:xfrm>
          <a:prstGeom prst="rect">
            <a:avLst/>
          </a:prstGeom>
        </p:spPr>
      </p:pic>
    </p:spTree>
    <p:extLst>
      <p:ext uri="{BB962C8B-B14F-4D97-AF65-F5344CB8AC3E}">
        <p14:creationId xmlns:p14="http://schemas.microsoft.com/office/powerpoint/2010/main" val="22511232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Registering Middleware</a:t>
            </a:r>
            <a:endParaRPr lang="en-US" dirty="0"/>
          </a:p>
        </p:txBody>
      </p:sp>
      <p:sp>
        <p:nvSpPr>
          <p:cNvPr id="3" name="Content Placeholder 2"/>
          <p:cNvSpPr>
            <a:spLocks noGrp="1"/>
          </p:cNvSpPr>
          <p:nvPr>
            <p:ph idx="1"/>
          </p:nvPr>
        </p:nvSpPr>
        <p:spPr>
          <a:xfrm>
            <a:off x="276045" y="1673525"/>
            <a:ext cx="11680614" cy="4503438"/>
          </a:xfrm>
        </p:spPr>
        <p:txBody>
          <a:bodyPr/>
          <a:lstStyle/>
          <a:p>
            <a:pPr marL="0" indent="0" algn="just">
              <a:buNone/>
            </a:pPr>
            <a:r>
              <a:rPr lang="en-US" b="1" dirty="0" smtClean="0">
                <a:solidFill>
                  <a:schemeClr val="accent1">
                    <a:lumMod val="75000"/>
                  </a:schemeClr>
                </a:solidFill>
                <a:latin typeface="Times New Roman" panose="02020603050405020304" pitchFamily="18" charset="0"/>
                <a:cs typeface="Times New Roman" panose="02020603050405020304" pitchFamily="18" charset="0"/>
              </a:rPr>
              <a:t>Assigning Middleware To Route</a:t>
            </a:r>
          </a:p>
          <a:p>
            <a:pPr algn="just"/>
            <a:r>
              <a:rPr lang="en-US" dirty="0">
                <a:latin typeface="Times New Roman" panose="02020603050405020304" pitchFamily="18" charset="0"/>
                <a:cs typeface="Times New Roman" panose="02020603050405020304" pitchFamily="18" charset="0"/>
              </a:rPr>
              <a:t>If you would like to assign middleware to specific routes, you should first assign the middleware a key in your application's app/Http/</a:t>
            </a:r>
            <a:r>
              <a:rPr lang="en-US" dirty="0" err="1">
                <a:latin typeface="Times New Roman" panose="02020603050405020304" pitchFamily="18" charset="0"/>
                <a:cs typeface="Times New Roman" panose="02020603050405020304" pitchFamily="18" charset="0"/>
              </a:rPr>
              <a:t>Kernel.php</a:t>
            </a:r>
            <a:r>
              <a:rPr lang="en-US" dirty="0">
                <a:latin typeface="Times New Roman" panose="02020603050405020304" pitchFamily="18" charset="0"/>
                <a:cs typeface="Times New Roman" panose="02020603050405020304" pitchFamily="18" charset="0"/>
              </a:rPr>
              <a:t> file.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By </a:t>
            </a:r>
            <a:r>
              <a:rPr lang="en-US" dirty="0">
                <a:latin typeface="Times New Roman" panose="02020603050405020304" pitchFamily="18" charset="0"/>
                <a:cs typeface="Times New Roman" panose="02020603050405020304" pitchFamily="18" charset="0"/>
              </a:rPr>
              <a:t>default, the $</a:t>
            </a:r>
            <a:r>
              <a:rPr lang="en-US" dirty="0" err="1">
                <a:latin typeface="Times New Roman" panose="02020603050405020304" pitchFamily="18" charset="0"/>
                <a:cs typeface="Times New Roman" panose="02020603050405020304" pitchFamily="18" charset="0"/>
              </a:rPr>
              <a:t>routeMiddleware</a:t>
            </a:r>
            <a:r>
              <a:rPr lang="en-US" dirty="0">
                <a:latin typeface="Times New Roman" panose="02020603050405020304" pitchFamily="18" charset="0"/>
                <a:cs typeface="Times New Roman" panose="02020603050405020304" pitchFamily="18" charset="0"/>
              </a:rPr>
              <a:t> property of this class contains entries for the middleware included with </a:t>
            </a:r>
            <a:r>
              <a:rPr lang="en-US" dirty="0" err="1">
                <a:latin typeface="Times New Roman" panose="02020603050405020304" pitchFamily="18" charset="0"/>
                <a:cs typeface="Times New Roman" panose="02020603050405020304" pitchFamily="18" charset="0"/>
              </a:rPr>
              <a:t>Laravel</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You </a:t>
            </a:r>
            <a:r>
              <a:rPr lang="en-US" dirty="0">
                <a:latin typeface="Times New Roman" panose="02020603050405020304" pitchFamily="18" charset="0"/>
                <a:cs typeface="Times New Roman" panose="02020603050405020304" pitchFamily="18" charset="0"/>
              </a:rPr>
              <a:t>may add your own middleware to this list and assign it a key of your choosing:</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35646428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Defining Middleware</a:t>
            </a:r>
            <a:endParaRPr lang="en-US" dirty="0"/>
          </a:p>
        </p:txBody>
      </p:sp>
      <p:pic>
        <p:nvPicPr>
          <p:cNvPr id="4" name="Content Placeholder 3"/>
          <p:cNvPicPr>
            <a:picLocks noGrp="1" noChangeAspect="1"/>
          </p:cNvPicPr>
          <p:nvPr>
            <p:ph idx="1"/>
          </p:nvPr>
        </p:nvPicPr>
        <p:blipFill>
          <a:blip r:embed="rId2"/>
          <a:stretch>
            <a:fillRect/>
          </a:stretch>
        </p:blipFill>
        <p:spPr>
          <a:xfrm>
            <a:off x="2297052" y="1673225"/>
            <a:ext cx="8508877" cy="4503738"/>
          </a:xfrm>
          <a:prstGeom prst="rect">
            <a:avLst/>
          </a:prstGeom>
        </p:spPr>
      </p:pic>
      <p:pic>
        <p:nvPicPr>
          <p:cNvPr id="1026" name="Picture 2" descr="https://www.ru.edu.af/images/logo/banner.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2297052" y="6362700"/>
            <a:ext cx="8391525" cy="495300"/>
          </a:xfrm>
          <a:prstGeom prst="rect">
            <a:avLst/>
          </a:prstGeom>
        </p:spPr>
      </p:pic>
      <p:pic>
        <p:nvPicPr>
          <p:cNvPr id="6" name="Picture 5"/>
          <p:cNvPicPr>
            <a:picLocks noChangeAspect="1"/>
          </p:cNvPicPr>
          <p:nvPr/>
        </p:nvPicPr>
        <p:blipFill>
          <a:blip r:embed="rId5"/>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31292618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Defining Middleware</a:t>
            </a:r>
            <a:endParaRPr lang="en-US" dirty="0"/>
          </a:p>
        </p:txBody>
      </p:sp>
      <p:sp>
        <p:nvSpPr>
          <p:cNvPr id="3" name="Content Placeholder 2"/>
          <p:cNvSpPr>
            <a:spLocks noGrp="1"/>
          </p:cNvSpPr>
          <p:nvPr>
            <p:ph idx="1"/>
          </p:nvPr>
        </p:nvSpPr>
        <p:spPr>
          <a:xfrm>
            <a:off x="276045" y="1673525"/>
            <a:ext cx="11680614" cy="4503438"/>
          </a:xfrm>
        </p:spPr>
        <p:txBody>
          <a:bodyPr/>
          <a:lstStyle/>
          <a:p>
            <a:pPr algn="just"/>
            <a:r>
              <a:rPr lang="en-US" dirty="0">
                <a:latin typeface="Times New Roman" panose="02020603050405020304" pitchFamily="18" charset="0"/>
                <a:cs typeface="Times New Roman" panose="02020603050405020304" pitchFamily="18" charset="0"/>
              </a:rPr>
              <a:t>Once the middleware has been defined in the HTTP kernel, you may use the middleware method to assign middleware to a route</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algn="just"/>
            <a:endParaRPr lang="en-US" dirty="0" smtClean="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You may assign multiple middleware to the route by passing an array of middleware names to the middleware method:</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310989" y="2496808"/>
            <a:ext cx="9610725" cy="1657350"/>
          </a:xfrm>
          <a:prstGeom prst="rect">
            <a:avLst/>
          </a:prstGeom>
        </p:spPr>
      </p:pic>
      <p:pic>
        <p:nvPicPr>
          <p:cNvPr id="7" name="Picture 6"/>
          <p:cNvPicPr>
            <a:picLocks noChangeAspect="1"/>
          </p:cNvPicPr>
          <p:nvPr/>
        </p:nvPicPr>
        <p:blipFill>
          <a:blip r:embed="rId6"/>
          <a:stretch>
            <a:fillRect/>
          </a:stretch>
        </p:blipFill>
        <p:spPr>
          <a:xfrm>
            <a:off x="1401940" y="4835463"/>
            <a:ext cx="9601200" cy="1638300"/>
          </a:xfrm>
          <a:prstGeom prst="rect">
            <a:avLst/>
          </a:prstGeom>
        </p:spPr>
      </p:pic>
    </p:spTree>
    <p:extLst>
      <p:ext uri="{BB962C8B-B14F-4D97-AF65-F5344CB8AC3E}">
        <p14:creationId xmlns:p14="http://schemas.microsoft.com/office/powerpoint/2010/main" val="40531969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smtClean="0">
                <a:solidFill>
                  <a:schemeClr val="accent4">
                    <a:lumMod val="75000"/>
                  </a:schemeClr>
                </a:solidFill>
                <a:latin typeface="Times New Roman" panose="02020603050405020304" pitchFamily="18" charset="0"/>
                <a:cs typeface="Times New Roman" panose="02020603050405020304" pitchFamily="18" charset="0"/>
              </a:rPr>
              <a:t>Defining Middleware</a:t>
            </a:r>
            <a:endParaRPr lang="en-US" dirty="0"/>
          </a:p>
        </p:txBody>
      </p:sp>
      <p:sp>
        <p:nvSpPr>
          <p:cNvPr id="3" name="Content Placeholder 2"/>
          <p:cNvSpPr>
            <a:spLocks noGrp="1"/>
          </p:cNvSpPr>
          <p:nvPr>
            <p:ph idx="1"/>
          </p:nvPr>
        </p:nvSpPr>
        <p:spPr>
          <a:xfrm>
            <a:off x="276045" y="1673525"/>
            <a:ext cx="11680614" cy="4503438"/>
          </a:xfrm>
        </p:spPr>
        <p:txBody>
          <a:bodyPr/>
          <a:lstStyle/>
          <a:p>
            <a:pPr algn="just"/>
            <a:r>
              <a:rPr lang="en-US" dirty="0"/>
              <a:t>When assigning middleware, you may also pass the fully qualified class name:</a:t>
            </a:r>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401940" y="2424562"/>
            <a:ext cx="9620250" cy="2457450"/>
          </a:xfrm>
          <a:prstGeom prst="rect">
            <a:avLst/>
          </a:prstGeom>
        </p:spPr>
      </p:pic>
    </p:spTree>
    <p:extLst>
      <p:ext uri="{BB962C8B-B14F-4D97-AF65-F5344CB8AC3E}">
        <p14:creationId xmlns:p14="http://schemas.microsoft.com/office/powerpoint/2010/main" val="20947290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Controller </a:t>
            </a:r>
            <a:r>
              <a:rPr lang="en-US" b="1" dirty="0" smtClean="0">
                <a:solidFill>
                  <a:schemeClr val="accent4">
                    <a:lumMod val="75000"/>
                  </a:schemeClr>
                </a:solidFill>
                <a:latin typeface="Times New Roman" panose="02020603050405020304" pitchFamily="18" charset="0"/>
                <a:cs typeface="Times New Roman" panose="02020603050405020304" pitchFamily="18" charset="0"/>
              </a:rPr>
              <a:t>Middleware</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871931"/>
            <a:ext cx="11680614" cy="4305031"/>
          </a:xfrm>
        </p:spPr>
        <p:txBody>
          <a:bodyPr/>
          <a:lstStyle/>
          <a:p>
            <a:r>
              <a:rPr lang="en-US" dirty="0">
                <a:latin typeface="Times New Roman" panose="02020603050405020304" pitchFamily="18" charset="0"/>
                <a:cs typeface="Times New Roman" panose="02020603050405020304" pitchFamily="18" charset="0"/>
              </a:rPr>
              <a:t>Middleware may be assigned to the controller's routes in your route files</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290637" y="2919412"/>
            <a:ext cx="9610725" cy="1019175"/>
          </a:xfrm>
          <a:prstGeom prst="rect">
            <a:avLst/>
          </a:prstGeom>
        </p:spPr>
      </p:pic>
    </p:spTree>
    <p:extLst>
      <p:ext uri="{BB962C8B-B14F-4D97-AF65-F5344CB8AC3E}">
        <p14:creationId xmlns:p14="http://schemas.microsoft.com/office/powerpoint/2010/main" val="17677153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HTTP </a:t>
            </a:r>
            <a:r>
              <a:rPr lang="en-US" b="1" dirty="0" smtClean="0">
                <a:solidFill>
                  <a:schemeClr val="accent4">
                    <a:lumMod val="75000"/>
                  </a:schemeClr>
                </a:solidFill>
                <a:latin typeface="Times New Roman" panose="02020603050405020304" pitchFamily="18" charset="0"/>
                <a:cs typeface="Times New Roman" panose="02020603050405020304" pitchFamily="18" charset="0"/>
              </a:rPr>
              <a:t>Requests</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613139"/>
            <a:ext cx="11680614" cy="4563823"/>
          </a:xfrm>
        </p:spPr>
        <p:txBody>
          <a:bodyPr/>
          <a:lstStyle/>
          <a:p>
            <a:pPr algn="just"/>
            <a:r>
              <a:rPr lang="en-US" dirty="0" err="1">
                <a:latin typeface="Times New Roman" panose="02020603050405020304" pitchFamily="18" charset="0"/>
                <a:cs typeface="Times New Roman" panose="02020603050405020304" pitchFamily="18" charset="0"/>
              </a:rPr>
              <a:t>Laravel's</a:t>
            </a:r>
            <a:r>
              <a:rPr lang="en-US" dirty="0">
                <a:latin typeface="Times New Roman" panose="02020603050405020304" pitchFamily="18" charset="0"/>
                <a:cs typeface="Times New Roman" panose="02020603050405020304" pitchFamily="18" charset="0"/>
              </a:rPr>
              <a:t> Illuminate\Http\Request class provides an object-oriented way to interact with the current HTTP request being handled by your application as well as retrieve the input, cookies, and files that were submitted with the request</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spTree>
    <p:extLst>
      <p:ext uri="{BB962C8B-B14F-4D97-AF65-F5344CB8AC3E}">
        <p14:creationId xmlns:p14="http://schemas.microsoft.com/office/powerpoint/2010/main" val="320213486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Retrieving </a:t>
            </a:r>
            <a:r>
              <a:rPr lang="en-US" b="1" dirty="0" smtClean="0">
                <a:solidFill>
                  <a:schemeClr val="accent4">
                    <a:lumMod val="75000"/>
                  </a:schemeClr>
                </a:solidFill>
                <a:latin typeface="Times New Roman" panose="02020603050405020304" pitchFamily="18" charset="0"/>
                <a:cs typeface="Times New Roman" panose="02020603050405020304" pitchFamily="18" charset="0"/>
              </a:rPr>
              <a:t>Input</a:t>
            </a:r>
            <a:endParaRPr lang="en-US" b="1"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76045" y="1544127"/>
            <a:ext cx="11680614" cy="4632835"/>
          </a:xfrm>
        </p:spPr>
        <p:txBody>
          <a:bodyPr/>
          <a:lstStyle/>
          <a:p>
            <a:r>
              <a:rPr lang="en-US" dirty="0" smtClean="0">
                <a:latin typeface="Times New Roman" panose="02020603050405020304" pitchFamily="18" charset="0"/>
                <a:cs typeface="Times New Roman" panose="02020603050405020304" pitchFamily="18" charset="0"/>
              </a:rPr>
              <a:t>We can access HTML Form data with the help of Request class.</a:t>
            </a:r>
          </a:p>
          <a:p>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140574" y="3422620"/>
            <a:ext cx="4029075" cy="1323975"/>
          </a:xfrm>
          <a:prstGeom prst="rect">
            <a:avLst/>
          </a:prstGeom>
        </p:spPr>
      </p:pic>
      <p:pic>
        <p:nvPicPr>
          <p:cNvPr id="7" name="Picture 6"/>
          <p:cNvPicPr>
            <a:picLocks noChangeAspect="1"/>
          </p:cNvPicPr>
          <p:nvPr/>
        </p:nvPicPr>
        <p:blipFill>
          <a:blip r:embed="rId6"/>
          <a:stretch>
            <a:fillRect/>
          </a:stretch>
        </p:blipFill>
        <p:spPr>
          <a:xfrm>
            <a:off x="5734229" y="2277283"/>
            <a:ext cx="5657850" cy="3476625"/>
          </a:xfrm>
          <a:prstGeom prst="rect">
            <a:avLst/>
          </a:prstGeom>
        </p:spPr>
      </p:pic>
    </p:spTree>
    <p:extLst>
      <p:ext uri="{BB962C8B-B14F-4D97-AF65-F5344CB8AC3E}">
        <p14:creationId xmlns:p14="http://schemas.microsoft.com/office/powerpoint/2010/main" val="32789102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Retrieving All Input Data</a:t>
            </a:r>
          </a:p>
        </p:txBody>
      </p:sp>
      <p:sp>
        <p:nvSpPr>
          <p:cNvPr id="3" name="Content Placeholder 2"/>
          <p:cNvSpPr>
            <a:spLocks noGrp="1"/>
          </p:cNvSpPr>
          <p:nvPr>
            <p:ph idx="1"/>
          </p:nvPr>
        </p:nvSpPr>
        <p:spPr>
          <a:xfrm>
            <a:off x="276045" y="1587260"/>
            <a:ext cx="11680614" cy="4632835"/>
          </a:xfrm>
        </p:spPr>
        <p:txBody>
          <a:bodyPr/>
          <a:lstStyle/>
          <a:p>
            <a:pPr algn="just"/>
            <a:r>
              <a:rPr lang="en-US" dirty="0">
                <a:latin typeface="Times New Roman" panose="02020603050405020304" pitchFamily="18" charset="0"/>
                <a:cs typeface="Times New Roman" panose="02020603050405020304" pitchFamily="18" charset="0"/>
              </a:rPr>
              <a:t>You may retrieve all of the incoming request's input </a:t>
            </a:r>
            <a:r>
              <a:rPr lang="en-US" dirty="0" smtClean="0">
                <a:latin typeface="Times New Roman" panose="02020603050405020304" pitchFamily="18" charset="0"/>
                <a:cs typeface="Times New Roman" panose="02020603050405020304" pitchFamily="18" charset="0"/>
              </a:rPr>
              <a:t>data.</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8" name="Picture 7"/>
          <p:cNvPicPr>
            <a:picLocks noChangeAspect="1"/>
          </p:cNvPicPr>
          <p:nvPr/>
        </p:nvPicPr>
        <p:blipFill>
          <a:blip r:embed="rId5"/>
          <a:stretch>
            <a:fillRect/>
          </a:stretch>
        </p:blipFill>
        <p:spPr>
          <a:xfrm>
            <a:off x="1309687" y="2971800"/>
            <a:ext cx="9572625" cy="914400"/>
          </a:xfrm>
          <a:prstGeom prst="rect">
            <a:avLst/>
          </a:prstGeom>
        </p:spPr>
      </p:pic>
    </p:spTree>
    <p:extLst>
      <p:ext uri="{BB962C8B-B14F-4D97-AF65-F5344CB8AC3E}">
        <p14:creationId xmlns:p14="http://schemas.microsoft.com/office/powerpoint/2010/main" val="558855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fontScale="90000"/>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Retrieving The Request Path</a:t>
            </a:r>
          </a:p>
        </p:txBody>
      </p:sp>
      <p:sp>
        <p:nvSpPr>
          <p:cNvPr id="3" name="Content Placeholder 2"/>
          <p:cNvSpPr>
            <a:spLocks noGrp="1"/>
          </p:cNvSpPr>
          <p:nvPr>
            <p:ph idx="1"/>
          </p:nvPr>
        </p:nvSpPr>
        <p:spPr>
          <a:xfrm>
            <a:off x="276045" y="1811547"/>
            <a:ext cx="11680614" cy="4365415"/>
          </a:xfrm>
        </p:spPr>
        <p:txBody>
          <a:bodyPr/>
          <a:lstStyle/>
          <a:p>
            <a:pPr algn="just"/>
            <a:r>
              <a:rPr lang="en-US" dirty="0">
                <a:latin typeface="Times New Roman" panose="02020603050405020304" pitchFamily="18" charset="0"/>
                <a:cs typeface="Times New Roman" panose="02020603050405020304" pitchFamily="18" charset="0"/>
              </a:rPr>
              <a:t>The path method returns the request's path information. So, if the incoming request is targeted at http://example.com/foo/bar, the path method will return foo/bar</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a:p>
            <a:pPr lvl="1"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479701" y="3196356"/>
            <a:ext cx="9591675" cy="1000125"/>
          </a:xfrm>
          <a:prstGeom prst="rect">
            <a:avLst/>
          </a:prstGeom>
        </p:spPr>
      </p:pic>
    </p:spTree>
    <p:extLst>
      <p:ext uri="{BB962C8B-B14F-4D97-AF65-F5344CB8AC3E}">
        <p14:creationId xmlns:p14="http://schemas.microsoft.com/office/powerpoint/2010/main" val="41366407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fontScale="90000"/>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Retrieving The Request Path</a:t>
            </a:r>
            <a:endParaRPr lang="en-US" dirty="0"/>
          </a:p>
        </p:txBody>
      </p:sp>
      <p:sp>
        <p:nvSpPr>
          <p:cNvPr id="3" name="Content Placeholder 2"/>
          <p:cNvSpPr>
            <a:spLocks noGrp="1"/>
          </p:cNvSpPr>
          <p:nvPr>
            <p:ph idx="1"/>
          </p:nvPr>
        </p:nvSpPr>
        <p:spPr>
          <a:xfrm>
            <a:off x="276045" y="1673525"/>
            <a:ext cx="11680614" cy="4503438"/>
          </a:xfrm>
        </p:spPr>
        <p:txBody>
          <a:bodyPr/>
          <a:lstStyle/>
          <a:p>
            <a:pPr algn="just"/>
            <a:r>
              <a:rPr lang="en-US" dirty="0">
                <a:latin typeface="Times New Roman" panose="02020603050405020304" pitchFamily="18" charset="0"/>
                <a:cs typeface="Times New Roman" panose="02020603050405020304" pitchFamily="18" charset="0"/>
              </a:rPr>
              <a:t>The is method allows you to verify that the incoming request path matches a given pattern. You may use the * character as a wildcard when utilizing this method:</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3525461" y="2822994"/>
            <a:ext cx="5457825" cy="2971800"/>
          </a:xfrm>
          <a:prstGeom prst="rect">
            <a:avLst/>
          </a:prstGeom>
        </p:spPr>
      </p:pic>
    </p:spTree>
    <p:extLst>
      <p:ext uri="{BB962C8B-B14F-4D97-AF65-F5344CB8AC3E}">
        <p14:creationId xmlns:p14="http://schemas.microsoft.com/office/powerpoint/2010/main" val="27960474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normAutofit/>
          </a:bodyPr>
          <a:lstStyle/>
          <a:p>
            <a:pPr algn="ctr"/>
            <a:r>
              <a:rPr lang="en-US" sz="3600" b="1" dirty="0">
                <a:solidFill>
                  <a:schemeClr val="accent4">
                    <a:lumMod val="75000"/>
                  </a:schemeClr>
                </a:solidFill>
                <a:latin typeface="Times New Roman" panose="02020603050405020304" pitchFamily="18" charset="0"/>
                <a:cs typeface="Times New Roman" panose="02020603050405020304" pitchFamily="18" charset="0"/>
              </a:rPr>
              <a:t>Retrieving The Request Method</a:t>
            </a:r>
            <a:endParaRPr lang="en-US" sz="3600" dirty="0"/>
          </a:p>
        </p:txBody>
      </p:sp>
      <p:sp>
        <p:nvSpPr>
          <p:cNvPr id="3" name="Content Placeholder 2"/>
          <p:cNvSpPr>
            <a:spLocks noGrp="1"/>
          </p:cNvSpPr>
          <p:nvPr>
            <p:ph idx="1"/>
          </p:nvPr>
        </p:nvSpPr>
        <p:spPr>
          <a:xfrm>
            <a:off x="276045" y="1863305"/>
            <a:ext cx="11680614" cy="4270527"/>
          </a:xfrm>
        </p:spPr>
        <p:txBody>
          <a:bodyPr/>
          <a:lstStyle/>
          <a:p>
            <a:pPr algn="just"/>
            <a:r>
              <a:rPr lang="en-US" dirty="0">
                <a:latin typeface="Times New Roman" panose="02020603050405020304" pitchFamily="18" charset="0"/>
                <a:cs typeface="Times New Roman" panose="02020603050405020304" pitchFamily="18" charset="0"/>
              </a:rPr>
              <a:t>The </a:t>
            </a:r>
            <a:r>
              <a:rPr lang="en-US" dirty="0">
                <a:solidFill>
                  <a:srgbClr val="FF0000"/>
                </a:solidFill>
                <a:latin typeface="Times New Roman" panose="02020603050405020304" pitchFamily="18" charset="0"/>
                <a:cs typeface="Times New Roman" panose="02020603050405020304" pitchFamily="18" charset="0"/>
              </a:rPr>
              <a:t>method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method</a:t>
            </a:r>
            <a:r>
              <a:rPr lang="en-US" dirty="0">
                <a:latin typeface="Times New Roman" panose="02020603050405020304" pitchFamily="18" charset="0"/>
                <a:cs typeface="Times New Roman" panose="02020603050405020304" pitchFamily="18" charset="0"/>
              </a:rPr>
              <a:t> will return the HTTP verb for the request. You may use the </a:t>
            </a:r>
            <a:r>
              <a:rPr lang="en-US" dirty="0" err="1">
                <a:solidFill>
                  <a:srgbClr val="FF0000"/>
                </a:solidFill>
                <a:latin typeface="Times New Roman" panose="02020603050405020304" pitchFamily="18" charset="0"/>
                <a:cs typeface="Times New Roman" panose="02020603050405020304" pitchFamily="18" charset="0"/>
              </a:rPr>
              <a:t>isMethod</a:t>
            </a:r>
            <a:r>
              <a:rPr lang="en-US" dirty="0">
                <a:latin typeface="Times New Roman" panose="02020603050405020304" pitchFamily="18" charset="0"/>
                <a:cs typeface="Times New Roman" panose="02020603050405020304" pitchFamily="18" charset="0"/>
              </a:rPr>
              <a:t> method to verify that the HTTP verb matches a given string</a:t>
            </a:r>
            <a:r>
              <a:rPr lang="en-US" dirty="0" smtClean="0">
                <a:latin typeface="Times New Roman" panose="02020603050405020304" pitchFamily="18" charset="0"/>
                <a:cs typeface="Times New Roman" panose="02020603050405020304" pitchFamily="18" charset="0"/>
              </a:rPr>
              <a:t>:</a:t>
            </a:r>
          </a:p>
          <a:p>
            <a:pPr algn="just"/>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401940" y="3039960"/>
            <a:ext cx="9591675" cy="2400300"/>
          </a:xfrm>
          <a:prstGeom prst="rect">
            <a:avLst/>
          </a:prstGeom>
        </p:spPr>
      </p:pic>
    </p:spTree>
    <p:extLst>
      <p:ext uri="{BB962C8B-B14F-4D97-AF65-F5344CB8AC3E}">
        <p14:creationId xmlns:p14="http://schemas.microsoft.com/office/powerpoint/2010/main" val="11747386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1993" y="208351"/>
            <a:ext cx="6961516" cy="1041223"/>
          </a:xfrm>
        </p:spPr>
        <p:txBody>
          <a:bodyPr/>
          <a:lstStyle/>
          <a:p>
            <a:pPr algn="ctr"/>
            <a:r>
              <a:rPr lang="en-US" b="1" dirty="0">
                <a:solidFill>
                  <a:schemeClr val="accent4">
                    <a:lumMod val="75000"/>
                  </a:schemeClr>
                </a:solidFill>
                <a:latin typeface="Times New Roman" panose="02020603050405020304" pitchFamily="18" charset="0"/>
                <a:cs typeface="Times New Roman" panose="02020603050405020304" pitchFamily="18" charset="0"/>
              </a:rPr>
              <a:t>Request IP Address</a:t>
            </a:r>
          </a:p>
        </p:txBody>
      </p:sp>
      <p:sp>
        <p:nvSpPr>
          <p:cNvPr id="3" name="Content Placeholder 2"/>
          <p:cNvSpPr>
            <a:spLocks noGrp="1"/>
          </p:cNvSpPr>
          <p:nvPr>
            <p:ph idx="1"/>
          </p:nvPr>
        </p:nvSpPr>
        <p:spPr>
          <a:xfrm>
            <a:off x="276045" y="1621765"/>
            <a:ext cx="11680614" cy="4555197"/>
          </a:xfrm>
        </p:spPr>
        <p:txBody>
          <a:bodyPr/>
          <a:lstStyle/>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ip</a:t>
            </a:r>
            <a:r>
              <a:rPr lang="en-US" dirty="0">
                <a:latin typeface="Times New Roman" panose="02020603050405020304" pitchFamily="18" charset="0"/>
                <a:cs typeface="Times New Roman" panose="02020603050405020304" pitchFamily="18" charset="0"/>
              </a:rPr>
              <a:t> method may be used to retrieve the IP address of the client that made the request to your application</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321" y="208351"/>
            <a:ext cx="2527239" cy="10412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pic>
        <p:nvPicPr>
          <p:cNvPr id="6" name="Picture 5"/>
          <p:cNvPicPr>
            <a:picLocks noChangeAspect="1"/>
          </p:cNvPicPr>
          <p:nvPr/>
        </p:nvPicPr>
        <p:blipFill>
          <a:blip r:embed="rId4"/>
          <a:stretch>
            <a:fillRect/>
          </a:stretch>
        </p:blipFill>
        <p:spPr>
          <a:xfrm>
            <a:off x="10324562" y="310551"/>
            <a:ext cx="1493628" cy="939023"/>
          </a:xfrm>
          <a:prstGeom prst="rect">
            <a:avLst/>
          </a:prstGeom>
        </p:spPr>
      </p:pic>
      <p:pic>
        <p:nvPicPr>
          <p:cNvPr id="4" name="Picture 3"/>
          <p:cNvPicPr>
            <a:picLocks noChangeAspect="1"/>
          </p:cNvPicPr>
          <p:nvPr/>
        </p:nvPicPr>
        <p:blipFill>
          <a:blip r:embed="rId5"/>
          <a:stretch>
            <a:fillRect/>
          </a:stretch>
        </p:blipFill>
        <p:spPr>
          <a:xfrm>
            <a:off x="1314450" y="2952750"/>
            <a:ext cx="9563100" cy="952500"/>
          </a:xfrm>
          <a:prstGeom prst="rect">
            <a:avLst/>
          </a:prstGeom>
        </p:spPr>
      </p:pic>
    </p:spTree>
    <p:extLst>
      <p:ext uri="{BB962C8B-B14F-4D97-AF65-F5344CB8AC3E}">
        <p14:creationId xmlns:p14="http://schemas.microsoft.com/office/powerpoint/2010/main" val="3799366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6045" y="3200399"/>
            <a:ext cx="11680614" cy="1399033"/>
          </a:xfrm>
        </p:spPr>
        <p:txBody>
          <a:bodyPr>
            <a:normAutofit/>
          </a:bodyPr>
          <a:lstStyle/>
          <a:p>
            <a:pPr marL="0" indent="0" algn="ctr">
              <a:buNone/>
            </a:pPr>
            <a:r>
              <a:rPr lang="en-US" sz="8800" b="1" dirty="0" smtClean="0">
                <a:solidFill>
                  <a:srgbClr val="C00000"/>
                </a:solidFill>
                <a:latin typeface="Times New Roman" panose="02020603050405020304" pitchFamily="18" charset="0"/>
                <a:cs typeface="Times New Roman" panose="02020603050405020304" pitchFamily="18" charset="0"/>
              </a:rPr>
              <a:t>Thank You!</a:t>
            </a:r>
          </a:p>
        </p:txBody>
      </p:sp>
      <p:pic>
        <p:nvPicPr>
          <p:cNvPr id="1026" name="Picture 2" descr="https://www.ru.edu.af/images/logo/banne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4404" y="538869"/>
            <a:ext cx="3450020" cy="14214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297052" y="6362700"/>
            <a:ext cx="8391525" cy="495300"/>
          </a:xfrm>
          <a:prstGeom prst="rect">
            <a:avLst/>
          </a:prstGeom>
        </p:spPr>
      </p:pic>
    </p:spTree>
    <p:extLst>
      <p:ext uri="{BB962C8B-B14F-4D97-AF65-F5344CB8AC3E}">
        <p14:creationId xmlns:p14="http://schemas.microsoft.com/office/powerpoint/2010/main" val="345510586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681</TotalTime>
  <Words>754</Words>
  <Application>Microsoft Office PowerPoint</Application>
  <PresentationFormat>Widescreen</PresentationFormat>
  <Paragraphs>67</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Times New Roman</vt:lpstr>
      <vt:lpstr>Office Theme</vt:lpstr>
      <vt:lpstr>PowerPoint Presentation</vt:lpstr>
      <vt:lpstr>Introduction</vt:lpstr>
      <vt:lpstr>How To Create Controller</vt:lpstr>
      <vt:lpstr>Routing Controllers</vt:lpstr>
      <vt:lpstr>Single Action Controllers</vt:lpstr>
      <vt:lpstr>Single Action Controllers</vt:lpstr>
      <vt:lpstr>Resource Controllers</vt:lpstr>
      <vt:lpstr>Resource Controllers</vt:lpstr>
      <vt:lpstr>Resource Controllers</vt:lpstr>
      <vt:lpstr>Actions Handled By Resource Controller</vt:lpstr>
      <vt:lpstr>Partial Resource Routes</vt:lpstr>
      <vt:lpstr>Middleware</vt:lpstr>
      <vt:lpstr>Defining Middleware</vt:lpstr>
      <vt:lpstr>Registering Middleware</vt:lpstr>
      <vt:lpstr>Defining Middleware</vt:lpstr>
      <vt:lpstr>Defining Middleware</vt:lpstr>
      <vt:lpstr>Defining Middleware</vt:lpstr>
      <vt:lpstr>Controller Middleware</vt:lpstr>
      <vt:lpstr>HTTP Requests</vt:lpstr>
      <vt:lpstr>Retrieving Input</vt:lpstr>
      <vt:lpstr>Retrieving All Input Data</vt:lpstr>
      <vt:lpstr>Retrieving The Request Path</vt:lpstr>
      <vt:lpstr>Retrieving The Request Path</vt:lpstr>
      <vt:lpstr>Retrieving The Request Method</vt:lpstr>
      <vt:lpstr>Request IP Address</vt:lpstr>
      <vt:lpstr>PowerPoint Presentation</vt:lpstr>
    </vt:vector>
  </TitlesOfParts>
  <Company>Moorche 30 DVDs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Hamedullah</dc:creator>
  <cp:lastModifiedBy>Hamedullah</cp:lastModifiedBy>
  <cp:revision>27</cp:revision>
  <dcterms:created xsi:type="dcterms:W3CDTF">2022-02-20T08:42:26Z</dcterms:created>
  <dcterms:modified xsi:type="dcterms:W3CDTF">2022-03-12T18:44:44Z</dcterms:modified>
</cp:coreProperties>
</file>